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6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0" r:id="rId1"/>
    <p:sldMasterId id="2147483812" r:id="rId2"/>
    <p:sldMasterId id="2147483842" r:id="rId3"/>
    <p:sldMasterId id="2147483892" r:id="rId4"/>
    <p:sldMasterId id="2147483906" r:id="rId5"/>
    <p:sldMasterId id="2147483942" r:id="rId6"/>
    <p:sldMasterId id="2147483960" r:id="rId7"/>
  </p:sldMasterIdLst>
  <p:notesMasterIdLst>
    <p:notesMasterId r:id="rId82"/>
  </p:notesMasterIdLst>
  <p:handoutMasterIdLst>
    <p:handoutMasterId r:id="rId83"/>
  </p:handoutMasterIdLst>
  <p:sldIdLst>
    <p:sldId id="348" r:id="rId8"/>
    <p:sldId id="349" r:id="rId9"/>
    <p:sldId id="309" r:id="rId10"/>
    <p:sldId id="350" r:id="rId11"/>
    <p:sldId id="256" r:id="rId12"/>
    <p:sldId id="300" r:id="rId13"/>
    <p:sldId id="301" r:id="rId14"/>
    <p:sldId id="302" r:id="rId15"/>
    <p:sldId id="303" r:id="rId16"/>
    <p:sldId id="297" r:id="rId17"/>
    <p:sldId id="273" r:id="rId18"/>
    <p:sldId id="261" r:id="rId19"/>
    <p:sldId id="263" r:id="rId20"/>
    <p:sldId id="264" r:id="rId21"/>
    <p:sldId id="265" r:id="rId22"/>
    <p:sldId id="304" r:id="rId23"/>
    <p:sldId id="266" r:id="rId24"/>
    <p:sldId id="267" r:id="rId25"/>
    <p:sldId id="268" r:id="rId26"/>
    <p:sldId id="269" r:id="rId27"/>
    <p:sldId id="271" r:id="rId28"/>
    <p:sldId id="272" r:id="rId29"/>
    <p:sldId id="351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308" r:id="rId40"/>
    <p:sldId id="257" r:id="rId41"/>
    <p:sldId id="258" r:id="rId42"/>
    <p:sldId id="320" r:id="rId43"/>
    <p:sldId id="259" r:id="rId44"/>
    <p:sldId id="260" r:id="rId45"/>
    <p:sldId id="321" r:id="rId46"/>
    <p:sldId id="262" r:id="rId47"/>
    <p:sldId id="322" r:id="rId48"/>
    <p:sldId id="323" r:id="rId49"/>
    <p:sldId id="324" r:id="rId50"/>
    <p:sldId id="325" r:id="rId51"/>
    <p:sldId id="326" r:id="rId52"/>
    <p:sldId id="327" r:id="rId53"/>
    <p:sldId id="328" r:id="rId54"/>
    <p:sldId id="329" r:id="rId55"/>
    <p:sldId id="330" r:id="rId56"/>
    <p:sldId id="331" r:id="rId57"/>
    <p:sldId id="332" r:id="rId58"/>
    <p:sldId id="333" r:id="rId59"/>
    <p:sldId id="334" r:id="rId60"/>
    <p:sldId id="335" r:id="rId61"/>
    <p:sldId id="336" r:id="rId62"/>
    <p:sldId id="337" r:id="rId63"/>
    <p:sldId id="338" r:id="rId64"/>
    <p:sldId id="339" r:id="rId65"/>
    <p:sldId id="270" r:id="rId66"/>
    <p:sldId id="352" r:id="rId67"/>
    <p:sldId id="353" r:id="rId68"/>
    <p:sldId id="354" r:id="rId69"/>
    <p:sldId id="355" r:id="rId70"/>
    <p:sldId id="356" r:id="rId71"/>
    <p:sldId id="357" r:id="rId72"/>
    <p:sldId id="358" r:id="rId73"/>
    <p:sldId id="359" r:id="rId74"/>
    <p:sldId id="360" r:id="rId75"/>
    <p:sldId id="361" r:id="rId76"/>
    <p:sldId id="362" r:id="rId77"/>
    <p:sldId id="363" r:id="rId78"/>
    <p:sldId id="364" r:id="rId79"/>
    <p:sldId id="365" r:id="rId80"/>
    <p:sldId id="366" r:id="rId81"/>
  </p:sldIdLst>
  <p:sldSz cx="12192000" cy="6858000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200" autoAdjust="0"/>
    <p:restoredTop sz="90929"/>
  </p:normalViewPr>
  <p:slideViewPr>
    <p:cSldViewPr>
      <p:cViewPr varScale="1">
        <p:scale>
          <a:sx n="103" d="100"/>
          <a:sy n="103" d="100"/>
        </p:scale>
        <p:origin x="132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76" Type="http://schemas.openxmlformats.org/officeDocument/2006/relationships/slide" Target="slides/slide69.xml"/><Relationship Id="rId8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8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slide" Target="slides/slide70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slide" Target="slides/slide73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2.wmf"/><Relationship Id="rId4" Type="http://schemas.openxmlformats.org/officeDocument/2006/relationships/image" Target="../media/image3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4" Type="http://schemas.openxmlformats.org/officeDocument/2006/relationships/image" Target="../media/image4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4" Type="http://schemas.openxmlformats.org/officeDocument/2006/relationships/image" Target="../media/image49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4" Type="http://schemas.openxmlformats.org/officeDocument/2006/relationships/image" Target="../media/image5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4" Type="http://schemas.openxmlformats.org/officeDocument/2006/relationships/image" Target="../media/image61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22.wmf"/><Relationship Id="rId1" Type="http://schemas.openxmlformats.org/officeDocument/2006/relationships/image" Target="../media/image72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4" Type="http://schemas.openxmlformats.org/officeDocument/2006/relationships/image" Target="../media/image92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5" Type="http://schemas.openxmlformats.org/officeDocument/2006/relationships/image" Target="../media/image110.wmf"/><Relationship Id="rId4" Type="http://schemas.openxmlformats.org/officeDocument/2006/relationships/image" Target="../media/image122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wmf"/><Relationship Id="rId1" Type="http://schemas.openxmlformats.org/officeDocument/2006/relationships/image" Target="../media/image126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wmf"/><Relationship Id="rId1" Type="http://schemas.openxmlformats.org/officeDocument/2006/relationships/image" Target="../media/image128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C4A74-658F-4AA3-8FF8-818328ADB058}" type="datetimeFigureOut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98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92027" y="6456698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ACEEC-160C-4DE4-9ED0-8DBD97EF3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3307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EEE2B77-74D5-4FE2-A3CD-3CFB3D4F7E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84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D86357-BBC5-4848-BF16-5A665AECE9D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593125" y="0"/>
            <a:ext cx="427884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0AC7368-D48C-4469-A989-C1FDAC858E90}" type="datetimeFigureOut">
              <a:rPr lang="zh-CN" altLang="en-US"/>
              <a:pPr>
                <a:defRPr/>
              </a:pPr>
              <a:t>2023/11/15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75D27E8A-9BB3-4F8F-A208-468E6B198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97188" y="849313"/>
            <a:ext cx="4079875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84DE94FC-BF02-452E-8207-75F948F73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87426" y="3271381"/>
            <a:ext cx="789940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742AC2-CA9D-47A2-8545-82A6F5A2E4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27884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D29D1D-F9D2-49D9-B3BE-EB4316DAB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593125" y="6456612"/>
            <a:ext cx="427884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170EE65-0C9F-47E6-9333-1C91FD451BF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71763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074800-B55B-43BE-BA8B-ADE373D1120E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431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1A8F0C28-D008-499B-8A96-E27680320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97188" y="849313"/>
            <a:ext cx="4079875" cy="22955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8D8474A-552C-4D2E-B3FD-8DF2699E4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368623BD-7A1D-4C87-B297-163874C85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03134E-E0F2-4682-B484-D0D891D289A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8300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1A8F0C28-D008-499B-8A96-E27680320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97188" y="849313"/>
            <a:ext cx="4079875" cy="22955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8D8474A-552C-4D2E-B3FD-8DF2699E4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368623BD-7A1D-4C87-B297-163874C85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03134E-E0F2-4682-B484-D0D891D289A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5452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A7D959C4-DE5F-45BC-9513-16193FBF18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97188" y="849313"/>
            <a:ext cx="4079875" cy="22955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7A4D9AAC-6BF4-4715-8E07-2EBE78849D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0244" name="灯片编号占位符 3">
            <a:extLst>
              <a:ext uri="{FF2B5EF4-FFF2-40B4-BE49-F238E27FC236}">
                <a16:creationId xmlns:a16="http://schemas.microsoft.com/office/drawing/2014/main" id="{0A2EBA2E-49B6-400E-AE3E-E1F5404569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750635-98FE-4B52-B817-0871BFCBC23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1C1C1C"/>
                </a:solidFill>
              </a:rPr>
              <a:t> </a:t>
            </a: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755898-8FD4-4964-B4BC-AA646DD2E2DA}" type="slidenum">
              <a:rPr lang="en-US" altLang="zh-CN" smtClean="0">
                <a:solidFill>
                  <a:srgbClr val="1C1C1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933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7B680AF-C5C1-499C-8332-B6623D96608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34C5F8-D23A-4C9B-89C4-004DA083814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86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5C62C5-D8BD-45D3-8DFE-AF86FD4E640A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030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465D5D-4317-43F7-96E2-545B31FADE66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1422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61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0D20362-9C4A-447B-BF66-33DDC3C33AA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1538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02A06D-A098-4C3D-976F-6656EA86D46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665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291C385-4FD6-40D0-9EF7-B11DD1F280AD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42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949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0379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375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0379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55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FE8A036-B214-4C7B-91A8-FE0C3205C3D5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387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05201B5-CB4D-42D1-A24C-89C5084F027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965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CA570B-6248-4CA0-8BEA-67BAB01BE08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655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855FC78-BCC3-4F66-9FB6-31CC4AE3B8AF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356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0C81236-4C05-4C18-9F3A-618683FD7793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172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9D95E8-65F7-4EBC-A32B-46733FC53D48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6968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68F74B-42FF-42F5-B81D-7F87A6CB4FB7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4001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AB1C4B2-3F16-4E19-8E7D-26797EC984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3696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279BCE-FBD0-4480-9323-D616018F075E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625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FDE0CD1-61CC-4DCB-A2D6-23C7AF07CC96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739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1E5CFAC-FA47-4892-8698-F2EBC73130B6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3491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3" y="228605"/>
            <a:ext cx="12012084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814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219200" y="609600"/>
            <a:ext cx="103632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北京大学博士学位论文－</a:t>
            </a:r>
            <a:r>
              <a:rPr lang="en-US" altLang="zh-CN"/>
              <a:t>Weyl</a:t>
            </a:r>
            <a:r>
              <a:rPr lang="zh-CN" altLang="en-US"/>
              <a:t>变换</a:t>
            </a:r>
          </a:p>
        </p:txBody>
      </p:sp>
      <p:sp>
        <p:nvSpPr>
          <p:cNvPr id="4814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1C1C1C"/>
                </a:solidFill>
              </a:rPr>
              <a:t> </a:t>
            </a:r>
            <a:endParaRPr kumimoji="0" lang="en-US" altLang="zh-CN">
              <a:solidFill>
                <a:srgbClr val="1C1C1C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kumimoji="0" lang="en-US" altLang="zh-CN">
              <a:solidFill>
                <a:srgbClr val="1C1C1C"/>
              </a:solidFill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E0D425A-48ED-45D3-9AE8-22C95A6F9ECE}" type="slidenum">
              <a:rPr kumimoji="0" lang="en-US" altLang="zh-CN" smtClean="0">
                <a:solidFill>
                  <a:srgbClr val="1C1C1C"/>
                </a:solidFill>
              </a:rPr>
              <a:pPr/>
              <a:t>‹#›</a:t>
            </a:fld>
            <a:endParaRPr kumimoji="0"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3791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799F26-E3E5-4F6F-9872-A21358C3BDF9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327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6CDEC3-01D6-43B5-924F-A5439378DD1A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863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22400" y="1447800"/>
            <a:ext cx="5080000" cy="4648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05600" y="1447800"/>
            <a:ext cx="5080000" cy="4648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DF9A94-B4FE-4245-B835-B5A8845469EB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271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4EB713-BF65-4991-9402-E7C225BA0FD4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8384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183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0555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4862E7-97C5-4033-9E8B-39B4E96AAAFB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8717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F4CB8B-EACA-4FCC-A826-277379CAD8FE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1251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13CC36-E690-4505-9461-93C12D4DE0D6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3841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15970" y="457200"/>
            <a:ext cx="2597151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22403" y="457200"/>
            <a:ext cx="7590367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F22E1E-D7C8-4D0F-AC56-51C07BD824F8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8446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422400" y="457200"/>
            <a:ext cx="10390717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29DED6-B8C8-4242-AC6F-7408EEB1EE75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50743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2400" y="457200"/>
            <a:ext cx="10390717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422400" y="1447800"/>
            <a:ext cx="50800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05600" y="1447800"/>
            <a:ext cx="50800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F88537-C7F8-4E81-BA8B-198248C63DB5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206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3" y="228605"/>
            <a:ext cx="12012084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814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219200" y="609600"/>
            <a:ext cx="103632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北京大学博士学位论文－</a:t>
            </a:r>
            <a:r>
              <a:rPr lang="en-US" altLang="zh-CN"/>
              <a:t>Weyl</a:t>
            </a:r>
            <a:r>
              <a:rPr lang="zh-CN" altLang="en-US"/>
              <a:t>变换</a:t>
            </a:r>
          </a:p>
        </p:txBody>
      </p:sp>
      <p:sp>
        <p:nvSpPr>
          <p:cNvPr id="4814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1C1C1C"/>
                </a:solidFill>
              </a:rPr>
              <a:t> </a:t>
            </a: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9E0D425A-48ED-45D3-9AE8-22C95A6F9ECE}" type="slidenum">
              <a:rPr lang="en-US" altLang="zh-CN" smtClean="0">
                <a:solidFill>
                  <a:srgbClr val="1C1C1C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8634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89799F26-E3E5-4F6F-9872-A21358C3BDF9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1445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CB6CDEC3-01D6-43B5-924F-A5439378DD1A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2482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22400" y="1447800"/>
            <a:ext cx="5080000" cy="4648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05600" y="1447800"/>
            <a:ext cx="5080000" cy="4648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4DF9A94-B4FE-4245-B835-B5A8845469EB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984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E4EB713-BF65-4991-9402-E7C225BA0FD4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2688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281FBE21-B40B-4B64-ABBE-395E3EC7A610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4817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9EFF0944-2518-4343-8163-3F075A3F9F1C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0697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984862E7-97C5-4033-9E8B-39B4E96AAAFB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7017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B5F4CB8B-EACA-4FCC-A826-277379CAD8FE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2946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CF13CC36-E690-4505-9461-93C12D4DE0D6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7177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15970" y="457200"/>
            <a:ext cx="2597151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22403" y="457200"/>
            <a:ext cx="7590367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26F22E1E-D7C8-4D0F-AC56-51C07BD824F8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9726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422400" y="457200"/>
            <a:ext cx="10390717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1029DED6-B8C8-4242-AC6F-7408EEB1EE75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68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2400" y="457200"/>
            <a:ext cx="10390717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422400" y="1447800"/>
            <a:ext cx="50800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05600" y="1447800"/>
            <a:ext cx="50800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F1F88537-C7F8-4E81-BA8B-198248C63DB5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689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1C1C1C"/>
                </a:solidFill>
              </a:rPr>
              <a:t> </a:t>
            </a: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755898-8FD4-4964-B4BC-AA646DD2E2DA}" type="slidenum">
              <a:rPr lang="en-US" altLang="zh-CN" smtClean="0">
                <a:solidFill>
                  <a:srgbClr val="1C1C1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7746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7B680AF-C5C1-499C-8332-B6623D96608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1816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34C5F8-D23A-4C9B-89C4-004DA083814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2251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5C62C5-D8BD-45D3-8DFE-AF86FD4E640A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760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465D5D-4317-43F7-96E2-545B31FADE66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5836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2475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4730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0D20362-9C4A-447B-BF66-33DDC3C33AA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842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02A06D-A098-4C3D-976F-6656EA86D46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94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5321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98732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772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39119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51191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3804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291C385-4FD6-40D0-9EF7-B11DD1F280AD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78999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97970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1C1C1C"/>
                </a:solidFill>
              </a:rPr>
              <a:t> </a:t>
            </a: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755898-8FD4-4964-B4BC-AA646DD2E2DA}" type="slidenum">
              <a:rPr lang="en-US" altLang="zh-CN" smtClean="0">
                <a:solidFill>
                  <a:srgbClr val="1C1C1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4867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7B680AF-C5C1-499C-8332-B6623D96608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26194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34C5F8-D23A-4C9B-89C4-004DA083814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90127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5C62C5-D8BD-45D3-8DFE-AF86FD4E640A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513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465D5D-4317-43F7-96E2-545B31FADE66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2803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14579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81803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0D20362-9C4A-447B-BF66-33DDC3C33AA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16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02A06D-A098-4C3D-976F-6656EA86D46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99555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66867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53502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67633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85625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46898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7174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291C385-4FD6-40D0-9EF7-B11DD1F280AD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75202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83119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1C1C1C"/>
                </a:solidFill>
              </a:rPr>
              <a:t> </a:t>
            </a: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2755898-8FD4-4964-B4BC-AA646DD2E2DA}" type="slidenum">
              <a:rPr lang="en-US" altLang="zh-CN" smtClean="0">
                <a:solidFill>
                  <a:srgbClr val="1C1C1C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8907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7B680AF-C5C1-499C-8332-B6623D966081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13124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D34C5F8-D23A-4C9B-89C4-004DA0838141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68071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05C62C5-D8BD-45D3-8DFE-AF86FD4E640A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48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1465D5D-4317-43F7-96E2-545B31FADE66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917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29217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2268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0D20362-9C4A-447B-BF66-33DDC3C33AA1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633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02A06D-A098-4C3D-976F-6656EA86D461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83595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02646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95877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56695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34701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84561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94383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291C385-4FD6-40D0-9EF7-B11DD1F280AD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87812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29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5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slideLayout" Target="../slideLayouts/slideLayout95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4.xml"/><Relationship Id="rId17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98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7.xml"/><Relationship Id="rId15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2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Relationship Id="rId14" Type="http://schemas.openxmlformats.org/officeDocument/2006/relationships/slideLayout" Target="../slideLayouts/slideLayout9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74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9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latin typeface="Arial Black" panose="020B0A040201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739858-C449-4755-96E1-1C35A74F5DBD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276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762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3429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6858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387351" y="412755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97470" y="412755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52454" y="835030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045633" y="835030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0" y="762004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846668" y="304805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21221" y="10953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457200"/>
            <a:ext cx="1039071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北京大学博士学位论文</a:t>
            </a:r>
            <a:r>
              <a:rPr lang="en-US" altLang="zh-CN"/>
              <a:t>Weyl</a:t>
            </a:r>
            <a:r>
              <a:rPr lang="zh-CN" altLang="en-US"/>
              <a:t>变换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447800"/>
            <a:ext cx="10363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711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553200"/>
            <a:ext cx="2540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50">
                <a:latin typeface="+mn-lt"/>
              </a:defRPr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711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latin typeface="+mn-lt"/>
              </a:defRPr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711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latin typeface="Tahoma" panose="020B0604030504040204" pitchFamily="34" charset="0"/>
              </a:defRPr>
            </a:lvl1pPr>
          </a:lstStyle>
          <a:p>
            <a:fld id="{4ACCFE73-393E-4D60-9ACE-866BED77E233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38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387351" y="412755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97470" y="412755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52454" y="835030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045633" y="835030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0" y="762004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846668" y="304805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21221" y="10953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457200"/>
            <a:ext cx="1039071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北京大学博士学位论文</a:t>
            </a:r>
            <a:r>
              <a:rPr lang="en-US" altLang="zh-CN"/>
              <a:t>Weyl</a:t>
            </a:r>
            <a:r>
              <a:rPr lang="zh-CN" altLang="en-US"/>
              <a:t>变换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447800"/>
            <a:ext cx="10363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711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553200"/>
            <a:ext cx="2540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50">
                <a:latin typeface="+mn-lt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711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latin typeface="+mn-lt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711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latin typeface="Tahoma" panose="020B0604030504040204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4ACCFE73-393E-4D60-9ACE-866BED77E233}" type="slidenum">
              <a:rPr lang="en-US" altLang="zh-CN" smtClean="0">
                <a:solidFill>
                  <a:srgbClr val="000000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26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  <p:sldLayoutId id="2147483904" r:id="rId12"/>
    <p:sldLayoutId id="2147483905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541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76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  <p:sldLayoutId id="2147483954" r:id="rId12"/>
    <p:sldLayoutId id="2147483955" r:id="rId13"/>
    <p:sldLayoutId id="2147483956" r:id="rId14"/>
    <p:sldLayoutId id="2147483957" r:id="rId15"/>
    <p:sldLayoutId id="2147483958" r:id="rId16"/>
    <p:sldLayoutId id="2147483959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609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  <p:sldLayoutId id="21474839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0.png"/><Relationship Id="rId5" Type="http://schemas.openxmlformats.org/officeDocument/2006/relationships/image" Target="../media/image17.wmf"/><Relationship Id="rId4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2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2.wmf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52.png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6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1.bin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2.wmf"/><Relationship Id="rId9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image" Target="../media/image55.png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2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8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2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oleObject" Target="../embeddings/oleObject28.bin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2.wmf"/><Relationship Id="rId5" Type="http://schemas.openxmlformats.org/officeDocument/2006/relationships/oleObject" Target="../embeddings/oleObject29.bin"/><Relationship Id="rId10" Type="http://schemas.openxmlformats.org/officeDocument/2006/relationships/oleObject" Target="../embeddings/oleObject32.bin"/><Relationship Id="rId4" Type="http://schemas.openxmlformats.org/officeDocument/2006/relationships/image" Target="../media/image22.wmf"/><Relationship Id="rId9" Type="http://schemas.openxmlformats.org/officeDocument/2006/relationships/image" Target="../media/image31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9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6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2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78.png"/><Relationship Id="rId4" Type="http://schemas.openxmlformats.org/officeDocument/2006/relationships/image" Target="../media/image4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1.wmf"/><Relationship Id="rId11" Type="http://schemas.openxmlformats.org/officeDocument/2006/relationships/image" Target="../media/image87.png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5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4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57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61.wmf"/><Relationship Id="rId3" Type="http://schemas.openxmlformats.org/officeDocument/2006/relationships/image" Target="../media/image57.png"/><Relationship Id="rId7" Type="http://schemas.openxmlformats.org/officeDocument/2006/relationships/image" Target="../media/image58.wmf"/><Relationship Id="rId12" Type="http://schemas.openxmlformats.org/officeDocument/2006/relationships/image" Target="../media/image580.png"/><Relationship Id="rId17" Type="http://schemas.openxmlformats.org/officeDocument/2006/relationships/oleObject" Target="../embeddings/oleObject61.bin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60.wmf"/><Relationship Id="rId20" Type="http://schemas.openxmlformats.org/officeDocument/2006/relationships/image" Target="../media/image61.wmf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59.wmf"/><Relationship Id="rId5" Type="http://schemas.openxmlformats.org/officeDocument/2006/relationships/image" Target="../media/image58.wmf"/><Relationship Id="rId15" Type="http://schemas.openxmlformats.org/officeDocument/2006/relationships/oleObject" Target="../embeddings/oleObject60.bin"/><Relationship Id="rId10" Type="http://schemas.openxmlformats.org/officeDocument/2006/relationships/oleObject" Target="../embeddings/oleObject59.bin"/><Relationship Id="rId19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59.wmf"/><Relationship Id="rId14" Type="http://schemas.openxmlformats.org/officeDocument/2006/relationships/image" Target="../media/image60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69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69.bin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68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7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70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5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74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82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82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image" Target="../media/image88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12" Type="http://schemas.openxmlformats.org/officeDocument/2006/relationships/oleObject" Target="../embeddings/oleObject90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85.wmf"/><Relationship Id="rId11" Type="http://schemas.openxmlformats.org/officeDocument/2006/relationships/image" Target="../media/image87.wmf"/><Relationship Id="rId5" Type="http://schemas.openxmlformats.org/officeDocument/2006/relationships/oleObject" Target="../embeddings/oleObject87.bin"/><Relationship Id="rId10" Type="http://schemas.openxmlformats.org/officeDocument/2006/relationships/oleObject" Target="../embeddings/oleObject89.bin"/><Relationship Id="rId4" Type="http://schemas.openxmlformats.org/officeDocument/2006/relationships/image" Target="../media/image84.wmf"/><Relationship Id="rId9" Type="http://schemas.openxmlformats.org/officeDocument/2006/relationships/image" Target="../media/image12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94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93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95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05.bin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02.wmf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0" Type="http://schemas.openxmlformats.org/officeDocument/2006/relationships/image" Target="../media/image101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03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08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107.w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09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17.bin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oleObject" Target="../embeddings/oleObject116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10.wmf"/><Relationship Id="rId11" Type="http://schemas.openxmlformats.org/officeDocument/2006/relationships/image" Target="../media/image112.wmf"/><Relationship Id="rId5" Type="http://schemas.openxmlformats.org/officeDocument/2006/relationships/oleObject" Target="../embeddings/oleObject112.bin"/><Relationship Id="rId10" Type="http://schemas.openxmlformats.org/officeDocument/2006/relationships/oleObject" Target="../embeddings/oleObject115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13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14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17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10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122.w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26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123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26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3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28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36.bin"/><Relationship Id="rId4" Type="http://schemas.openxmlformats.org/officeDocument/2006/relationships/image" Target="../media/image130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38.bin"/><Relationship Id="rId4" Type="http://schemas.openxmlformats.org/officeDocument/2006/relationships/image" Target="../media/image132.wmf"/><Relationship Id="rId9" Type="http://schemas.openxmlformats.org/officeDocument/2006/relationships/image" Target="../media/image17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image" Target="../media/image138.wmf"/><Relationship Id="rId3" Type="http://schemas.openxmlformats.org/officeDocument/2006/relationships/oleObject" Target="../embeddings/oleObject140.bin"/><Relationship Id="rId7" Type="http://schemas.openxmlformats.org/officeDocument/2006/relationships/oleObject" Target="../embeddings/oleObject142.bin"/><Relationship Id="rId12" Type="http://schemas.openxmlformats.org/officeDocument/2006/relationships/oleObject" Target="../embeddings/oleObject145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36.wmf"/><Relationship Id="rId11" Type="http://schemas.openxmlformats.org/officeDocument/2006/relationships/image" Target="../media/image137.wmf"/><Relationship Id="rId5" Type="http://schemas.openxmlformats.org/officeDocument/2006/relationships/oleObject" Target="../embeddings/oleObject141.bin"/><Relationship Id="rId10" Type="http://schemas.openxmlformats.org/officeDocument/2006/relationships/oleObject" Target="../embeddings/oleObject144.bin"/><Relationship Id="rId4" Type="http://schemas.openxmlformats.org/officeDocument/2006/relationships/image" Target="../media/image135.wmf"/><Relationship Id="rId9" Type="http://schemas.openxmlformats.org/officeDocument/2006/relationships/oleObject" Target="../embeddings/oleObject143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143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40.wmf"/><Relationship Id="rId11" Type="http://schemas.openxmlformats.org/officeDocument/2006/relationships/oleObject" Target="../embeddings/oleObject150.bin"/><Relationship Id="rId5" Type="http://schemas.openxmlformats.org/officeDocument/2006/relationships/oleObject" Target="../embeddings/oleObject147.bin"/><Relationship Id="rId10" Type="http://schemas.openxmlformats.org/officeDocument/2006/relationships/image" Target="../media/image142.wmf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49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1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46.vml"/><Relationship Id="rId4" Type="http://schemas.openxmlformats.org/officeDocument/2006/relationships/image" Target="../media/image144.w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51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5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6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74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60C9B2C-8AC9-46E5-B25B-538A702AF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664" y="2060848"/>
            <a:ext cx="6876256" cy="165735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75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第三章</a:t>
            </a:r>
            <a:r>
              <a:rPr lang="zh-CN" altLang="en-US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 i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mbria Math" panose="02040503050406030204" pitchFamily="18" charset="0"/>
                <a:ea typeface="黑体" panose="02010609060101010101" pitchFamily="49" charset="-122"/>
              </a:rPr>
              <a:t/>
            </a:r>
            <a:br>
              <a:rPr lang="en-US" altLang="zh-CN" sz="3200" i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mbria Math" panose="02040503050406030204" pitchFamily="18" charset="0"/>
                <a:ea typeface="黑体" panose="02010609060101010101" pitchFamily="49" charset="-122"/>
              </a:rPr>
            </a:br>
            <a:r>
              <a:rPr lang="zh-CN" altLang="en-US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内积空间、</a:t>
            </a:r>
            <a:r>
              <a:rPr lang="zh-CN" altLang="en-US" sz="3200" kern="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正规矩阵</a:t>
            </a:r>
            <a:r>
              <a:rPr lang="zh-CN" altLang="en-US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Hermite</a:t>
            </a:r>
            <a:r>
              <a:rPr lang="zh-CN" altLang="en-US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F31BD45F-9B88-4BE5-8748-C2DB328E136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75520" y="4365104"/>
            <a:ext cx="9019455" cy="1285875"/>
          </a:xfrm>
        </p:spPr>
        <p:txBody>
          <a:bodyPr>
            <a:normAutofit/>
          </a:bodyPr>
          <a:lstStyle/>
          <a:p>
            <a:pPr algn="l" eaLnBrk="1" hangingPunct="1">
              <a:lnSpc>
                <a:spcPct val="125000"/>
              </a:lnSpc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前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节介绍内积空间及内积空间的几个重要线性变换（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重点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）。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l" eaLnBrk="1" hangingPunct="1">
              <a:lnSpc>
                <a:spcPct val="125000"/>
              </a:lnSpc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后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节介绍正规矩阵与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Hermite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矩阵（了解）。</a:t>
            </a:r>
          </a:p>
        </p:txBody>
      </p:sp>
    </p:spTree>
    <p:extLst>
      <p:ext uri="{BB962C8B-B14F-4D97-AF65-F5344CB8AC3E}">
        <p14:creationId xmlns:p14="http://schemas.microsoft.com/office/powerpoint/2010/main" val="1124644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68E7D-5707-48DA-ACBF-7903B19740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3.1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欧氏空间、酉空间</a:t>
            </a:r>
          </a:p>
        </p:txBody>
      </p:sp>
    </p:spTree>
    <p:extLst>
      <p:ext uri="{BB962C8B-B14F-4D97-AF65-F5344CB8AC3E}">
        <p14:creationId xmlns:p14="http://schemas.microsoft.com/office/powerpoint/2010/main" val="2948682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AB9529-2F7C-4540-B691-FC00D519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z="110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altLang="zh-CN" sz="1100">
              <a:solidFill>
                <a:srgbClr val="000000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88F9C6-A9CA-4DE4-ACC6-7B731208B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408" y="1405185"/>
            <a:ext cx="10225136" cy="576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None/>
              <a:defRPr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CH1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中学到的线性空间，向量之间只有加法和数乘运算。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07A67D-4F64-4B99-A137-D8C9A8272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683" y="2308822"/>
            <a:ext cx="10081120" cy="1120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向量的度量关系：向量的长度，夹角，正交等概念都没有反应，局限了线性空间理论的应用。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2193F1-79C5-4665-B8DF-877E82D40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374" y="3755684"/>
            <a:ext cx="9451203" cy="58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这一节中，借助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内积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把度量概念引入到线性空间中。 </a:t>
            </a:r>
            <a:endParaRPr lang="zh-CN" altLang="en-US" sz="24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423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0" name="Object 6">
            <a:extLst>
              <a:ext uri="{FF2B5EF4-FFF2-40B4-BE49-F238E27FC236}">
                <a16:creationId xmlns:a16="http://schemas.microsoft.com/office/drawing/2014/main" id="{BC48990F-B626-42A4-B508-41B3ABD726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462314"/>
              </p:ext>
            </p:extLst>
          </p:nvPr>
        </p:nvGraphicFramePr>
        <p:xfrm>
          <a:off x="2855640" y="2800960"/>
          <a:ext cx="7056784" cy="1929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4" imgW="3251160" imgH="888840" progId="Equation.DSMT4">
                  <p:embed/>
                </p:oleObj>
              </mc:Choice>
              <mc:Fallback>
                <p:oleObj name="Equation" r:id="rId4" imgW="3251160" imgH="888840" progId="Equation.DSMT4">
                  <p:embed/>
                  <p:pic>
                    <p:nvPicPr>
                      <p:cNvPr id="4100" name="Object 6">
                        <a:extLst>
                          <a:ext uri="{FF2B5EF4-FFF2-40B4-BE49-F238E27FC236}">
                            <a16:creationId xmlns:a16="http://schemas.microsoft.com/office/drawing/2014/main" id="{BC48990F-B626-42A4-B508-41B3ABD726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2800960"/>
                        <a:ext cx="7056784" cy="1929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33C5E79-E027-4460-B9BC-A271777218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784992"/>
              </p:ext>
            </p:extLst>
          </p:nvPr>
        </p:nvGraphicFramePr>
        <p:xfrm>
          <a:off x="1199456" y="5982185"/>
          <a:ext cx="8372345" cy="464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6" imgW="4114800" imgH="228600" progId="Equation.DSMT4">
                  <p:embed/>
                </p:oleObj>
              </mc:Choice>
              <mc:Fallback>
                <p:oleObj name="Equation" r:id="rId6" imgW="4114800" imgH="228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33C5E79-E027-4460-B9BC-A271777218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9456" y="5982185"/>
                        <a:ext cx="8372345" cy="464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ADD6809-C14F-48BD-882B-C4782567DABA}"/>
              </a:ext>
            </a:extLst>
          </p:cNvPr>
          <p:cNvSpPr txBox="1"/>
          <p:nvPr/>
        </p:nvSpPr>
        <p:spPr>
          <a:xfrm>
            <a:off x="1901672" y="643387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欧氏空间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A52DEC-502C-4350-AD82-0E19BFD3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/>
              <p:nvPr/>
            </p:nvSpPr>
            <p:spPr>
              <a:xfrm>
                <a:off x="839416" y="1280647"/>
                <a:ext cx="10585176" cy="1688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定义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1.1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实数域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𝑅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上的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维线性空间，对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中的任意两个向量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𝛽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按照一个确定的规则对应一个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实数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，这个实数称为内积，记作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𝛽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并且要求内积满足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4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个条件：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1280647"/>
                <a:ext cx="10585176" cy="1688924"/>
              </a:xfrm>
              <a:prstGeom prst="rect">
                <a:avLst/>
              </a:prstGeom>
              <a:blipFill>
                <a:blip r:embed="rId8"/>
                <a:stretch>
                  <a:fillRect l="-922" r="-806" b="-7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E1CEF94-46ED-4CB0-8589-CB77611FF31A}"/>
                  </a:ext>
                </a:extLst>
              </p:cNvPr>
              <p:cNvSpPr txBox="1"/>
              <p:nvPr/>
            </p:nvSpPr>
            <p:spPr>
              <a:xfrm>
                <a:off x="983432" y="4730100"/>
                <a:ext cx="10297144" cy="113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这里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𝛽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和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𝑣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是</m:t>
                    </m:r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中的任意向量。称定义有这样内积的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维线性空间为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维欧几里得空间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维欧氏空间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E1CEF94-46ED-4CB0-8589-CB77611FF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4730100"/>
                <a:ext cx="10297144" cy="1134926"/>
              </a:xfrm>
              <a:prstGeom prst="rect">
                <a:avLst/>
              </a:prstGeom>
              <a:blipFill>
                <a:blip r:embed="rId9"/>
                <a:stretch>
                  <a:fillRect l="-888" r="-414" b="-11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209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3358D3-1279-48B6-800F-D5996D9DF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p:sp>
        <p:nvSpPr>
          <p:cNvPr id="6147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B0F15F5-C2C6-4AC7-BB13-2EACB56E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p:sp>
        <p:nvSpPr>
          <p:cNvPr id="6148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20BAC9-8D4B-48F9-A82D-A4EE22D4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CBF4A4AC-3497-42BA-ABCB-1B12EFF3D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76" y="2967335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证明：</a:t>
            </a:r>
          </a:p>
        </p:txBody>
      </p:sp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6ED5345A-6F1D-48F6-BB7B-7E2FE3C888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98022"/>
              </p:ext>
            </p:extLst>
          </p:nvPr>
        </p:nvGraphicFramePr>
        <p:xfrm>
          <a:off x="2641832" y="3054152"/>
          <a:ext cx="6400568" cy="2304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3" imgW="3149600" imgH="1130300" progId="Equation.DSMT4">
                  <p:embed/>
                </p:oleObj>
              </mc:Choice>
              <mc:Fallback>
                <p:oleObj name="Equation" r:id="rId3" imgW="3149600" imgH="1130300" progId="Equation.DSMT4">
                  <p:embed/>
                  <p:pic>
                    <p:nvPicPr>
                      <p:cNvPr id="15" name="Object 4">
                        <a:extLst>
                          <a:ext uri="{FF2B5EF4-FFF2-40B4-BE49-F238E27FC236}">
                            <a16:creationId xmlns:a16="http://schemas.microsoft.com/office/drawing/2014/main" id="{6ED5345A-6F1D-48F6-BB7B-7E2FE3C888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832" y="3054152"/>
                        <a:ext cx="6400568" cy="2304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1B6CC64-F069-4987-B120-FCE7455C78FD}"/>
                  </a:ext>
                </a:extLst>
              </p:cNvPr>
              <p:cNvSpPr txBox="1"/>
              <p:nvPr/>
            </p:nvSpPr>
            <p:spPr>
              <a:xfrm>
                <a:off x="850832" y="5358407"/>
                <a:ext cx="10357736" cy="113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Remark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：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今后在无特殊说明的情况下，在讨论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时都用上述例题中引进的内积。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1B6CC64-F069-4987-B120-FCE7455C7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32" y="5358407"/>
                <a:ext cx="10357736" cy="1134926"/>
              </a:xfrm>
              <a:prstGeom prst="rect">
                <a:avLst/>
              </a:prstGeom>
              <a:blipFill>
                <a:blip r:embed="rId5"/>
                <a:stretch>
                  <a:fillRect l="-942" b="-11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A9D999-5A94-4A01-960D-7630EFA0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ED3E7C1-0DF7-4E06-8AB7-C7315B2EA01E}"/>
                  </a:ext>
                </a:extLst>
              </p:cNvPr>
              <p:cNvSpPr txBox="1"/>
              <p:nvPr/>
            </p:nvSpPr>
            <p:spPr>
              <a:xfrm>
                <a:off x="767408" y="1225035"/>
                <a:ext cx="10585176" cy="1688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例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维实向量空间，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,⋯,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𝛽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,⋯,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，命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𝛽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𝛽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𝛽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+⋯+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naryPr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，证明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是欧氏空间。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ED3E7C1-0DF7-4E06-8AB7-C7315B2EA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1225035"/>
                <a:ext cx="10585176" cy="1688924"/>
              </a:xfrm>
              <a:prstGeom prst="rect">
                <a:avLst/>
              </a:prstGeom>
              <a:blipFill>
                <a:blip r:embed="rId6"/>
                <a:stretch>
                  <a:fillRect l="-922" b="-213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497A313B-060E-4656-868C-86C76ED27D22}"/>
              </a:ext>
            </a:extLst>
          </p:cNvPr>
          <p:cNvSpPr txBox="1"/>
          <p:nvPr/>
        </p:nvSpPr>
        <p:spPr>
          <a:xfrm>
            <a:off x="1609110" y="644959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欧氏空间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3358D3-1279-48B6-800F-D5996D9DF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p:sp>
        <p:nvSpPr>
          <p:cNvPr id="6147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B0F15F5-C2C6-4AC7-BB13-2EACB56E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p:sp>
        <p:nvSpPr>
          <p:cNvPr id="6148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20BAC9-8D4B-48F9-A82D-A4EE22D4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90FFF06-21E7-422F-A511-495B159D7B73}"/>
                  </a:ext>
                </a:extLst>
              </p:cNvPr>
              <p:cNvSpPr txBox="1"/>
              <p:nvPr/>
            </p:nvSpPr>
            <p:spPr>
              <a:xfrm>
                <a:off x="651648" y="1310421"/>
                <a:ext cx="10534945" cy="1434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例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2.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中对向量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𝛽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规定内积为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𝛽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=2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试证：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是欧氏空间。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90FFF06-21E7-422F-A511-495B159D7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48" y="1310421"/>
                <a:ext cx="10534945" cy="1434303"/>
              </a:xfrm>
              <a:prstGeom prst="rect">
                <a:avLst/>
              </a:prstGeom>
              <a:blipFill>
                <a:blip r:embed="rId2"/>
                <a:stretch>
                  <a:fillRect l="-926" b="-89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074E42F-3509-437D-AC39-DD80C8FA8F4E}"/>
                  </a:ext>
                </a:extLst>
              </p:cNvPr>
              <p:cNvSpPr txBox="1"/>
              <p:nvPr/>
            </p:nvSpPr>
            <p:spPr>
              <a:xfrm>
                <a:off x="699200" y="2986551"/>
                <a:ext cx="9029000" cy="511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解：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只需验证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𝛽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满足内积的四个条件即可。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074E42F-3509-437D-AC39-DD80C8FA8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00" y="2986551"/>
                <a:ext cx="9029000" cy="511679"/>
              </a:xfrm>
              <a:prstGeom prst="rect">
                <a:avLst/>
              </a:prstGeom>
              <a:blipFill>
                <a:blip r:embed="rId3"/>
                <a:stretch>
                  <a:fillRect l="-1080" b="-26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153EB19-B60C-4276-AA06-9BAE9CD2EDBC}"/>
                  </a:ext>
                </a:extLst>
              </p:cNvPr>
              <p:cNvSpPr txBox="1"/>
              <p:nvPr/>
            </p:nvSpPr>
            <p:spPr>
              <a:xfrm>
                <a:off x="618894" y="3795541"/>
                <a:ext cx="9029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𝛽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=2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                             =2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=(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𝛼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𝛽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153EB19-B60C-4276-AA06-9BAE9CD2E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94" y="3795541"/>
                <a:ext cx="9029000" cy="11079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B4CFCE0-50C0-477B-A10F-92D08D6F741C}"/>
                  </a:ext>
                </a:extLst>
              </p:cNvPr>
              <p:cNvSpPr txBox="1"/>
              <p:nvPr/>
            </p:nvSpPr>
            <p:spPr>
              <a:xfrm>
                <a:off x="1035750" y="5103045"/>
                <a:ext cx="9029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𝑘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𝛽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=2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𝑘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𝑘𝑎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𝑘𝑎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𝑘𝑎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                               =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𝑘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𝑘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(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𝛼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𝛽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B4CFCE0-50C0-477B-A10F-92D08D6F7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50" y="5103045"/>
                <a:ext cx="9029000" cy="1107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BB9799-6B62-4A54-AFBE-77D1A3D2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A1DE107-72B4-4BE8-9DEE-DB0D9099827E}"/>
              </a:ext>
            </a:extLst>
          </p:cNvPr>
          <p:cNvSpPr txBox="1"/>
          <p:nvPr/>
        </p:nvSpPr>
        <p:spPr>
          <a:xfrm>
            <a:off x="1703512" y="646959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欧氏空间</a:t>
            </a:r>
          </a:p>
        </p:txBody>
      </p:sp>
    </p:spTree>
    <p:extLst>
      <p:ext uri="{BB962C8B-B14F-4D97-AF65-F5344CB8AC3E}">
        <p14:creationId xmlns:p14="http://schemas.microsoft.com/office/powerpoint/2010/main" val="295677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3358D3-1279-48B6-800F-D5996D9DF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p:sp>
        <p:nvSpPr>
          <p:cNvPr id="6147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B0F15F5-C2C6-4AC7-BB13-2EACB56E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p:sp>
        <p:nvSpPr>
          <p:cNvPr id="6148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20BAC9-8D4B-48F9-A82D-A4EE22D4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EF4B97C-BEE6-4B8D-850D-3A05640F00D9}"/>
                  </a:ext>
                </a:extLst>
              </p:cNvPr>
              <p:cNvSpPr txBox="1"/>
              <p:nvPr/>
            </p:nvSpPr>
            <p:spPr>
              <a:xfrm>
                <a:off x="1631504" y="1360916"/>
                <a:ext cx="11209947" cy="510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𝑣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则</m:t>
                    </m:r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EF4B97C-BEE6-4B8D-850D-3A05640F0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1360916"/>
                <a:ext cx="11209947" cy="510909"/>
              </a:xfrm>
              <a:prstGeom prst="rect">
                <a:avLst/>
              </a:prstGeom>
              <a:blipFill>
                <a:blip r:embed="rId2"/>
                <a:stretch>
                  <a:fillRect l="-870" b="-26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FFDB0FF-0C3E-4BAF-9323-CC212B9AB265}"/>
                  </a:ext>
                </a:extLst>
              </p:cNvPr>
              <p:cNvSpPr txBox="1"/>
              <p:nvPr/>
            </p:nvSpPr>
            <p:spPr>
              <a:xfrm>
                <a:off x="2063553" y="1936712"/>
                <a:ext cx="11209947" cy="2270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𝛽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𝑣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=2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                                               =2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+2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       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       =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𝑣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+(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𝛽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𝑣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FFDB0FF-0C3E-4BAF-9323-CC212B9AB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3" y="1936712"/>
                <a:ext cx="11209947" cy="22700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3F78CD6-FB95-4D50-880F-73F2B0B58436}"/>
                  </a:ext>
                </a:extLst>
              </p:cNvPr>
              <p:cNvSpPr txBox="1"/>
              <p:nvPr/>
            </p:nvSpPr>
            <p:spPr>
              <a:xfrm>
                <a:off x="593438" y="4271644"/>
                <a:ext cx="7992888" cy="1214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=2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     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3F78CD6-FB95-4D50-880F-73F2B0B58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38" y="4271644"/>
                <a:ext cx="7992888" cy="12143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2FC1B52-F0C5-47E2-9DE5-8DBEE10C4454}"/>
                  </a:ext>
                </a:extLst>
              </p:cNvPr>
              <p:cNvSpPr txBox="1"/>
              <p:nvPr/>
            </p:nvSpPr>
            <p:spPr>
              <a:xfrm>
                <a:off x="1271464" y="5560192"/>
                <a:ext cx="11209947" cy="580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等式成立的充要条件是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=0,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即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=0.</m:t>
                    </m:r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2FC1B52-F0C5-47E2-9DE5-8DBEE10C4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64" y="5560192"/>
                <a:ext cx="11209947" cy="580928"/>
              </a:xfrm>
              <a:prstGeom prst="rect">
                <a:avLst/>
              </a:prstGeom>
              <a:blipFill>
                <a:blip r:embed="rId5"/>
                <a:stretch>
                  <a:fillRect l="-871" b="-2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C60DE2-98FF-4E96-9565-B32AE2B8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B9B5D2-93CB-49D8-B01C-1AEAD9241582}"/>
              </a:ext>
            </a:extLst>
          </p:cNvPr>
          <p:cNvSpPr txBox="1"/>
          <p:nvPr/>
        </p:nvSpPr>
        <p:spPr>
          <a:xfrm>
            <a:off x="1631504" y="643738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欧氏空间</a:t>
            </a:r>
          </a:p>
        </p:txBody>
      </p:sp>
    </p:spTree>
    <p:extLst>
      <p:ext uri="{BB962C8B-B14F-4D97-AF65-F5344CB8AC3E}">
        <p14:creationId xmlns:p14="http://schemas.microsoft.com/office/powerpoint/2010/main" val="139478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3358D3-1279-48B6-800F-D5996D9DF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147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B0F15F5-C2C6-4AC7-BB13-2EACB56E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148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20BAC9-8D4B-48F9-A82D-A4EE22D4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90FFF06-21E7-422F-A511-495B159D7B73}"/>
                  </a:ext>
                </a:extLst>
              </p:cNvPr>
              <p:cNvSpPr txBox="1"/>
              <p:nvPr/>
            </p:nvSpPr>
            <p:spPr>
              <a:xfrm>
                <a:off x="699200" y="1331723"/>
                <a:ext cx="10797400" cy="1463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例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3.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维空间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中对向量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阶矩阵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B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规定内积为</a:t>
                </a:r>
                <a:endParaRPr lang="en-US" altLang="zh-CN" sz="2400" dirty="0">
                  <a:solidFill>
                    <a:prstClr val="blac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𝐴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𝐵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𝑡𝑟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𝐵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       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𝐴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𝐵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∈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𝑅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^(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𝑛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×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𝑛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solidFill>
                    <a:prstClr val="blac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25000"/>
                  </a:lnSpc>
                  <a:defRPr/>
                </a:pPr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试证：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是欧氏空间。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90FFF06-21E7-422F-A511-495B159D7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00" y="1331723"/>
                <a:ext cx="10797400" cy="1463799"/>
              </a:xfrm>
              <a:prstGeom prst="rect">
                <a:avLst/>
              </a:prstGeom>
              <a:blipFill>
                <a:blip r:embed="rId2"/>
                <a:stretch>
                  <a:fillRect l="-903" b="-6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074E42F-3509-437D-AC39-DD80C8FA8F4E}"/>
                  </a:ext>
                </a:extLst>
              </p:cNvPr>
              <p:cNvSpPr txBox="1"/>
              <p:nvPr/>
            </p:nvSpPr>
            <p:spPr>
              <a:xfrm>
                <a:off x="839416" y="2853141"/>
                <a:ext cx="9029000" cy="2418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解：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不难验证</a:t>
                </a:r>
                <a:endParaRPr lang="en-US" altLang="zh-CN" sz="2400" dirty="0">
                  <a:solidFill>
                    <a:prstClr val="blac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𝑡𝑟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𝐵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𝑗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400" dirty="0">
                  <a:solidFill>
                    <a:prstClr val="blac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25000"/>
                  </a:lnSpc>
                  <a:defRPr/>
                </a:pPr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显然，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𝐵</m:t>
                        </m:r>
                      </m:e>
                    </m:d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𝐵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;</m:t>
                    </m:r>
                  </m:oMath>
                </a14:m>
                <a:endParaRPr lang="en-US" altLang="zh-CN" sz="2400" dirty="0">
                  <a:solidFill>
                    <a:prstClr val="blac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074E42F-3509-437D-AC39-DD80C8FA8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2853141"/>
                <a:ext cx="9029000" cy="2418675"/>
              </a:xfrm>
              <a:prstGeom prst="rect">
                <a:avLst/>
              </a:prstGeom>
              <a:blipFill>
                <a:blip r:embed="rId3"/>
                <a:stretch>
                  <a:fillRect l="-1080" b="-4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B4CFCE0-50C0-477B-A10F-92D08D6F741C}"/>
                  </a:ext>
                </a:extLst>
              </p:cNvPr>
              <p:cNvSpPr txBox="1"/>
              <p:nvPr/>
            </p:nvSpPr>
            <p:spPr>
              <a:xfrm>
                <a:off x="1127448" y="5331637"/>
                <a:ext cx="9029000" cy="717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𝑘𝐴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𝐵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𝑡𝑟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𝑘𝐴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𝐵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𝑡𝑟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𝑘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𝐵</m:t>
                          </m:r>
                        </m:e>
                      </m:d>
                      <m:r>
                        <a:rPr lang="en-US" altLang="zh-CN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𝑘𝑡𝑟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𝐵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𝑘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(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𝐴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𝐵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solidFill>
                    <a:prstClr val="blac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B4CFCE0-50C0-477B-A10F-92D08D6F7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448" y="5331637"/>
                <a:ext cx="9029000" cy="7176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24A3AD-D585-4554-8F79-203EA424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B3B80CF-638C-4A4C-9530-1B59FFA9B8A2}"/>
              </a:ext>
            </a:extLst>
          </p:cNvPr>
          <p:cNvSpPr txBox="1"/>
          <p:nvPr/>
        </p:nvSpPr>
        <p:spPr>
          <a:xfrm>
            <a:off x="1703512" y="650835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欧氏空间</a:t>
            </a:r>
          </a:p>
        </p:txBody>
      </p:sp>
    </p:spTree>
    <p:extLst>
      <p:ext uri="{BB962C8B-B14F-4D97-AF65-F5344CB8AC3E}">
        <p14:creationId xmlns:p14="http://schemas.microsoft.com/office/powerpoint/2010/main" val="381837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3358D3-1279-48B6-800F-D5996D9DF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147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B0F15F5-C2C6-4AC7-BB13-2EACB56E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148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20BAC9-8D4B-48F9-A82D-A4EE22D48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FFDB0FF-0C3E-4BAF-9323-CC212B9AB265}"/>
                  </a:ext>
                </a:extLst>
              </p:cNvPr>
              <p:cNvSpPr txBox="1"/>
              <p:nvPr/>
            </p:nvSpPr>
            <p:spPr>
              <a:xfrm>
                <a:off x="551384" y="1498129"/>
                <a:ext cx="9993932" cy="1687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𝐴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𝐵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𝐶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𝑡𝑟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𝐴</m:t>
                                  </m:r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+</m:t>
                                  </m:r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𝐶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𝑡𝑟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Tahoma"/>
                    <a:ea typeface="华文中宋" panose="02010600040101010101" pitchFamily="2" charset="-122"/>
                  </a:rPr>
                  <a:t>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𝑡𝑟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𝑡𝑟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+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𝑡𝑟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</m:d>
                  </m:oMath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Tahoma"/>
                    <a:ea typeface="华文中宋" panose="02010600040101010101" pitchFamily="2" charset="-122"/>
                  </a:rPr>
                  <a:t>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</m:d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+(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𝐶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prstClr val="blac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FFDB0FF-0C3E-4BAF-9323-CC212B9AB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1498129"/>
                <a:ext cx="9993932" cy="1687000"/>
              </a:xfrm>
              <a:prstGeom prst="rect">
                <a:avLst/>
              </a:prstGeom>
              <a:blipFill>
                <a:blip r:embed="rId2"/>
                <a:stretch>
                  <a:fillRect b="-50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3F78CD6-FB95-4D50-880F-73F2B0B58436}"/>
                  </a:ext>
                </a:extLst>
              </p:cNvPr>
              <p:cNvSpPr txBox="1"/>
              <p:nvPr/>
            </p:nvSpPr>
            <p:spPr>
              <a:xfrm>
                <a:off x="820912" y="3052825"/>
                <a:ext cx="7992888" cy="1667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𝐴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𝐴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𝑡𝑟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𝐴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𝑗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3F78CD6-FB95-4D50-880F-73F2B0B58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12" y="3052825"/>
                <a:ext cx="7992888" cy="16673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2FC1B52-F0C5-47E2-9DE5-8DBEE10C4454}"/>
                  </a:ext>
                </a:extLst>
              </p:cNvPr>
              <p:cNvSpPr txBox="1"/>
              <p:nvPr/>
            </p:nvSpPr>
            <p:spPr>
              <a:xfrm>
                <a:off x="1530777" y="4761990"/>
                <a:ext cx="11209947" cy="641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等号成立的充要条件是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𝑖𝑗</m:t>
                        </m:r>
                      </m:sub>
                    </m:sSub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=0  (∀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𝑖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𝑗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),</m:t>
                    </m:r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即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=0.</m:t>
                    </m:r>
                  </m:oMath>
                </a14:m>
                <a:endParaRPr lang="en-US" altLang="zh-CN" sz="2400" dirty="0">
                  <a:solidFill>
                    <a:prstClr val="blac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2FC1B52-F0C5-47E2-9DE5-8DBEE10C4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777" y="4761990"/>
                <a:ext cx="11209947" cy="641073"/>
              </a:xfrm>
              <a:prstGeom prst="rect">
                <a:avLst/>
              </a:prstGeom>
              <a:blipFill>
                <a:blip r:embed="rId4"/>
                <a:stretch>
                  <a:fillRect l="-816" b="-16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7436D73-492F-4DC5-AB60-8708B56D1AEC}"/>
                  </a:ext>
                </a:extLst>
              </p:cNvPr>
              <p:cNvSpPr txBox="1"/>
              <p:nvPr/>
            </p:nvSpPr>
            <p:spPr>
              <a:xfrm>
                <a:off x="1571658" y="5616672"/>
                <a:ext cx="11209947" cy="580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所以，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是欧氏空间。</a:t>
                </a:r>
                <a:endParaRPr lang="en-US" altLang="zh-CN" sz="2400" dirty="0">
                  <a:solidFill>
                    <a:prstClr val="black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7436D73-492F-4DC5-AB60-8708B56D1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658" y="5616672"/>
                <a:ext cx="11209947" cy="580928"/>
              </a:xfrm>
              <a:prstGeom prst="rect">
                <a:avLst/>
              </a:prstGeom>
              <a:blipFill>
                <a:blip r:embed="rId5"/>
                <a:stretch>
                  <a:fillRect l="-870" b="-22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280664-2A0B-4AF3-A8AC-6D4E1B3A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E38675-DE99-48FC-8C64-2655F6DB94CF}"/>
              </a:ext>
            </a:extLst>
          </p:cNvPr>
          <p:cNvSpPr txBox="1"/>
          <p:nvPr/>
        </p:nvSpPr>
        <p:spPr>
          <a:xfrm>
            <a:off x="1559496" y="643007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欧氏空间</a:t>
            </a:r>
          </a:p>
        </p:txBody>
      </p:sp>
    </p:spTree>
    <p:extLst>
      <p:ext uri="{BB962C8B-B14F-4D97-AF65-F5344CB8AC3E}">
        <p14:creationId xmlns:p14="http://schemas.microsoft.com/office/powerpoint/2010/main" val="415938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3" grpId="0"/>
      <p:bldP spid="14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DD6809-C14F-48BD-882B-C4782567DABA}"/>
              </a:ext>
            </a:extLst>
          </p:cNvPr>
          <p:cNvSpPr txBox="1"/>
          <p:nvPr/>
        </p:nvSpPr>
        <p:spPr>
          <a:xfrm>
            <a:off x="1753025" y="644030"/>
            <a:ext cx="2952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3.1.2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酉空间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4386EDD-5FD2-4AD2-A09F-96C3BF254A5A}"/>
              </a:ext>
            </a:extLst>
          </p:cNvPr>
          <p:cNvGrpSpPr>
            <a:grpSpLocks/>
          </p:cNvGrpSpPr>
          <p:nvPr/>
        </p:nvGrpSpPr>
        <p:grpSpPr bwMode="auto">
          <a:xfrm>
            <a:off x="2063552" y="2705996"/>
            <a:ext cx="6827068" cy="1735793"/>
            <a:chOff x="824" y="2032"/>
            <a:chExt cx="5081" cy="1418"/>
          </a:xfrm>
        </p:grpSpPr>
        <p:graphicFrame>
          <p:nvGraphicFramePr>
            <p:cNvPr id="10" name="Object 5">
              <a:extLst>
                <a:ext uri="{FF2B5EF4-FFF2-40B4-BE49-F238E27FC236}">
                  <a16:creationId xmlns:a16="http://schemas.microsoft.com/office/drawing/2014/main" id="{FD87A898-265B-4171-A457-4D3C550997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5601829"/>
                </p:ext>
              </p:extLst>
            </p:nvPr>
          </p:nvGraphicFramePr>
          <p:xfrm>
            <a:off x="824" y="2032"/>
            <a:ext cx="5081" cy="1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4" imgW="3187700" imgH="889000" progId="Equation.DSMT4">
                    <p:embed/>
                  </p:oleObj>
                </mc:Choice>
                <mc:Fallback>
                  <p:oleObj name="Equation" r:id="rId4" imgW="3187700" imgH="889000" progId="Equation.DSMT4">
                    <p:embed/>
                    <p:pic>
                      <p:nvPicPr>
                        <p:cNvPr id="10" name="Object 5">
                          <a:extLst>
                            <a:ext uri="{FF2B5EF4-FFF2-40B4-BE49-F238E27FC236}">
                              <a16:creationId xmlns:a16="http://schemas.microsoft.com/office/drawing/2014/main" id="{FD87A898-265B-4171-A457-4D3C550997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4" y="2032"/>
                          <a:ext cx="5081" cy="1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C53D001C-620F-45EE-A0F0-6EB17B492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2033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Tahoma"/>
                <a:ea typeface="宋体"/>
              </a:endParaRPr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265A452-2373-4880-BDF7-7428ACFEEF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149053"/>
              </p:ext>
            </p:extLst>
          </p:nvPr>
        </p:nvGraphicFramePr>
        <p:xfrm>
          <a:off x="911424" y="5675757"/>
          <a:ext cx="8729352" cy="500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6" imgW="3987720" imgH="228600" progId="Equation.DSMT4">
                  <p:embed/>
                </p:oleObj>
              </mc:Choice>
              <mc:Fallback>
                <p:oleObj name="Equation" r:id="rId6" imgW="3987720" imgH="2286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265A452-2373-4880-BDF7-7428ACFEEF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4" y="5675757"/>
                        <a:ext cx="8729352" cy="500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">
            <a:extLst>
              <a:ext uri="{FF2B5EF4-FFF2-40B4-BE49-F238E27FC236}">
                <a16:creationId xmlns:a16="http://schemas.microsoft.com/office/drawing/2014/main" id="{4ED825CD-05D7-4761-AAD3-EF4A6783E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524" y="6231034"/>
            <a:ext cx="80375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Remark3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：欧氏空间和酉空间统称为内积空间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D081AA-EE4F-4B23-9957-BA3453C6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68B3501-101B-4542-8C4C-73C327F3966D}"/>
                  </a:ext>
                </a:extLst>
              </p:cNvPr>
              <p:cNvSpPr txBox="1"/>
              <p:nvPr/>
            </p:nvSpPr>
            <p:spPr>
              <a:xfrm>
                <a:off x="695400" y="1217689"/>
                <a:ext cx="10657184" cy="1688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定义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1.2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复数域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C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上的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维线性空间，对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中的任意两个向量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𝛽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按照一个确定的规则对应一个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复数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，这个复数称为内积，记作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𝛽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并且要求内积满足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4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个条件：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68B3501-101B-4542-8C4C-73C327F39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217689"/>
                <a:ext cx="10657184" cy="1688924"/>
              </a:xfrm>
              <a:prstGeom prst="rect">
                <a:avLst/>
              </a:prstGeom>
              <a:blipFill>
                <a:blip r:embed="rId8"/>
                <a:stretch>
                  <a:fillRect l="-858" b="-7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DC0E090-A22B-4457-89BD-A08E9B587DA4}"/>
                  </a:ext>
                </a:extLst>
              </p:cNvPr>
              <p:cNvSpPr txBox="1"/>
              <p:nvPr/>
            </p:nvSpPr>
            <p:spPr>
              <a:xfrm>
                <a:off x="839416" y="4494492"/>
                <a:ext cx="10513168" cy="113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这里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𝛽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和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𝑣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是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中的任意向量。称定义有这样内积的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维线性空间为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维复欧氏空间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维酉空间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DC0E090-A22B-4457-89BD-A08E9B587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4494492"/>
                <a:ext cx="10513168" cy="1134926"/>
              </a:xfrm>
              <a:prstGeom prst="rect">
                <a:avLst/>
              </a:prstGeom>
              <a:blipFill>
                <a:blip r:embed="rId9"/>
                <a:stretch>
                  <a:fillRect l="-928" b="-11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560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1CAA148-8148-40FF-B037-8B4D024D8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p:sp>
        <p:nvSpPr>
          <p:cNvPr id="8195" name="Rectang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7058CD5-4780-4D20-97FA-CF645DBA1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p:sp>
        <p:nvSpPr>
          <p:cNvPr id="8196" name="Rectangle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0C3F025-7145-446E-AA6B-694325267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3">
                <a:extLst>
                  <a:ext uri="{FF2B5EF4-FFF2-40B4-BE49-F238E27FC236}">
                    <a16:creationId xmlns:a16="http://schemas.microsoft.com/office/drawing/2014/main" id="{FD0CCE12-2F7B-4C99-BAF4-F57D8D8382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9416" y="2820731"/>
                <a:ext cx="432048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r">
                  <a:lnSpc>
                    <a:spcPct val="100000"/>
                  </a:lnSpc>
                  <a:spcBef>
                    <a:spcPct val="50000"/>
                  </a:spcBef>
                  <a:buNone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证明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: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验证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𝛽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满足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4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个条件：</a:t>
                </a:r>
                <a:endParaRPr lang="zh-CN" altLang="en-US" sz="2400" dirty="0">
                  <a:solidFill>
                    <a:srgbClr val="0000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Text Box 3">
                <a:extLst>
                  <a:ext uri="{FF2B5EF4-FFF2-40B4-BE49-F238E27FC236}">
                    <a16:creationId xmlns:a16="http://schemas.microsoft.com/office/drawing/2014/main" id="{FD0CCE12-2F7B-4C99-BAF4-F57D8D838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9416" y="2820731"/>
                <a:ext cx="4320480" cy="461665"/>
              </a:xfrm>
              <a:prstGeom prst="rect">
                <a:avLst/>
              </a:prstGeom>
              <a:blipFill>
                <a:blip r:embed="rId3"/>
                <a:stretch>
                  <a:fillRect l="-2260" t="-10667" r="-9322" b="-30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14">
            <a:extLst>
              <a:ext uri="{FF2B5EF4-FFF2-40B4-BE49-F238E27FC236}">
                <a16:creationId xmlns:a16="http://schemas.microsoft.com/office/drawing/2014/main" id="{B1B447DC-3FD1-48B6-AD60-9D7541237C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481387"/>
              </p:ext>
            </p:extLst>
          </p:nvPr>
        </p:nvGraphicFramePr>
        <p:xfrm>
          <a:off x="1901241" y="3624403"/>
          <a:ext cx="6696744" cy="2176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4" imgW="3187700" imgH="965200" progId="Equation.DSMT4">
                  <p:embed/>
                </p:oleObj>
              </mc:Choice>
              <mc:Fallback>
                <p:oleObj name="Equation" r:id="rId4" imgW="3187700" imgH="965200" progId="Equation.DSMT4">
                  <p:embed/>
                  <p:pic>
                    <p:nvPicPr>
                      <p:cNvPr id="4" name="Object 14">
                        <a:extLst>
                          <a:ext uri="{FF2B5EF4-FFF2-40B4-BE49-F238E27FC236}">
                            <a16:creationId xmlns:a16="http://schemas.microsoft.com/office/drawing/2014/main" id="{B1B447DC-3FD1-48B6-AD60-9D7541237C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241" y="3624403"/>
                        <a:ext cx="6696744" cy="2176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A5493F-29B1-4858-B649-E9CD679CB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4FA1D8D-D705-473B-9BE6-66D871684BF5}"/>
                  </a:ext>
                </a:extLst>
              </p:cNvPr>
              <p:cNvSpPr txBox="1"/>
              <p:nvPr/>
            </p:nvSpPr>
            <p:spPr>
              <a:xfrm>
                <a:off x="767408" y="1256034"/>
                <a:ext cx="10585176" cy="1290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例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4.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C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维复向量空间，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,⋯,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𝛽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,⋯,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，命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𝛽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bar>
                          <m:barPr>
                            <m:pos m:val="top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bar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𝛽</m:t>
                            </m:r>
                          </m:e>
                        </m:ba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bar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𝑏</m:t>
                            </m:r>
                          </m:e>
                        </m:ba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bar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𝑏</m:t>
                            </m:r>
                          </m:e>
                        </m:ba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+⋯+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bar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𝑏</m:t>
                            </m:r>
                          </m:e>
                        </m:ba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naryPr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𝑏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，证明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是酉空间。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4FA1D8D-D705-473B-9BE6-66D871684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1256034"/>
                <a:ext cx="10585176" cy="1290803"/>
              </a:xfrm>
              <a:prstGeom prst="rect">
                <a:avLst/>
              </a:prstGeom>
              <a:blipFill>
                <a:blip r:embed="rId6"/>
                <a:stretch>
                  <a:fillRect l="-922" b="-94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44FA5F44-5D4B-4291-99C5-2F962D9625CD}"/>
              </a:ext>
            </a:extLst>
          </p:cNvPr>
          <p:cNvSpPr txBox="1"/>
          <p:nvPr/>
        </p:nvSpPr>
        <p:spPr>
          <a:xfrm>
            <a:off x="1631504" y="664019"/>
            <a:ext cx="2952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3.1.2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酉空间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9" name="Object 13">
            <a:extLst>
              <a:ext uri="{FF2B5EF4-FFF2-40B4-BE49-F238E27FC236}">
                <a16:creationId xmlns:a16="http://schemas.microsoft.com/office/drawing/2014/main" id="{E7FD44E8-3D6B-4CBC-BFC1-B1B583630C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988458"/>
              </p:ext>
            </p:extLst>
          </p:nvPr>
        </p:nvGraphicFramePr>
        <p:xfrm>
          <a:off x="1271464" y="1475029"/>
          <a:ext cx="3632124" cy="427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4" imgW="1612900" imgH="203200" progId="Equation.DSMT4">
                  <p:embed/>
                </p:oleObj>
              </mc:Choice>
              <mc:Fallback>
                <p:oleObj name="Equation" r:id="rId4" imgW="1612900" imgH="203200" progId="Equation.DSMT4">
                  <p:embed/>
                  <p:pic>
                    <p:nvPicPr>
                      <p:cNvPr id="9219" name="Object 13">
                        <a:extLst>
                          <a:ext uri="{FF2B5EF4-FFF2-40B4-BE49-F238E27FC236}">
                            <a16:creationId xmlns:a16="http://schemas.microsoft.com/office/drawing/2014/main" id="{E7FD44E8-3D6B-4CBC-BFC1-B1B583630C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1475029"/>
                        <a:ext cx="3632124" cy="427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14">
            <a:extLst>
              <a:ext uri="{FF2B5EF4-FFF2-40B4-BE49-F238E27FC236}">
                <a16:creationId xmlns:a16="http://schemas.microsoft.com/office/drawing/2014/main" id="{EECE5F7A-1F72-456F-A872-3AC0E031F3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353996"/>
              </p:ext>
            </p:extLst>
          </p:nvPr>
        </p:nvGraphicFramePr>
        <p:xfrm>
          <a:off x="407368" y="2094500"/>
          <a:ext cx="5069855" cy="2628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6" imgW="2451100" imgH="1270000" progId="Equation.DSMT4">
                  <p:embed/>
                </p:oleObj>
              </mc:Choice>
              <mc:Fallback>
                <p:oleObj name="Equation" r:id="rId6" imgW="2451100" imgH="1270000" progId="Equation.DSMT4">
                  <p:embed/>
                  <p:pic>
                    <p:nvPicPr>
                      <p:cNvPr id="9220" name="Object 14">
                        <a:extLst>
                          <a:ext uri="{FF2B5EF4-FFF2-40B4-BE49-F238E27FC236}">
                            <a16:creationId xmlns:a16="http://schemas.microsoft.com/office/drawing/2014/main" id="{EECE5F7A-1F72-456F-A872-3AC0E031F3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368" y="2094500"/>
                        <a:ext cx="5069855" cy="26284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88CC18FC-9B0C-4791-AC77-7FE66C5AB6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212070"/>
              </p:ext>
            </p:extLst>
          </p:nvPr>
        </p:nvGraphicFramePr>
        <p:xfrm>
          <a:off x="6456040" y="1480400"/>
          <a:ext cx="3453036" cy="448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8" imgW="1459866" imgH="203112" progId="Equation.DSMT4">
                  <p:embed/>
                </p:oleObj>
              </mc:Choice>
              <mc:Fallback>
                <p:oleObj name="Equation" r:id="rId8" imgW="1459866" imgH="203112" progId="Equation.DSMT4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88CC18FC-9B0C-4791-AC77-7FE66C5AB6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40" y="1480400"/>
                        <a:ext cx="3453036" cy="448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62902C76-E641-4397-A39F-CC18156B6B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806554"/>
              </p:ext>
            </p:extLst>
          </p:nvPr>
        </p:nvGraphicFramePr>
        <p:xfrm>
          <a:off x="5446254" y="2094500"/>
          <a:ext cx="5472608" cy="2837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10" imgW="2451100" imgH="1270000" progId="Equation.DSMT4">
                  <p:embed/>
                </p:oleObj>
              </mc:Choice>
              <mc:Fallback>
                <p:oleObj name="Equation" r:id="rId10" imgW="2451100" imgH="1270000" progId="Equation.DSMT4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62902C76-E641-4397-A39F-CC18156B6B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6254" y="2094500"/>
                        <a:ext cx="5472608" cy="2837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05EBD164-1614-43F9-8111-AFDB37561CE3}"/>
              </a:ext>
            </a:extLst>
          </p:cNvPr>
          <p:cNvSpPr txBox="1"/>
          <p:nvPr/>
        </p:nvSpPr>
        <p:spPr>
          <a:xfrm>
            <a:off x="1631504" y="548680"/>
            <a:ext cx="50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3.1.3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酉（欧氏）空间的性质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27F97E-A491-445F-9AA6-03E3024F5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7" name="Object 5">
            <a:extLst>
              <a:ext uri="{FF2B5EF4-FFF2-40B4-BE49-F238E27FC236}">
                <a16:creationId xmlns:a16="http://schemas.microsoft.com/office/drawing/2014/main" id="{56B341EA-A108-481F-8779-C23F0BE63A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2838" y="2652713"/>
          <a:ext cx="3175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3" imgW="126890" imgH="190335" progId="Equation.DSMT4">
                  <p:embed/>
                </p:oleObj>
              </mc:Choice>
              <mc:Fallback>
                <p:oleObj name="Equation" r:id="rId3" imgW="126890" imgH="190335" progId="Equation.DSMT4">
                  <p:embed/>
                  <p:pic>
                    <p:nvPicPr>
                      <p:cNvPr id="11267" name="Object 5">
                        <a:extLst>
                          <a:ext uri="{FF2B5EF4-FFF2-40B4-BE49-F238E27FC236}">
                            <a16:creationId xmlns:a16="http://schemas.microsoft.com/office/drawing/2014/main" id="{56B341EA-A108-481F-8779-C23F0BE63A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2652713"/>
                        <a:ext cx="3175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6">
            <a:extLst>
              <a:ext uri="{FF2B5EF4-FFF2-40B4-BE49-F238E27FC236}">
                <a16:creationId xmlns:a16="http://schemas.microsoft.com/office/drawing/2014/main" id="{6830069A-7ACC-4EC9-9289-834854CA14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7442" y="3494092"/>
          <a:ext cx="33178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5" imgW="126890" imgH="190335" progId="Equation.DSMT4">
                  <p:embed/>
                </p:oleObj>
              </mc:Choice>
              <mc:Fallback>
                <p:oleObj name="Equation" r:id="rId5" imgW="126890" imgH="190335" progId="Equation.DSMT4">
                  <p:embed/>
                  <p:pic>
                    <p:nvPicPr>
                      <p:cNvPr id="11271" name="Object 6">
                        <a:extLst>
                          <a:ext uri="{FF2B5EF4-FFF2-40B4-BE49-F238E27FC236}">
                            <a16:creationId xmlns:a16="http://schemas.microsoft.com/office/drawing/2014/main" id="{6830069A-7ACC-4EC9-9289-834854CA14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42" y="3494092"/>
                        <a:ext cx="331787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A054445A-7836-4BF4-A0BB-B20D649287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275959"/>
              </p:ext>
            </p:extLst>
          </p:nvPr>
        </p:nvGraphicFramePr>
        <p:xfrm>
          <a:off x="1487488" y="3807447"/>
          <a:ext cx="7776864" cy="3050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6" imgW="3759120" imgH="1473120" progId="Equation.DSMT4">
                  <p:embed/>
                </p:oleObj>
              </mc:Choice>
              <mc:Fallback>
                <p:oleObj name="Equation" r:id="rId6" imgW="3759120" imgH="1473120" progId="Equation.DSMT4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A054445A-7836-4BF4-A0BB-B20D649287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3807447"/>
                        <a:ext cx="7776864" cy="30505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D61CEB-2277-4AA0-916E-20047E7D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6B1C1BD-3F99-4D67-B9BB-01CAAE09C720}"/>
                  </a:ext>
                </a:extLst>
              </p:cNvPr>
              <p:cNvSpPr txBox="1"/>
              <p:nvPr/>
            </p:nvSpPr>
            <p:spPr>
              <a:xfrm>
                <a:off x="951325" y="1239711"/>
                <a:ext cx="10185235" cy="586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定义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1.3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维酉空间，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为其一组基，对于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V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中的任意两个向量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6B1C1BD-3F99-4D67-B9BB-01CAAE09C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25" y="1239711"/>
                <a:ext cx="10185235" cy="586699"/>
              </a:xfrm>
              <a:prstGeom prst="rect">
                <a:avLst/>
              </a:prstGeom>
              <a:blipFill>
                <a:blip r:embed="rId8"/>
                <a:stretch>
                  <a:fillRect l="-898" b="-216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E8A16DD-4ACD-49A1-861D-2EB97D69C49F}"/>
                  </a:ext>
                </a:extLst>
              </p:cNvPr>
              <p:cNvSpPr txBox="1"/>
              <p:nvPr/>
            </p:nvSpPr>
            <p:spPr>
              <a:xfrm>
                <a:off x="1579446" y="1367091"/>
                <a:ext cx="8928991" cy="2345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𝛼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</m:t>
                          </m:r>
                        </m:e>
                      </m:nary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  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和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     </m:t>
                      </m:r>
                      <m: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𝛽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𝑗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和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𝛽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的内积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𝛽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naryPr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𝑖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 </m:t>
                            </m:r>
                          </m:e>
                        </m:nary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nary>
                          <m:naryPr>
                            <m:chr m:val="∑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𝑗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naryPr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𝑗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𝑖</m:t>
                            </m:r>
                          </m:sub>
                        </m:sSub>
                        <m:bar>
                          <m:barPr>
                            <m:pos m:val="top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</m:e>
                        </m:ba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.</m:t>
                        </m:r>
                      </m:e>
                    </m:nary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E8A16DD-4ACD-49A1-861D-2EB97D69C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446" y="1367091"/>
                <a:ext cx="8928991" cy="2345770"/>
              </a:xfrm>
              <a:prstGeom prst="rect">
                <a:avLst/>
              </a:prstGeom>
              <a:blipFill>
                <a:blip r:embed="rId9"/>
                <a:stretch>
                  <a:fillRect l="-10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C4744E4E-39DC-4DFA-AC60-F6ECCA49C448}"/>
              </a:ext>
            </a:extLst>
          </p:cNvPr>
          <p:cNvSpPr txBox="1"/>
          <p:nvPr/>
        </p:nvSpPr>
        <p:spPr>
          <a:xfrm>
            <a:off x="1632776" y="588740"/>
            <a:ext cx="50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3.1.3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酉（欧氏）空间的性质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70" name="Object 6">
            <a:extLst>
              <a:ext uri="{FF2B5EF4-FFF2-40B4-BE49-F238E27FC236}">
                <a16:creationId xmlns:a16="http://schemas.microsoft.com/office/drawing/2014/main" id="{9ADF166B-6ED9-475D-9843-DE4DD2E0A1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07833"/>
              </p:ext>
            </p:extLst>
          </p:nvPr>
        </p:nvGraphicFramePr>
        <p:xfrm>
          <a:off x="3071664" y="3247969"/>
          <a:ext cx="4060378" cy="1638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3" imgW="1854000" imgH="749160" progId="Equation.DSMT4">
                  <p:embed/>
                </p:oleObj>
              </mc:Choice>
              <mc:Fallback>
                <p:oleObj name="Equation" r:id="rId3" imgW="1854000" imgH="749160" progId="Equation.DSMT4">
                  <p:embed/>
                  <p:pic>
                    <p:nvPicPr>
                      <p:cNvPr id="11270" name="Object 6">
                        <a:extLst>
                          <a:ext uri="{FF2B5EF4-FFF2-40B4-BE49-F238E27FC236}">
                            <a16:creationId xmlns:a16="http://schemas.microsoft.com/office/drawing/2014/main" id="{9ADF166B-6ED9-475D-9843-DE4DD2E0A1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3247969"/>
                        <a:ext cx="4060378" cy="16388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9">
            <a:extLst>
              <a:ext uri="{FF2B5EF4-FFF2-40B4-BE49-F238E27FC236}">
                <a16:creationId xmlns:a16="http://schemas.microsoft.com/office/drawing/2014/main" id="{519BEC4E-1034-4609-B5DB-90509D6A10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2292" y="4017963"/>
          <a:ext cx="26193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5" imgW="101424" imgH="126780" progId="Equation.DSMT4">
                  <p:embed/>
                </p:oleObj>
              </mc:Choice>
              <mc:Fallback>
                <p:oleObj name="Equation" r:id="rId5" imgW="101424" imgH="126780" progId="Equation.DSMT4">
                  <p:embed/>
                  <p:pic>
                    <p:nvPicPr>
                      <p:cNvPr id="12293" name="Object 9">
                        <a:extLst>
                          <a:ext uri="{FF2B5EF4-FFF2-40B4-BE49-F238E27FC236}">
                            <a16:creationId xmlns:a16="http://schemas.microsoft.com/office/drawing/2014/main" id="{519BEC4E-1034-4609-B5DB-90509D6A10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92" y="4017963"/>
                        <a:ext cx="261937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0">
            <a:extLst>
              <a:ext uri="{FF2B5EF4-FFF2-40B4-BE49-F238E27FC236}">
                <a16:creationId xmlns:a16="http://schemas.microsoft.com/office/drawing/2014/main" id="{0DD494FD-8302-41AE-A131-5DB242E00D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4292" y="4548188"/>
          <a:ext cx="35083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7" imgW="126890" imgH="190335" progId="Equation.DSMT4">
                  <p:embed/>
                </p:oleObj>
              </mc:Choice>
              <mc:Fallback>
                <p:oleObj name="Equation" r:id="rId7" imgW="126890" imgH="190335" progId="Equation.DSMT4">
                  <p:embed/>
                  <p:pic>
                    <p:nvPicPr>
                      <p:cNvPr id="12294" name="Object 10">
                        <a:extLst>
                          <a:ext uri="{FF2B5EF4-FFF2-40B4-BE49-F238E27FC236}">
                            <a16:creationId xmlns:a16="http://schemas.microsoft.com/office/drawing/2014/main" id="{0DD494FD-8302-41AE-A131-5DB242E00D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292" y="4548188"/>
                        <a:ext cx="350837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1">
            <a:extLst>
              <a:ext uri="{FF2B5EF4-FFF2-40B4-BE49-F238E27FC236}">
                <a16:creationId xmlns:a16="http://schemas.microsoft.com/office/drawing/2014/main" id="{FA1A466E-92AA-4AC5-B6CA-A2891AD2AB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320094"/>
              </p:ext>
            </p:extLst>
          </p:nvPr>
        </p:nvGraphicFramePr>
        <p:xfrm>
          <a:off x="3071664" y="4811713"/>
          <a:ext cx="4708450" cy="1569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9" imgW="2171520" imgH="723600" progId="Equation.DSMT4">
                  <p:embed/>
                </p:oleObj>
              </mc:Choice>
              <mc:Fallback>
                <p:oleObj name="Equation" r:id="rId9" imgW="2171520" imgH="723600" progId="Equation.DSMT4">
                  <p:embed/>
                  <p:pic>
                    <p:nvPicPr>
                      <p:cNvPr id="11275" name="Object 11">
                        <a:extLst>
                          <a:ext uri="{FF2B5EF4-FFF2-40B4-BE49-F238E27FC236}">
                            <a16:creationId xmlns:a16="http://schemas.microsoft.com/office/drawing/2014/main" id="{FA1A466E-92AA-4AC5-B6CA-A2891AD2AB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4811713"/>
                        <a:ext cx="4708450" cy="1569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12">
            <a:extLst>
              <a:ext uri="{FF2B5EF4-FFF2-40B4-BE49-F238E27FC236}">
                <a16:creationId xmlns:a16="http://schemas.microsoft.com/office/drawing/2014/main" id="{1F0CCD8D-8373-4BDB-BE34-1FBB01E830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62888" y="3929063"/>
          <a:ext cx="290512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11" imgW="126890" imgH="190335" progId="Equation.DSMT4">
                  <p:embed/>
                </p:oleObj>
              </mc:Choice>
              <mc:Fallback>
                <p:oleObj name="Equation" r:id="rId11" imgW="126890" imgH="190335" progId="Equation.DSMT4">
                  <p:embed/>
                  <p:pic>
                    <p:nvPicPr>
                      <p:cNvPr id="12296" name="Object 12">
                        <a:extLst>
                          <a:ext uri="{FF2B5EF4-FFF2-40B4-BE49-F238E27FC236}">
                            <a16:creationId xmlns:a16="http://schemas.microsoft.com/office/drawing/2014/main" id="{1F0CCD8D-8373-4BDB-BE34-1FBB01E830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2888" y="3929063"/>
                        <a:ext cx="290512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C33FA5-8721-403E-A8EC-F7EF3020F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B47B04E-8234-4065-95F9-9152089E0F00}"/>
                  </a:ext>
                </a:extLst>
              </p:cNvPr>
              <p:cNvSpPr txBox="1"/>
              <p:nvPr/>
            </p:nvSpPr>
            <p:spPr>
              <a:xfrm>
                <a:off x="695400" y="1242242"/>
                <a:ext cx="10729192" cy="1389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定义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1.4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用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barPr>
                      <m:e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</m:ba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表示以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A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的元素的共轭复数为元素的矩阵，命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𝐴</m:t>
                                </m:r>
                              </m:e>
                            </m:bar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则称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A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复共轭转置矩阵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。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B47B04E-8234-4065-95F9-9152089E0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242242"/>
                <a:ext cx="10729192" cy="1389804"/>
              </a:xfrm>
              <a:prstGeom prst="rect">
                <a:avLst/>
              </a:prstGeom>
              <a:blipFill>
                <a:blip r:embed="rId12"/>
                <a:stretch>
                  <a:fillRect l="-852" b="-74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7355E151-180F-48CE-899B-2357CB2D2A19}"/>
              </a:ext>
            </a:extLst>
          </p:cNvPr>
          <p:cNvSpPr txBox="1"/>
          <p:nvPr/>
        </p:nvSpPr>
        <p:spPr>
          <a:xfrm>
            <a:off x="911424" y="2650942"/>
            <a:ext cx="5543345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复共轭转置矩阵的性质：</a:t>
            </a:r>
            <a:endParaRPr lang="en-US" altLang="zh-CN" sz="2400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677FFA-7DD7-48BD-85A6-5C9C1800B00A}"/>
              </a:ext>
            </a:extLst>
          </p:cNvPr>
          <p:cNvSpPr txBox="1"/>
          <p:nvPr/>
        </p:nvSpPr>
        <p:spPr>
          <a:xfrm>
            <a:off x="1784941" y="629471"/>
            <a:ext cx="50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3.1.3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酉（欧氏）空间的性质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6" name="Object 6">
            <a:extLst>
              <a:ext uri="{FF2B5EF4-FFF2-40B4-BE49-F238E27FC236}">
                <a16:creationId xmlns:a16="http://schemas.microsoft.com/office/drawing/2014/main" id="{6838F3FF-5B12-416A-812D-574207E415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0454" y="3700467"/>
          <a:ext cx="290513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3" imgW="126890" imgH="190335" progId="Equation.DSMT4">
                  <p:embed/>
                </p:oleObj>
              </mc:Choice>
              <mc:Fallback>
                <p:oleObj name="Equation" r:id="rId3" imgW="126890" imgH="190335" progId="Equation.DSMT4">
                  <p:embed/>
                  <p:pic>
                    <p:nvPicPr>
                      <p:cNvPr id="13316" name="Object 6">
                        <a:extLst>
                          <a:ext uri="{FF2B5EF4-FFF2-40B4-BE49-F238E27FC236}">
                            <a16:creationId xmlns:a16="http://schemas.microsoft.com/office/drawing/2014/main" id="{6838F3FF-5B12-416A-812D-574207E415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0454" y="3700467"/>
                        <a:ext cx="290513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7">
            <a:extLst>
              <a:ext uri="{FF2B5EF4-FFF2-40B4-BE49-F238E27FC236}">
                <a16:creationId xmlns:a16="http://schemas.microsoft.com/office/drawing/2014/main" id="{9B2E8F49-B465-47E0-BCBE-1FDFC5DE87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0875" y="4281492"/>
          <a:ext cx="29845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5" imgW="126890" imgH="190335" progId="Equation.DSMT4">
                  <p:embed/>
                </p:oleObj>
              </mc:Choice>
              <mc:Fallback>
                <p:oleObj name="Equation" r:id="rId5" imgW="126890" imgH="190335" progId="Equation.DSMT4">
                  <p:embed/>
                  <p:pic>
                    <p:nvPicPr>
                      <p:cNvPr id="13317" name="Object 7">
                        <a:extLst>
                          <a:ext uri="{FF2B5EF4-FFF2-40B4-BE49-F238E27FC236}">
                            <a16:creationId xmlns:a16="http://schemas.microsoft.com/office/drawing/2014/main" id="{9B2E8F49-B465-47E0-BCBE-1FDFC5DE87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4281492"/>
                        <a:ext cx="298450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8">
            <a:extLst>
              <a:ext uri="{FF2B5EF4-FFF2-40B4-BE49-F238E27FC236}">
                <a16:creationId xmlns:a16="http://schemas.microsoft.com/office/drawing/2014/main" id="{5D7EC866-429A-47F2-AC11-0DBC62ECC2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00713" y="4970463"/>
          <a:ext cx="3349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6" imgW="126890" imgH="190335" progId="Equation.DSMT4">
                  <p:embed/>
                </p:oleObj>
              </mc:Choice>
              <mc:Fallback>
                <p:oleObj name="Equation" r:id="rId6" imgW="126890" imgH="190335" progId="Equation.DSMT4">
                  <p:embed/>
                  <p:pic>
                    <p:nvPicPr>
                      <p:cNvPr id="13318" name="Object 8">
                        <a:extLst>
                          <a:ext uri="{FF2B5EF4-FFF2-40B4-BE49-F238E27FC236}">
                            <a16:creationId xmlns:a16="http://schemas.microsoft.com/office/drawing/2014/main" id="{5D7EC866-429A-47F2-AC11-0DBC62ECC2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0713" y="4970463"/>
                        <a:ext cx="3349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62052B0-6EC9-4E8C-BBE3-B7571ADE02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747964"/>
              </p:ext>
            </p:extLst>
          </p:nvPr>
        </p:nvGraphicFramePr>
        <p:xfrm>
          <a:off x="1127448" y="2557665"/>
          <a:ext cx="5616624" cy="2451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7" imgW="2730240" imgH="1193760" progId="Equation.DSMT4">
                  <p:embed/>
                </p:oleObj>
              </mc:Choice>
              <mc:Fallback>
                <p:oleObj name="Equation" r:id="rId7" imgW="2730240" imgH="11937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62052B0-6EC9-4E8C-BBE3-B7571ADE02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48" y="2557665"/>
                        <a:ext cx="5616624" cy="2451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4B7A858D-1FF0-4E20-A82B-C50292B7A8F6}"/>
              </a:ext>
            </a:extLst>
          </p:cNvPr>
          <p:cNvSpPr txBox="1"/>
          <p:nvPr/>
        </p:nvSpPr>
        <p:spPr>
          <a:xfrm>
            <a:off x="1127448" y="5035036"/>
            <a:ext cx="7281296" cy="1688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Remark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实对称矩阵是实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Hermite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酉空间的度量矩阵是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Hermite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矩阵，</a:t>
            </a:r>
            <a:endParaRPr lang="en-US" altLang="zh-CN" sz="24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欧氏空间的度量矩阵是实对称矩阵。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049F49A-5E82-4E02-9CAB-33FD8788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33819AD-EC9D-4A2D-BB15-817A58E3AC11}"/>
                  </a:ext>
                </a:extLst>
              </p:cNvPr>
              <p:cNvSpPr txBox="1"/>
              <p:nvPr/>
            </p:nvSpPr>
            <p:spPr>
              <a:xfrm>
                <a:off x="614291" y="1302066"/>
                <a:ext cx="7991617" cy="11341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定义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1.5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，则称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A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Hermite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矩阵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；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     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=−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，则称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A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反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Hermite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矩阵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。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33819AD-EC9D-4A2D-BB15-817A58E3A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291" y="1302066"/>
                <a:ext cx="7991617" cy="1134157"/>
              </a:xfrm>
              <a:prstGeom prst="rect">
                <a:avLst/>
              </a:prstGeom>
              <a:blipFill>
                <a:blip r:embed="rId9"/>
                <a:stretch>
                  <a:fillRect l="-1220" b="-11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9E10C5F6-5B4A-44D3-A57F-F739430E0B1F}"/>
              </a:ext>
            </a:extLst>
          </p:cNvPr>
          <p:cNvSpPr txBox="1"/>
          <p:nvPr/>
        </p:nvSpPr>
        <p:spPr>
          <a:xfrm>
            <a:off x="1631504" y="620323"/>
            <a:ext cx="50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3.1.3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酉（欧氏）空间的性质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6" name="Object 6">
            <a:extLst>
              <a:ext uri="{FF2B5EF4-FFF2-40B4-BE49-F238E27FC236}">
                <a16:creationId xmlns:a16="http://schemas.microsoft.com/office/drawing/2014/main" id="{6838F3FF-5B12-416A-812D-574207E415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0454" y="3700467"/>
          <a:ext cx="290513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3" imgW="126890" imgH="190335" progId="Equation.DSMT4">
                  <p:embed/>
                </p:oleObj>
              </mc:Choice>
              <mc:Fallback>
                <p:oleObj name="Equation" r:id="rId3" imgW="126890" imgH="190335" progId="Equation.DSMT4">
                  <p:embed/>
                  <p:pic>
                    <p:nvPicPr>
                      <p:cNvPr id="13316" name="Object 6">
                        <a:extLst>
                          <a:ext uri="{FF2B5EF4-FFF2-40B4-BE49-F238E27FC236}">
                            <a16:creationId xmlns:a16="http://schemas.microsoft.com/office/drawing/2014/main" id="{6838F3FF-5B12-416A-812D-574207E415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0454" y="3700467"/>
                        <a:ext cx="290513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7">
            <a:extLst>
              <a:ext uri="{FF2B5EF4-FFF2-40B4-BE49-F238E27FC236}">
                <a16:creationId xmlns:a16="http://schemas.microsoft.com/office/drawing/2014/main" id="{9B2E8F49-B465-47E0-BCBE-1FDFC5DE87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0875" y="4281492"/>
          <a:ext cx="29845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5" imgW="126890" imgH="190335" progId="Equation.DSMT4">
                  <p:embed/>
                </p:oleObj>
              </mc:Choice>
              <mc:Fallback>
                <p:oleObj name="Equation" r:id="rId5" imgW="126890" imgH="190335" progId="Equation.DSMT4">
                  <p:embed/>
                  <p:pic>
                    <p:nvPicPr>
                      <p:cNvPr id="13317" name="Object 7">
                        <a:extLst>
                          <a:ext uri="{FF2B5EF4-FFF2-40B4-BE49-F238E27FC236}">
                            <a16:creationId xmlns:a16="http://schemas.microsoft.com/office/drawing/2014/main" id="{9B2E8F49-B465-47E0-BCBE-1FDFC5DE87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4281492"/>
                        <a:ext cx="298450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8">
            <a:extLst>
              <a:ext uri="{FF2B5EF4-FFF2-40B4-BE49-F238E27FC236}">
                <a16:creationId xmlns:a16="http://schemas.microsoft.com/office/drawing/2014/main" id="{5D7EC866-429A-47F2-AC11-0DBC62ECC2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00713" y="4970463"/>
          <a:ext cx="3349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6" imgW="126890" imgH="190335" progId="Equation.DSMT4">
                  <p:embed/>
                </p:oleObj>
              </mc:Choice>
              <mc:Fallback>
                <p:oleObj name="Equation" r:id="rId6" imgW="126890" imgH="190335" progId="Equation.DSMT4">
                  <p:embed/>
                  <p:pic>
                    <p:nvPicPr>
                      <p:cNvPr id="13318" name="Object 8">
                        <a:extLst>
                          <a:ext uri="{FF2B5EF4-FFF2-40B4-BE49-F238E27FC236}">
                            <a16:creationId xmlns:a16="http://schemas.microsoft.com/office/drawing/2014/main" id="{5D7EC866-429A-47F2-AC11-0DBC62ECC2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0713" y="4970463"/>
                        <a:ext cx="3349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42ECD64-DC53-45AB-8685-C906562F5D81}"/>
              </a:ext>
            </a:extLst>
          </p:cNvPr>
          <p:cNvSpPr txBox="1"/>
          <p:nvPr/>
        </p:nvSpPr>
        <p:spPr>
          <a:xfrm>
            <a:off x="911424" y="1208883"/>
            <a:ext cx="10441160" cy="1134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对于线性空间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不同的基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，它们的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度量矩阵是不同的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，它们之间的关系由下述定理给出：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58270BA-ED36-4930-BBCB-0DAC0137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C9EA352-312F-44C7-AC56-CA5D4E320F8C}"/>
                  </a:ext>
                </a:extLst>
              </p:cNvPr>
              <p:cNvSpPr txBox="1"/>
              <p:nvPr/>
            </p:nvSpPr>
            <p:spPr>
              <a:xfrm>
                <a:off x="1579181" y="2343809"/>
                <a:ext cx="85780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定理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1.1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,⋯,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和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′</m:t>
                        </m:r>
                      </m:sup>
                    </m:sSub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′</m:t>
                        </m:r>
                      </m:sup>
                    </m:sSub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,⋯,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′</m:t>
                        </m:r>
                      </m:sup>
                    </m:sSub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为线性空间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的两组基，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zh-CN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分别是其度量矩阵，基的过渡矩阵为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𝑃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，即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,⋯,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,⋯,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𝑃</m:t>
                      </m:r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则两个度量矩阵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A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B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满足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                                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𝑃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,      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亦即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bar>
                      <m:barPr>
                        <m:pos m:val="top"/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barPr>
                      <m:e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𝑃</m:t>
                        </m:r>
                      </m:e>
                    </m:ba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C9EA352-312F-44C7-AC56-CA5D4E320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181" y="2343809"/>
                <a:ext cx="8578025" cy="2862322"/>
              </a:xfrm>
              <a:prstGeom prst="rect">
                <a:avLst/>
              </a:prstGeom>
              <a:blipFill>
                <a:blip r:embed="rId7"/>
                <a:stretch>
                  <a:fillRect l="-1066" r="-142" b="-3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47A8600E-BDF7-464C-A354-A575D53B4A8F}"/>
              </a:ext>
            </a:extLst>
          </p:cNvPr>
          <p:cNvSpPr txBox="1"/>
          <p:nvPr/>
        </p:nvSpPr>
        <p:spPr>
          <a:xfrm>
            <a:off x="1775520" y="590995"/>
            <a:ext cx="50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3.1.3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酉（欧氏）空间的性质</a:t>
            </a:r>
          </a:p>
        </p:txBody>
      </p:sp>
    </p:spTree>
    <p:extLst>
      <p:ext uri="{BB962C8B-B14F-4D97-AF65-F5344CB8AC3E}">
        <p14:creationId xmlns:p14="http://schemas.microsoft.com/office/powerpoint/2010/main" val="346770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3">
            <a:extLst>
              <a:ext uri="{FF2B5EF4-FFF2-40B4-BE49-F238E27FC236}">
                <a16:creationId xmlns:a16="http://schemas.microsoft.com/office/drawing/2014/main" id="{4D98891B-B03B-4E50-97FB-C6251E316A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458485"/>
              </p:ext>
            </p:extLst>
          </p:nvPr>
        </p:nvGraphicFramePr>
        <p:xfrm>
          <a:off x="1127448" y="1556792"/>
          <a:ext cx="8220075" cy="315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3" imgW="3644640" imgH="1396800" progId="Equation.DSMT4">
                  <p:embed/>
                </p:oleObj>
              </mc:Choice>
              <mc:Fallback>
                <p:oleObj name="Equation" r:id="rId3" imgW="3644640" imgH="1396800" progId="Equation.DSMT4">
                  <p:embed/>
                  <p:pic>
                    <p:nvPicPr>
                      <p:cNvPr id="14338" name="Object 3">
                        <a:extLst>
                          <a:ext uri="{FF2B5EF4-FFF2-40B4-BE49-F238E27FC236}">
                            <a16:creationId xmlns:a16="http://schemas.microsoft.com/office/drawing/2014/main" id="{4D98891B-B03B-4E50-97FB-C6251E316A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48" y="1556792"/>
                        <a:ext cx="8220075" cy="315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A572360-7353-4789-B6D5-479576C4B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DBB417-5175-4671-A683-90F51E9E1652}"/>
              </a:ext>
            </a:extLst>
          </p:cNvPr>
          <p:cNvSpPr txBox="1"/>
          <p:nvPr/>
        </p:nvSpPr>
        <p:spPr>
          <a:xfrm>
            <a:off x="1775520" y="620688"/>
            <a:ext cx="50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3.1.3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酉（欧氏）空间的性质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3" name="Object 4">
            <a:extLst>
              <a:ext uri="{FF2B5EF4-FFF2-40B4-BE49-F238E27FC236}">
                <a16:creationId xmlns:a16="http://schemas.microsoft.com/office/drawing/2014/main" id="{DCF0A988-9209-44D0-8AEB-495E4A1BE0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810591"/>
              </p:ext>
            </p:extLst>
          </p:nvPr>
        </p:nvGraphicFramePr>
        <p:xfrm>
          <a:off x="3552784" y="1835984"/>
          <a:ext cx="5086432" cy="987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3" imgW="2552400" imgH="495000" progId="Equation.DSMT4">
                  <p:embed/>
                </p:oleObj>
              </mc:Choice>
              <mc:Fallback>
                <p:oleObj name="Equation" r:id="rId3" imgW="2552400" imgH="495000" progId="Equation.DSMT4">
                  <p:embed/>
                  <p:pic>
                    <p:nvPicPr>
                      <p:cNvPr id="15363" name="Object 4">
                        <a:extLst>
                          <a:ext uri="{FF2B5EF4-FFF2-40B4-BE49-F238E27FC236}">
                            <a16:creationId xmlns:a16="http://schemas.microsoft.com/office/drawing/2014/main" id="{DCF0A988-9209-44D0-8AEB-495E4A1BE0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784" y="1835984"/>
                        <a:ext cx="5086432" cy="9875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24772A42-EFEB-4AE4-8F95-85A9EAE01FE2}"/>
              </a:ext>
            </a:extLst>
          </p:cNvPr>
          <p:cNvSpPr txBox="1"/>
          <p:nvPr/>
        </p:nvSpPr>
        <p:spPr>
          <a:xfrm>
            <a:off x="1631504" y="613498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3.1.4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酉（欧氏）空间上的度量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3D16B2-1A80-4A11-90F8-E6FC84670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0CCC213-87B3-4226-8CB8-498A1CCD8551}"/>
                  </a:ext>
                </a:extLst>
              </p:cNvPr>
              <p:cNvSpPr txBox="1"/>
              <p:nvPr/>
            </p:nvSpPr>
            <p:spPr>
              <a:xfrm>
                <a:off x="839416" y="1259331"/>
                <a:ext cx="10441160" cy="580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定义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1.7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是酉（欧氏）空间，向量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的长度定义为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0CCC213-87B3-4226-8CB8-498A1CCD8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1259331"/>
                <a:ext cx="10441160" cy="580928"/>
              </a:xfrm>
              <a:prstGeom prst="rect">
                <a:avLst/>
              </a:prstGeom>
              <a:blipFill>
                <a:blip r:embed="rId5"/>
                <a:stretch>
                  <a:fillRect l="-935" b="-2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E85B3B2-E08D-44ED-A1A7-77221F16DF04}"/>
                  </a:ext>
                </a:extLst>
              </p:cNvPr>
              <p:cNvSpPr txBox="1"/>
              <p:nvPr/>
            </p:nvSpPr>
            <p:spPr>
              <a:xfrm>
                <a:off x="844277" y="2823550"/>
                <a:ext cx="9793088" cy="3160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定理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1.2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是酉（欧氏）空间，则向量长度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𝛼</m:t>
                            </m:r>
                          </m:e>
                        </m:d>
                      </m:e>
                    </m:d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具有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以下的性质：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、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𝛼</m:t>
                            </m:r>
                          </m:e>
                        </m:d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时，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𝛼</m:t>
                            </m:r>
                          </m:e>
                        </m:d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=0. 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（非负性）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、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𝑘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𝛼</m:t>
                            </m:r>
                          </m:e>
                        </m:d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𝑘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𝛼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k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为任意数。   （齐次性）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、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𝛼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+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𝛽</m:t>
                            </m:r>
                          </m:e>
                        </m:d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（三角不等式）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4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、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（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𝛽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）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Cauchy-Schwarz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不等式）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E85B3B2-E08D-44ED-A1A7-77221F16D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77" y="2823550"/>
                <a:ext cx="9793088" cy="3160481"/>
              </a:xfrm>
              <a:prstGeom prst="rect">
                <a:avLst/>
              </a:prstGeom>
              <a:blipFill>
                <a:blip r:embed="rId6"/>
                <a:stretch>
                  <a:fillRect l="-933" b="-26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4">
            <a:extLst>
              <a:ext uri="{FF2B5EF4-FFF2-40B4-BE49-F238E27FC236}">
                <a16:creationId xmlns:a16="http://schemas.microsoft.com/office/drawing/2014/main" id="{B6519334-C7FB-48C6-AFE3-C692656940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2254" y="1831975"/>
          <a:ext cx="320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3" imgW="126890" imgH="190335" progId="Equation.DSMT4">
                  <p:embed/>
                </p:oleObj>
              </mc:Choice>
              <mc:Fallback>
                <p:oleObj name="Equation" r:id="rId3" imgW="126890" imgH="190335" progId="Equation.DSMT4">
                  <p:embed/>
                  <p:pic>
                    <p:nvPicPr>
                      <p:cNvPr id="16386" name="Object 4">
                        <a:extLst>
                          <a:ext uri="{FF2B5EF4-FFF2-40B4-BE49-F238E27FC236}">
                            <a16:creationId xmlns:a16="http://schemas.microsoft.com/office/drawing/2014/main" id="{B6519334-C7FB-48C6-AFE3-C692656940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4" y="1831975"/>
                        <a:ext cx="320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7">
            <a:extLst>
              <a:ext uri="{FF2B5EF4-FFF2-40B4-BE49-F238E27FC236}">
                <a16:creationId xmlns:a16="http://schemas.microsoft.com/office/drawing/2014/main" id="{3635715A-E4B9-41C9-B6DA-BA703F353B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1917" y="3968754"/>
          <a:ext cx="33337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5" imgW="126890" imgH="190335" progId="Equation.DSMT4">
                  <p:embed/>
                </p:oleObj>
              </mc:Choice>
              <mc:Fallback>
                <p:oleObj name="Equation" r:id="rId5" imgW="126890" imgH="190335" progId="Equation.DSMT4">
                  <p:embed/>
                  <p:pic>
                    <p:nvPicPr>
                      <p:cNvPr id="16387" name="Object 7">
                        <a:extLst>
                          <a:ext uri="{FF2B5EF4-FFF2-40B4-BE49-F238E27FC236}">
                            <a16:creationId xmlns:a16="http://schemas.microsoft.com/office/drawing/2014/main" id="{3635715A-E4B9-41C9-B6DA-BA703F353B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1917" y="3968754"/>
                        <a:ext cx="333375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Rectangle 8">
            <a:extLst>
              <a:ext uri="{FF2B5EF4-FFF2-40B4-BE49-F238E27FC236}">
                <a16:creationId xmlns:a16="http://schemas.microsoft.com/office/drawing/2014/main" id="{C04B616F-5659-456F-A74A-FB62F5A44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55" y="1548746"/>
            <a:ext cx="1123900" cy="41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None/>
            </a:pPr>
            <a:r>
              <a:rPr kumimoji="1"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kumimoji="1" lang="en-US" altLang="zh-CN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endParaRPr kumimoji="1" lang="zh-CN" altLang="en-US" sz="2400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6389" name="Object 9">
            <a:extLst>
              <a:ext uri="{FF2B5EF4-FFF2-40B4-BE49-F238E27FC236}">
                <a16:creationId xmlns:a16="http://schemas.microsoft.com/office/drawing/2014/main" id="{A218564D-713A-4AE6-AEA1-31D11F67E9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38457"/>
              </p:ext>
            </p:extLst>
          </p:nvPr>
        </p:nvGraphicFramePr>
        <p:xfrm>
          <a:off x="1931243" y="1523872"/>
          <a:ext cx="6881713" cy="4775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6" imgW="3213000" imgH="2234880" progId="Equation.DSMT4">
                  <p:embed/>
                </p:oleObj>
              </mc:Choice>
              <mc:Fallback>
                <p:oleObj name="Equation" r:id="rId6" imgW="3213000" imgH="2234880" progId="Equation.DSMT4">
                  <p:embed/>
                  <p:pic>
                    <p:nvPicPr>
                      <p:cNvPr id="16389" name="Object 9">
                        <a:extLst>
                          <a:ext uri="{FF2B5EF4-FFF2-40B4-BE49-F238E27FC236}">
                            <a16:creationId xmlns:a16="http://schemas.microsoft.com/office/drawing/2014/main" id="{A218564D-713A-4AE6-AEA1-31D11F67E9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243" y="1523872"/>
                        <a:ext cx="6881713" cy="4775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3">
            <a:extLst>
              <a:ext uri="{FF2B5EF4-FFF2-40B4-BE49-F238E27FC236}">
                <a16:creationId xmlns:a16="http://schemas.microsoft.com/office/drawing/2014/main" id="{766AC253-D862-4DBD-8A75-F03393ACBE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2079" y="3135317"/>
          <a:ext cx="27146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Equation" r:id="rId8" imgW="126890" imgH="190335" progId="Equation.DSMT4">
                  <p:embed/>
                </p:oleObj>
              </mc:Choice>
              <mc:Fallback>
                <p:oleObj name="Equation" r:id="rId8" imgW="126890" imgH="190335" progId="Equation.DSMT4">
                  <p:embed/>
                  <p:pic>
                    <p:nvPicPr>
                      <p:cNvPr id="16393" name="Object 3">
                        <a:extLst>
                          <a:ext uri="{FF2B5EF4-FFF2-40B4-BE49-F238E27FC236}">
                            <a16:creationId xmlns:a16="http://schemas.microsoft.com/office/drawing/2014/main" id="{766AC253-D862-4DBD-8A75-F03393ACBE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2079" y="3135317"/>
                        <a:ext cx="271463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5">
            <a:extLst>
              <a:ext uri="{FF2B5EF4-FFF2-40B4-BE49-F238E27FC236}">
                <a16:creationId xmlns:a16="http://schemas.microsoft.com/office/drawing/2014/main" id="{63186D83-A26D-4229-A37A-7F718C5CE8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3825" y="5570542"/>
          <a:ext cx="3365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Equation" r:id="rId10" imgW="126890" imgH="190335" progId="Equation.DSMT4">
                  <p:embed/>
                </p:oleObj>
              </mc:Choice>
              <mc:Fallback>
                <p:oleObj name="Equation" r:id="rId10" imgW="126890" imgH="190335" progId="Equation.DSMT4">
                  <p:embed/>
                  <p:pic>
                    <p:nvPicPr>
                      <p:cNvPr id="16395" name="Object 5">
                        <a:extLst>
                          <a:ext uri="{FF2B5EF4-FFF2-40B4-BE49-F238E27FC236}">
                            <a16:creationId xmlns:a16="http://schemas.microsoft.com/office/drawing/2014/main" id="{63186D83-A26D-4229-A37A-7F718C5CE8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5" y="5570542"/>
                        <a:ext cx="3365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E9C583-DDDA-4F50-9BF4-AE4688C3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DBCBC1D-3053-455F-B754-5CEE0109297F}"/>
              </a:ext>
            </a:extLst>
          </p:cNvPr>
          <p:cNvSpPr txBox="1"/>
          <p:nvPr/>
        </p:nvSpPr>
        <p:spPr>
          <a:xfrm>
            <a:off x="1617258" y="599755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3.1.4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酉（欧氏）空间上的度量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3">
            <a:extLst>
              <a:ext uri="{FF2B5EF4-FFF2-40B4-BE49-F238E27FC236}">
                <a16:creationId xmlns:a16="http://schemas.microsoft.com/office/drawing/2014/main" id="{3C21A7E0-F97C-46B1-8E1D-11470D85BE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560" y="1455372"/>
          <a:ext cx="2880320" cy="450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3" imgW="1295400" imgH="203200" progId="Equation.DSMT4">
                  <p:embed/>
                </p:oleObj>
              </mc:Choice>
              <mc:Fallback>
                <p:oleObj name="Equation" r:id="rId3" imgW="1295400" imgH="203200" progId="Equation.DSMT4">
                  <p:embed/>
                  <p:pic>
                    <p:nvPicPr>
                      <p:cNvPr id="17410" name="Object 3">
                        <a:extLst>
                          <a:ext uri="{FF2B5EF4-FFF2-40B4-BE49-F238E27FC236}">
                            <a16:creationId xmlns:a16="http://schemas.microsoft.com/office/drawing/2014/main" id="{3C21A7E0-F97C-46B1-8E1D-11470D85BE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1455372"/>
                        <a:ext cx="2880320" cy="4509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4">
            <a:extLst>
              <a:ext uri="{FF2B5EF4-FFF2-40B4-BE49-F238E27FC236}">
                <a16:creationId xmlns:a16="http://schemas.microsoft.com/office/drawing/2014/main" id="{8CBB3BCE-6DFA-439E-B985-3D2D6C246F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528" y="2060849"/>
          <a:ext cx="6768752" cy="1219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5" imgW="2819400" imgH="508000" progId="Equation.DSMT4">
                  <p:embed/>
                </p:oleObj>
              </mc:Choice>
              <mc:Fallback>
                <p:oleObj name="Equation" r:id="rId5" imgW="2819400" imgH="508000" progId="Equation.DSMT4">
                  <p:embed/>
                  <p:pic>
                    <p:nvPicPr>
                      <p:cNvPr id="17411" name="Object 4">
                        <a:extLst>
                          <a:ext uri="{FF2B5EF4-FFF2-40B4-BE49-F238E27FC236}">
                            <a16:creationId xmlns:a16="http://schemas.microsoft.com/office/drawing/2014/main" id="{8CBB3BCE-6DFA-439E-B985-3D2D6C246F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2060849"/>
                        <a:ext cx="6768752" cy="12198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5">
            <a:extLst>
              <a:ext uri="{FF2B5EF4-FFF2-40B4-BE49-F238E27FC236}">
                <a16:creationId xmlns:a16="http://schemas.microsoft.com/office/drawing/2014/main" id="{483C5A1D-A685-42AC-8E08-847051B887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6905" y="3280702"/>
          <a:ext cx="4207788" cy="1362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7" imgW="1803400" imgH="584200" progId="Equation.3">
                  <p:embed/>
                </p:oleObj>
              </mc:Choice>
              <mc:Fallback>
                <p:oleObj name="Equation" r:id="rId7" imgW="1803400" imgH="584200" progId="Equation.3">
                  <p:embed/>
                  <p:pic>
                    <p:nvPicPr>
                      <p:cNvPr id="17412" name="Object 5">
                        <a:extLst>
                          <a:ext uri="{FF2B5EF4-FFF2-40B4-BE49-F238E27FC236}">
                            <a16:creationId xmlns:a16="http://schemas.microsoft.com/office/drawing/2014/main" id="{483C5A1D-A685-42AC-8E08-847051B88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6905" y="3280702"/>
                        <a:ext cx="4207788" cy="1362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6">
            <a:extLst>
              <a:ext uri="{FF2B5EF4-FFF2-40B4-BE49-F238E27FC236}">
                <a16:creationId xmlns:a16="http://schemas.microsoft.com/office/drawing/2014/main" id="{12676821-B090-46FB-9885-F3CD9AEA52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9617" y="4822065"/>
          <a:ext cx="4577749" cy="142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9" imgW="1790700" imgH="558800" progId="Equation.3">
                  <p:embed/>
                </p:oleObj>
              </mc:Choice>
              <mc:Fallback>
                <p:oleObj name="Equation" r:id="rId9" imgW="1790700" imgH="558800" progId="Equation.3">
                  <p:embed/>
                  <p:pic>
                    <p:nvPicPr>
                      <p:cNvPr id="17413" name="Object 6">
                        <a:extLst>
                          <a:ext uri="{FF2B5EF4-FFF2-40B4-BE49-F238E27FC236}">
                            <a16:creationId xmlns:a16="http://schemas.microsoft.com/office/drawing/2014/main" id="{12676821-B090-46FB-9885-F3CD9AEA52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7" y="4822065"/>
                        <a:ext cx="4577749" cy="142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664BE2-7E14-4881-AC90-076CBDE8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D293AD-029E-473E-AFD4-316A8E755738}"/>
              </a:ext>
            </a:extLst>
          </p:cNvPr>
          <p:cNvSpPr txBox="1"/>
          <p:nvPr/>
        </p:nvSpPr>
        <p:spPr>
          <a:xfrm>
            <a:off x="1847528" y="65143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3.1.4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酉（欧氏）空间上的度量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89161620-1F49-45B0-AAAA-9F0ACD1F8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94" y="1349348"/>
            <a:ext cx="52998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Cauchy-Schwarz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不等式的应用</a:t>
            </a:r>
          </a:p>
        </p:txBody>
      </p:sp>
      <p:graphicFrame>
        <p:nvGraphicFramePr>
          <p:cNvPr id="18435" name="Object 3">
            <a:extLst>
              <a:ext uri="{FF2B5EF4-FFF2-40B4-BE49-F238E27FC236}">
                <a16:creationId xmlns:a16="http://schemas.microsoft.com/office/drawing/2014/main" id="{89714505-9D6B-4EFF-8E6B-2F1B529F1E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551934"/>
              </p:ext>
            </p:extLst>
          </p:nvPr>
        </p:nvGraphicFramePr>
        <p:xfrm>
          <a:off x="1559496" y="1988840"/>
          <a:ext cx="8517813" cy="201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3" imgW="4178160" imgH="990360" progId="Equation.DSMT4">
                  <p:embed/>
                </p:oleObj>
              </mc:Choice>
              <mc:Fallback>
                <p:oleObj name="Equation" r:id="rId3" imgW="4178160" imgH="990360" progId="Equation.DSMT4">
                  <p:embed/>
                  <p:pic>
                    <p:nvPicPr>
                      <p:cNvPr id="18435" name="Object 3">
                        <a:extLst>
                          <a:ext uri="{FF2B5EF4-FFF2-40B4-BE49-F238E27FC236}">
                            <a16:creationId xmlns:a16="http://schemas.microsoft.com/office/drawing/2014/main" id="{89714505-9D6B-4EFF-8E6B-2F1B529F1E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1988840"/>
                        <a:ext cx="8517813" cy="201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C4FB6867-E0F4-4348-AD37-98C6854012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816073"/>
              </p:ext>
            </p:extLst>
          </p:nvPr>
        </p:nvGraphicFramePr>
        <p:xfrm>
          <a:off x="2279576" y="4379462"/>
          <a:ext cx="5543550" cy="160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5" imgW="2362200" imgH="711200" progId="Equation.DSMT4">
                  <p:embed/>
                </p:oleObj>
              </mc:Choice>
              <mc:Fallback>
                <p:oleObj name="Equation" r:id="rId5" imgW="2362200" imgH="71120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C4FB6867-E0F4-4348-AD37-98C6854012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4379462"/>
                        <a:ext cx="5543550" cy="160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10A26C-2C1A-43B0-8CE7-4ADDEB9F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04E8A0-6407-44F7-8C95-3B1D7D3CE525}"/>
              </a:ext>
            </a:extLst>
          </p:cNvPr>
          <p:cNvSpPr txBox="1"/>
          <p:nvPr/>
        </p:nvSpPr>
        <p:spPr>
          <a:xfrm>
            <a:off x="1559496" y="626366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3.1.4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酉（欧氏）空间上的度量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3">
            <a:extLst>
              <a:ext uri="{FF2B5EF4-FFF2-40B4-BE49-F238E27FC236}">
                <a16:creationId xmlns:a16="http://schemas.microsoft.com/office/drawing/2014/main" id="{C815B25B-E227-4C4D-9100-68DB9E019C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3592" y="1692267"/>
          <a:ext cx="4680520" cy="1088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3" imgW="2184400" imgH="508000" progId="Equation.DSMT4">
                  <p:embed/>
                </p:oleObj>
              </mc:Choice>
              <mc:Fallback>
                <p:oleObj name="Equation" r:id="rId3" imgW="2184400" imgH="508000" progId="Equation.DSMT4">
                  <p:embed/>
                  <p:pic>
                    <p:nvPicPr>
                      <p:cNvPr id="19458" name="Object 3">
                        <a:extLst>
                          <a:ext uri="{FF2B5EF4-FFF2-40B4-BE49-F238E27FC236}">
                            <a16:creationId xmlns:a16="http://schemas.microsoft.com/office/drawing/2014/main" id="{C815B25B-E227-4C4D-9100-68DB9E019C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1692267"/>
                        <a:ext cx="4680520" cy="1088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EC19C7E-34F9-4958-AC37-DB24CA36B7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1947" y="3501008"/>
          <a:ext cx="8768107" cy="1472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5" imgW="3746160" imgH="736560" progId="Equation.DSMT4">
                  <p:embed/>
                </p:oleObj>
              </mc:Choice>
              <mc:Fallback>
                <p:oleObj name="Equation" r:id="rId5" imgW="374616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CEC19C7E-34F9-4958-AC37-DB24CA36B7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947" y="3501008"/>
                        <a:ext cx="8768107" cy="14725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0C463D6-1AA8-491E-BF29-5916953EF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>
                <a:solidFill>
                  <a:srgbClr val="000000"/>
                </a:solidFill>
                <a:ea typeface="宋体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0C4ECA-B8E5-4DBE-9825-5F1335B02DCA}"/>
              </a:ext>
            </a:extLst>
          </p:cNvPr>
          <p:cNvSpPr txBox="1"/>
          <p:nvPr/>
        </p:nvSpPr>
        <p:spPr>
          <a:xfrm>
            <a:off x="1711947" y="62458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3.1.4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酉（欧氏）空间上的度量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68E7D-5707-48DA-ACBF-7903B1974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4783" y="1523999"/>
            <a:ext cx="5962434" cy="1515533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3.2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标准正交基、</a:t>
            </a:r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Schmidt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方法</a:t>
            </a:r>
          </a:p>
        </p:txBody>
      </p:sp>
    </p:spTree>
    <p:extLst>
      <p:ext uri="{BB962C8B-B14F-4D97-AF65-F5344CB8AC3E}">
        <p14:creationId xmlns:p14="http://schemas.microsoft.com/office/powerpoint/2010/main" val="84141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903DC-7F30-47D1-A832-56DADC3F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AE9D95E8-65F7-4EBC-A32B-46733FC53D48}" type="slidenum">
              <a:rPr lang="en-US" altLang="zh-CN" sz="675">
                <a:solidFill>
                  <a:srgbClr val="000000"/>
                </a:solidFill>
                <a:latin typeface="Arial Black" panose="020B0A04020102020204" pitchFamily="34" charset="0"/>
                <a:ea typeface="宋体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 altLang="zh-CN" sz="675">
              <a:solidFill>
                <a:srgbClr val="000000"/>
              </a:solidFill>
              <a:latin typeface="Arial Black" panose="020B0A04020102020204" pitchFamily="34" charset="0"/>
              <a:ea typeface="宋体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A56A64-8C9F-4AA0-8E7F-943A7D3B0095}"/>
              </a:ext>
            </a:extLst>
          </p:cNvPr>
          <p:cNvSpPr txBox="1"/>
          <p:nvPr/>
        </p:nvSpPr>
        <p:spPr>
          <a:xfrm>
            <a:off x="1703512" y="607389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3.2.1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标准正交基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C55C2F-76D5-4D9D-8FE9-978DE772EA0B}"/>
                  </a:ext>
                </a:extLst>
              </p:cNvPr>
              <p:cNvSpPr txBox="1"/>
              <p:nvPr/>
            </p:nvSpPr>
            <p:spPr>
              <a:xfrm flipH="1">
                <a:off x="767408" y="1368488"/>
                <a:ext cx="10513168" cy="580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定义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2.1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若向量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𝛽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的内积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𝛽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𝛽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正交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，记作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𝛼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𝛽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.</a:t>
                </a:r>
                <a:endParaRPr lang="zh-CN" altLang="en-US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C55C2F-76D5-4D9D-8FE9-978DE772E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7408" y="1368488"/>
                <a:ext cx="10513168" cy="580928"/>
              </a:xfrm>
              <a:prstGeom prst="rect">
                <a:avLst/>
              </a:prstGeom>
              <a:blipFill>
                <a:blip r:embed="rId2"/>
                <a:stretch>
                  <a:fillRect l="-928" b="-22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C269686-C008-46C6-9D1E-1F822A3C5F14}"/>
                  </a:ext>
                </a:extLst>
              </p:cNvPr>
              <p:cNvSpPr txBox="1"/>
              <p:nvPr/>
            </p:nvSpPr>
            <p:spPr>
              <a:xfrm flipH="1">
                <a:off x="1350166" y="2101826"/>
                <a:ext cx="9714385" cy="113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若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不含零向量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向量组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{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}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内的向量两两正交，则称向量组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{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}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正交向量组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。 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C269686-C008-46C6-9D1E-1F822A3C5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50166" y="2101826"/>
                <a:ext cx="9714385" cy="1134926"/>
              </a:xfrm>
              <a:prstGeom prst="rect">
                <a:avLst/>
              </a:prstGeom>
              <a:blipFill>
                <a:blip r:embed="rId3"/>
                <a:stretch>
                  <a:fillRect l="-941" b="-11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/>
              <p:nvPr/>
            </p:nvSpPr>
            <p:spPr>
              <a:xfrm flipH="1">
                <a:off x="1382578" y="3376387"/>
                <a:ext cx="9465949" cy="113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若一个正交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向量组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内的任一个向量都是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单位向量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，则称向量组是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标准正交向量组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。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82578" y="3376387"/>
                <a:ext cx="9465949" cy="1134926"/>
              </a:xfrm>
              <a:prstGeom prst="rect">
                <a:avLst/>
              </a:prstGeom>
              <a:blipFill>
                <a:blip r:embed="rId4"/>
                <a:stretch>
                  <a:fillRect l="-1030" b="-11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98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903DC-7F30-47D1-A832-56DADC3F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AE9D95E8-65F7-4EBC-A32B-46733FC53D48}" type="slidenum">
              <a:rPr lang="en-US" altLang="zh-CN" sz="675">
                <a:solidFill>
                  <a:srgbClr val="000000"/>
                </a:solidFill>
                <a:latin typeface="Arial Black" panose="020B0A04020102020204" pitchFamily="34" charset="0"/>
                <a:ea typeface="宋体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 altLang="zh-CN" sz="675">
              <a:solidFill>
                <a:srgbClr val="000000"/>
              </a:solidFill>
              <a:latin typeface="Arial Black" panose="020B0A04020102020204" pitchFamily="34" charset="0"/>
              <a:ea typeface="宋体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A56A64-8C9F-4AA0-8E7F-943A7D3B0095}"/>
              </a:ext>
            </a:extLst>
          </p:cNvPr>
          <p:cNvSpPr txBox="1"/>
          <p:nvPr/>
        </p:nvSpPr>
        <p:spPr>
          <a:xfrm>
            <a:off x="1601945" y="66644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3.2.1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标准正交基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C55C2F-76D5-4D9D-8FE9-978DE772EA0B}"/>
              </a:ext>
            </a:extLst>
          </p:cNvPr>
          <p:cNvSpPr txBox="1"/>
          <p:nvPr/>
        </p:nvSpPr>
        <p:spPr>
          <a:xfrm flipH="1">
            <a:off x="1496235" y="1283448"/>
            <a:ext cx="7791520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正交向量组的性质：</a:t>
            </a:r>
            <a:endParaRPr lang="zh-CN" altLang="en-US" sz="24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C269686-C008-46C6-9D1E-1F822A3C5F14}"/>
                  </a:ext>
                </a:extLst>
              </p:cNvPr>
              <p:cNvSpPr txBox="1"/>
              <p:nvPr/>
            </p:nvSpPr>
            <p:spPr>
              <a:xfrm flipH="1">
                <a:off x="1017761" y="1869089"/>
                <a:ext cx="10406830" cy="1284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向量组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{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}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是一个正交向量组的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充要条件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=0      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.</m:t>
                      </m:r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C269686-C008-46C6-9D1E-1F822A3C5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17761" y="1869089"/>
                <a:ext cx="10406830" cy="12845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A7DF75D3-50A4-4043-9149-1B236FE9707B}"/>
              </a:ext>
            </a:extLst>
          </p:cNvPr>
          <p:cNvGrpSpPr/>
          <p:nvPr/>
        </p:nvGrpSpPr>
        <p:grpSpPr>
          <a:xfrm>
            <a:off x="1034287" y="3153671"/>
            <a:ext cx="10548113" cy="2041367"/>
            <a:chOff x="67236" y="3212976"/>
            <a:chExt cx="8748465" cy="20413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1B09534-F8D9-4B24-B7B0-D3FE195C919E}"/>
                    </a:ext>
                  </a:extLst>
                </p:cNvPr>
                <p:cNvSpPr txBox="1"/>
                <p:nvPr/>
              </p:nvSpPr>
              <p:spPr>
                <a:xfrm flipH="1">
                  <a:off x="67236" y="3212976"/>
                  <a:ext cx="8748465" cy="5809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457200" eaLnBrk="0" fontAlgn="base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2400" dirty="0">
                      <a:solidFill>
                        <a:srgbClr val="00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      </a:t>
                  </a:r>
                  <a:r>
                    <a:rPr lang="en-US" altLang="zh-CN" sz="2400" dirty="0">
                      <a:solidFill>
                        <a:srgbClr val="00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2</a:t>
                  </a:r>
                  <a:r>
                    <a:rPr lang="zh-CN" altLang="en-US" sz="2400" dirty="0">
                      <a:solidFill>
                        <a:srgbClr val="00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、</a:t>
                  </a:r>
                  <a14:m>
                    <m:oMath xmlns:m="http://schemas.openxmlformats.org/officeDocument/2006/math">
                      <m:r>
                        <a:rPr lang="zh-CN" altLang="en-US" sz="24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向量组</m:t>
                      </m:r>
                      <m:r>
                        <a:rPr lang="en-US" altLang="zh-CN" sz="24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{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}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</m:t>
                      </m:r>
                    </m:oMath>
                  </a14:m>
                  <a:r>
                    <a:rPr lang="zh-CN" altLang="en-US" sz="2400" dirty="0">
                      <a:solidFill>
                        <a:srgbClr val="00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是标准正交向量组的</a:t>
                  </a:r>
                  <a:r>
                    <a:rPr lang="zh-CN" altLang="en-US" sz="2400" dirty="0">
                      <a:solidFill>
                        <a:srgbClr val="FF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充要条件</a:t>
                  </a:r>
                  <a:r>
                    <a:rPr lang="zh-CN" altLang="en-US" sz="2400" dirty="0">
                      <a:solidFill>
                        <a:srgbClr val="00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是</a:t>
                  </a:r>
                  <a:endPara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1B09534-F8D9-4B24-B7B0-D3FE195C91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7236" y="3212976"/>
                  <a:ext cx="8748465" cy="580928"/>
                </a:xfrm>
                <a:prstGeom prst="rect">
                  <a:avLst/>
                </a:prstGeom>
                <a:blipFill>
                  <a:blip r:embed="rId3"/>
                  <a:stretch>
                    <a:fillRect b="-24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01C889C9-2769-4ADB-A45D-FA5A55F68F38}"/>
                    </a:ext>
                  </a:extLst>
                </p:cNvPr>
                <p:cNvSpPr txBox="1"/>
                <p:nvPr/>
              </p:nvSpPr>
              <p:spPr>
                <a:xfrm>
                  <a:off x="301080" y="3794456"/>
                  <a:ext cx="6480720" cy="1459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1,     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当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=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𝑗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;</m:t>
                                </m:r>
                              </m:e>
                              <m:e/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0,      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当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宋体"/>
                  </a:endParaRP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01C889C9-2769-4ADB-A45D-FA5A55F68F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080" y="3794456"/>
                  <a:ext cx="6480720" cy="1459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8101DD3B-E5BD-4E78-842F-CA3378E89F54}"/>
              </a:ext>
            </a:extLst>
          </p:cNvPr>
          <p:cNvSpPr txBox="1"/>
          <p:nvPr/>
        </p:nvSpPr>
        <p:spPr>
          <a:xfrm flipH="1">
            <a:off x="1199455" y="5085171"/>
            <a:ext cx="9937104" cy="1134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、零向量和每个向量都正交；反过来，与空间每个向量都正交的向量必为零向量。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851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568CC68-F127-487B-A049-1ADF74B27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7150" y="1369369"/>
            <a:ext cx="7881358" cy="457200"/>
          </a:xfrm>
        </p:spPr>
        <p:txBody>
          <a:bodyPr>
            <a:noAutofit/>
          </a:bodyPr>
          <a:lstStyle/>
          <a:p>
            <a:pPr algn="r"/>
            <a:r>
              <a:rPr lang="zh-CN" altLang="en-US" sz="2400" b="0" dirty="0">
                <a:solidFill>
                  <a:srgbClr val="262BF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定理 </a:t>
            </a:r>
            <a:r>
              <a:rPr lang="en-US" altLang="zh-CN" sz="2400" b="0" dirty="0">
                <a:solidFill>
                  <a:srgbClr val="262BF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2.1 </a:t>
            </a:r>
            <a:r>
              <a:rPr lang="zh-CN" altLang="en-US" sz="2400" b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正交向量组（不含零向量）是线性无关向量组。</a:t>
            </a:r>
            <a:endParaRPr lang="en-US" altLang="zh-CN" sz="2400" b="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240D1361-49CC-4566-ACF7-98EEC7153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150" y="2025876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defRPr/>
            </a:pPr>
            <a:r>
              <a:rPr kumimoji="1" lang="zh-CN" altLang="en-US" sz="2400" dirty="0">
                <a:solidFill>
                  <a:srgbClr val="262BF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证明：</a:t>
            </a:r>
          </a:p>
        </p:txBody>
      </p:sp>
      <p:graphicFrame>
        <p:nvGraphicFramePr>
          <p:cNvPr id="4101" name="Object 5">
            <a:extLst>
              <a:ext uri="{FF2B5EF4-FFF2-40B4-BE49-F238E27FC236}">
                <a16:creationId xmlns:a16="http://schemas.microsoft.com/office/drawing/2014/main" id="{AEFD4023-FF64-4D84-84B3-F1F827E0B3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873309"/>
              </p:ext>
            </p:extLst>
          </p:nvPr>
        </p:nvGraphicFramePr>
        <p:xfrm>
          <a:off x="1271464" y="2051555"/>
          <a:ext cx="7635875" cy="236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3" imgW="3644640" imgH="1168200" progId="Equation.DSMT4">
                  <p:embed/>
                </p:oleObj>
              </mc:Choice>
              <mc:Fallback>
                <p:oleObj name="Equation" r:id="rId3" imgW="3644640" imgH="1168200" progId="Equation.DSMT4">
                  <p:embed/>
                  <p:pic>
                    <p:nvPicPr>
                      <p:cNvPr id="4101" name="Object 5">
                        <a:extLst>
                          <a:ext uri="{FF2B5EF4-FFF2-40B4-BE49-F238E27FC236}">
                            <a16:creationId xmlns:a16="http://schemas.microsoft.com/office/drawing/2014/main" id="{AEFD4023-FF64-4D84-84B3-F1F827E0B3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2051555"/>
                        <a:ext cx="7635875" cy="236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>
            <a:extLst>
              <a:ext uri="{FF2B5EF4-FFF2-40B4-BE49-F238E27FC236}">
                <a16:creationId xmlns:a16="http://schemas.microsoft.com/office/drawing/2014/main" id="{586D77E4-9AA4-4717-812F-E04A753EFF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953113"/>
              </p:ext>
            </p:extLst>
          </p:nvPr>
        </p:nvGraphicFramePr>
        <p:xfrm>
          <a:off x="2063552" y="4467289"/>
          <a:ext cx="547846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5" imgW="2667000" imgH="241300" progId="Equation.DSMT4">
                  <p:embed/>
                </p:oleObj>
              </mc:Choice>
              <mc:Fallback>
                <p:oleObj name="Equation" r:id="rId5" imgW="2667000" imgH="241300" progId="Equation.DSMT4">
                  <p:embed/>
                  <p:pic>
                    <p:nvPicPr>
                      <p:cNvPr id="4102" name="Object 6">
                        <a:extLst>
                          <a:ext uri="{FF2B5EF4-FFF2-40B4-BE49-F238E27FC236}">
                            <a16:creationId xmlns:a16="http://schemas.microsoft.com/office/drawing/2014/main" id="{586D77E4-9AA4-4717-812F-E04A753EFF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4467289"/>
                        <a:ext cx="547846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8">
            <a:extLst>
              <a:ext uri="{FF2B5EF4-FFF2-40B4-BE49-F238E27FC236}">
                <a16:creationId xmlns:a16="http://schemas.microsoft.com/office/drawing/2014/main" id="{7AB90EA1-6DCA-474B-96D4-AEE1E9BC3A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7166" y="5089928"/>
          <a:ext cx="5162808" cy="482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7" imgW="2578100" imgH="241300" progId="Equation.DSMT4">
                  <p:embed/>
                </p:oleObj>
              </mc:Choice>
              <mc:Fallback>
                <p:oleObj name="Equation" r:id="rId7" imgW="2578100" imgH="241300" progId="Equation.DSMT4">
                  <p:embed/>
                  <p:pic>
                    <p:nvPicPr>
                      <p:cNvPr id="4104" name="Object 8">
                        <a:extLst>
                          <a:ext uri="{FF2B5EF4-FFF2-40B4-BE49-F238E27FC236}">
                            <a16:creationId xmlns:a16="http://schemas.microsoft.com/office/drawing/2014/main" id="{7AB90EA1-6DCA-474B-96D4-AEE1E9BC3A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7166" y="5089928"/>
                        <a:ext cx="5162808" cy="482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9">
            <a:extLst>
              <a:ext uri="{FF2B5EF4-FFF2-40B4-BE49-F238E27FC236}">
                <a16:creationId xmlns:a16="http://schemas.microsoft.com/office/drawing/2014/main" id="{D8E8CBDE-677E-439C-92EF-6A8A9D8954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866453"/>
              </p:ext>
            </p:extLst>
          </p:nvPr>
        </p:nvGraphicFramePr>
        <p:xfrm>
          <a:off x="2133974" y="5749551"/>
          <a:ext cx="3960440" cy="464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9" imgW="1866900" imgH="228600" progId="Equation.DSMT4">
                  <p:embed/>
                </p:oleObj>
              </mc:Choice>
              <mc:Fallback>
                <p:oleObj name="Equation" r:id="rId9" imgW="1866900" imgH="228600" progId="Equation.DSMT4">
                  <p:embed/>
                  <p:pic>
                    <p:nvPicPr>
                      <p:cNvPr id="4105" name="Object 9">
                        <a:extLst>
                          <a:ext uri="{FF2B5EF4-FFF2-40B4-BE49-F238E27FC236}">
                            <a16:creationId xmlns:a16="http://schemas.microsoft.com/office/drawing/2014/main" id="{D8E8CBDE-677E-439C-92EF-6A8A9D8954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974" y="5749551"/>
                        <a:ext cx="3960440" cy="464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305603F2-B4D4-422D-A2B1-99987BF75467}"/>
              </a:ext>
            </a:extLst>
          </p:cNvPr>
          <p:cNvSpPr txBox="1"/>
          <p:nvPr/>
        </p:nvSpPr>
        <p:spPr>
          <a:xfrm>
            <a:off x="1631504" y="62499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3.2.1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标准正交基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4ABDA8-3B13-4573-BF5B-489A8854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281FBE21-B40B-4B64-ABBE-395E3EC7A610}" type="slidenum">
              <a:rPr lang="en-US" altLang="zh-CN">
                <a:solidFill>
                  <a:srgbClr val="000000"/>
                </a:solidFill>
                <a:ea typeface="宋体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63213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903DC-7F30-47D1-A832-56DADC3F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AE9D95E8-65F7-4EBC-A32B-46733FC53D48}" type="slidenum">
              <a:rPr lang="en-US" altLang="zh-CN" sz="675">
                <a:solidFill>
                  <a:srgbClr val="000000"/>
                </a:solidFill>
                <a:latin typeface="Arial Black" panose="020B0A04020102020204" pitchFamily="34" charset="0"/>
                <a:ea typeface="宋体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US" altLang="zh-CN" sz="675">
              <a:solidFill>
                <a:srgbClr val="000000"/>
              </a:solidFill>
              <a:latin typeface="Arial Black" panose="020B0A04020102020204" pitchFamily="34" charset="0"/>
              <a:ea typeface="宋体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A56A64-8C9F-4AA0-8E7F-943A7D3B0095}"/>
              </a:ext>
            </a:extLst>
          </p:cNvPr>
          <p:cNvSpPr txBox="1"/>
          <p:nvPr/>
        </p:nvSpPr>
        <p:spPr>
          <a:xfrm>
            <a:off x="1559496" y="691461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3.2.1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标准正交基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C55C2F-76D5-4D9D-8FE9-978DE772EA0B}"/>
                  </a:ext>
                </a:extLst>
              </p:cNvPr>
              <p:cNvSpPr txBox="1"/>
              <p:nvPr/>
            </p:nvSpPr>
            <p:spPr>
              <a:xfrm flipH="1">
                <a:off x="695399" y="1318744"/>
                <a:ext cx="10657184" cy="113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定义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2.2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维内积空间中，由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个正交向量组成的基称为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正交基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。由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个标准正交向量组成的基称为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标准正交基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C55C2F-76D5-4D9D-8FE9-978DE772E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95399" y="1318744"/>
                <a:ext cx="10657184" cy="1134926"/>
              </a:xfrm>
              <a:prstGeom prst="rect">
                <a:avLst/>
              </a:prstGeom>
              <a:blipFill>
                <a:blip r:embed="rId2"/>
                <a:stretch>
                  <a:fillRect l="-858" b="-11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C269686-C008-46C6-9D1E-1F822A3C5F14}"/>
                  </a:ext>
                </a:extLst>
              </p:cNvPr>
              <p:cNvSpPr txBox="1"/>
              <p:nvPr/>
            </p:nvSpPr>
            <p:spPr>
              <a:xfrm flipH="1">
                <a:off x="839416" y="2437194"/>
                <a:ext cx="10369151" cy="1219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Remark1: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 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,⋯,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是标准正交基的充要条件是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𝛿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𝑖𝑗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   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𝑖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𝑗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=1,2,⋯,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,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即它的度量矩阵是单位矩阵。 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C269686-C008-46C6-9D1E-1F822A3C5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39416" y="2437194"/>
                <a:ext cx="10369151" cy="1219180"/>
              </a:xfrm>
              <a:prstGeom prst="rect">
                <a:avLst/>
              </a:prstGeom>
              <a:blipFill>
                <a:blip r:embed="rId3"/>
                <a:stretch>
                  <a:fillRect l="-941" b="-10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31CD1B37-AA1B-485E-ADC1-7E115DBC6656}"/>
              </a:ext>
            </a:extLst>
          </p:cNvPr>
          <p:cNvSpPr txBox="1"/>
          <p:nvPr/>
        </p:nvSpPr>
        <p:spPr>
          <a:xfrm flipH="1">
            <a:off x="839416" y="3808207"/>
            <a:ext cx="7659821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Remark2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标准正交基不是唯一的。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/>
              <p:nvPr/>
            </p:nvSpPr>
            <p:spPr>
              <a:xfrm flipH="1">
                <a:off x="857505" y="4448008"/>
                <a:ext cx="10657183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Remark3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：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每一个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维线性空间的基由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个线性无关的向量组成。如果这个线性空间是酉空间（或欧氏空间），总能构造出一组标准正交基，这就是酉空间（欧氏空间）的基本定理。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1CD1B37-AA1B-485E-ADC1-7E115DBC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57505" y="4448008"/>
                <a:ext cx="10657183" cy="1754326"/>
              </a:xfrm>
              <a:prstGeom prst="rect">
                <a:avLst/>
              </a:prstGeom>
              <a:blipFill>
                <a:blip r:embed="rId4"/>
                <a:stretch>
                  <a:fillRect l="-915" b="-3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828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6" name="Object 6">
            <a:extLst>
              <a:ext uri="{FF2B5EF4-FFF2-40B4-BE49-F238E27FC236}">
                <a16:creationId xmlns:a16="http://schemas.microsoft.com/office/drawing/2014/main" id="{53A44A52-8E0E-4C68-B356-54AC330B85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101393"/>
              </p:ext>
            </p:extLst>
          </p:nvPr>
        </p:nvGraphicFramePr>
        <p:xfrm>
          <a:off x="1487488" y="3918730"/>
          <a:ext cx="5514976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3" imgW="2882880" imgH="1066680" progId="Equation.DSMT4">
                  <p:embed/>
                </p:oleObj>
              </mc:Choice>
              <mc:Fallback>
                <p:oleObj name="Equation" r:id="rId3" imgW="2882880" imgH="1066680" progId="Equation.DSMT4">
                  <p:embed/>
                  <p:pic>
                    <p:nvPicPr>
                      <p:cNvPr id="5126" name="Object 6">
                        <a:extLst>
                          <a:ext uri="{FF2B5EF4-FFF2-40B4-BE49-F238E27FC236}">
                            <a16:creationId xmlns:a16="http://schemas.microsoft.com/office/drawing/2014/main" id="{53A44A52-8E0E-4C68-B356-54AC330B85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3918730"/>
                        <a:ext cx="5514976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A11BF8E8-763D-4F4B-B50E-A92D22A408DE}"/>
              </a:ext>
            </a:extLst>
          </p:cNvPr>
          <p:cNvSpPr txBox="1"/>
          <p:nvPr/>
        </p:nvSpPr>
        <p:spPr>
          <a:xfrm>
            <a:off x="887441" y="1284534"/>
            <a:ext cx="10417118" cy="1134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en-US" altLang="zh-CN" dirty="0">
                <a:solidFill>
                  <a:srgbClr val="262BF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</a:t>
            </a:r>
            <a:r>
              <a:rPr kumimoji="1" lang="en-US" altLang="zh-CN" sz="2400" dirty="0">
                <a:solidFill>
                  <a:srgbClr val="262BF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Schmidt</a:t>
            </a:r>
            <a:r>
              <a:rPr kumimoji="1" lang="zh-CN" altLang="en-US" sz="2400" dirty="0">
                <a:solidFill>
                  <a:srgbClr val="262BF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（施密特）正交化方法</a:t>
            </a:r>
            <a:r>
              <a:rPr kumimoji="1"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就是从一组线性无关的向量出发，构造一组标准正交基的方法。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EB9AF8E-8C1C-4A1A-ACB3-C3BF06FD826C}"/>
              </a:ext>
            </a:extLst>
          </p:cNvPr>
          <p:cNvSpPr txBox="1"/>
          <p:nvPr/>
        </p:nvSpPr>
        <p:spPr>
          <a:xfrm>
            <a:off x="1631504" y="644205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3.2.2 Schmidt</a:t>
            </a:r>
            <a:r>
              <a:rPr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正交化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11BF8E8-763D-4F4B-B50E-A92D22A408DE}"/>
                  </a:ext>
                </a:extLst>
              </p:cNvPr>
              <p:cNvSpPr txBox="1"/>
              <p:nvPr/>
            </p:nvSpPr>
            <p:spPr>
              <a:xfrm>
                <a:off x="1199456" y="2419460"/>
                <a:ext cx="10297144" cy="113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kumimoji="1" lang="en-US" altLang="zh-CN" dirty="0">
                    <a:solidFill>
                      <a:srgbClr val="262BF8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,⋯,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:r>
                  <a:rPr kumimoji="1"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n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维酉空间（欧氏空间）中</a:t>
                </a:r>
                <a:r>
                  <a:rPr kumimoji="1"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r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个线性无关的向量，求由这</a:t>
                </a:r>
                <a:r>
                  <a:rPr kumimoji="1"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r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个向量生成的</a:t>
                </a:r>
                <a:r>
                  <a:rPr kumimoji="1"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r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维线性子空间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𝑠𝑝𝑎𝑛</m:t>
                    </m:r>
                    <m:r>
                      <a:rPr kumimoji="1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{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,⋯,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𝑟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}</m:t>
                    </m:r>
                  </m:oMath>
                </a14:m>
                <a:r>
                  <a:rPr kumimoji="1"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中的一个标准正交基。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11BF8E8-763D-4F4B-B50E-A92D22A40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456" y="2419460"/>
                <a:ext cx="10297144" cy="1134926"/>
              </a:xfrm>
              <a:prstGeom prst="rect">
                <a:avLst/>
              </a:prstGeom>
              <a:blipFill>
                <a:blip r:embed="rId5"/>
                <a:stretch>
                  <a:fillRect l="-947" b="-11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26BDFC-B4E3-41B0-BADD-0E7EB2002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281FBE21-B40B-4B64-ABBE-395E3EC7A610}" type="slidenum">
              <a:rPr lang="en-US" altLang="zh-CN">
                <a:solidFill>
                  <a:srgbClr val="000000"/>
                </a:solidFill>
                <a:ea typeface="宋体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39084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3">
            <a:extLst>
              <a:ext uri="{FF2B5EF4-FFF2-40B4-BE49-F238E27FC236}">
                <a16:creationId xmlns:a16="http://schemas.microsoft.com/office/drawing/2014/main" id="{A6E06021-6C30-4651-A9C4-65CA018463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560792"/>
              </p:ext>
            </p:extLst>
          </p:nvPr>
        </p:nvGraphicFramePr>
        <p:xfrm>
          <a:off x="1631504" y="1450666"/>
          <a:ext cx="7556905" cy="910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3" imgW="3924000" imgH="482400" progId="Equation.DSMT4">
                  <p:embed/>
                </p:oleObj>
              </mc:Choice>
              <mc:Fallback>
                <p:oleObj name="Equation" r:id="rId3" imgW="3924000" imgH="482400" progId="Equation.DSMT4">
                  <p:embed/>
                  <p:pic>
                    <p:nvPicPr>
                      <p:cNvPr id="6146" name="Object 3">
                        <a:extLst>
                          <a:ext uri="{FF2B5EF4-FFF2-40B4-BE49-F238E27FC236}">
                            <a16:creationId xmlns:a16="http://schemas.microsoft.com/office/drawing/2014/main" id="{A6E06021-6C30-4651-A9C4-65CA018463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1450666"/>
                        <a:ext cx="7556905" cy="9107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>
            <a:extLst>
              <a:ext uri="{FF2B5EF4-FFF2-40B4-BE49-F238E27FC236}">
                <a16:creationId xmlns:a16="http://schemas.microsoft.com/office/drawing/2014/main" id="{9D9D0899-1D14-4949-A6B7-9E63C76B55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823835"/>
              </p:ext>
            </p:extLst>
          </p:nvPr>
        </p:nvGraphicFramePr>
        <p:xfrm>
          <a:off x="1415480" y="2755496"/>
          <a:ext cx="6985001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5" imgW="3492360" imgH="736560" progId="Equation.DSMT4">
                  <p:embed/>
                </p:oleObj>
              </mc:Choice>
              <mc:Fallback>
                <p:oleObj name="Equation" r:id="rId5" imgW="3492360" imgH="736560" progId="Equation.DSMT4">
                  <p:embed/>
                  <p:pic>
                    <p:nvPicPr>
                      <p:cNvPr id="6148" name="Object 4">
                        <a:extLst>
                          <a:ext uri="{FF2B5EF4-FFF2-40B4-BE49-F238E27FC236}">
                            <a16:creationId xmlns:a16="http://schemas.microsoft.com/office/drawing/2014/main" id="{9D9D0899-1D14-4949-A6B7-9E63C76B55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2755496"/>
                        <a:ext cx="6985001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EC17054A-E9B0-4123-B349-F972134A16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63880" y="2689623"/>
          <a:ext cx="177403" cy="222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Equation" r:id="rId7" imgW="101520" imgH="126720" progId="Equation.DSMT4">
                  <p:embed/>
                </p:oleObj>
              </mc:Choice>
              <mc:Fallback>
                <p:oleObj name="Equation" r:id="rId7" imgW="101520" imgH="126720" progId="Equation.DSMT4">
                  <p:embed/>
                  <p:pic>
                    <p:nvPicPr>
                      <p:cNvPr id="2" name="Object 5">
                        <a:extLst>
                          <a:ext uri="{FF2B5EF4-FFF2-40B4-BE49-F238E27FC236}">
                            <a16:creationId xmlns:a16="http://schemas.microsoft.com/office/drawing/2014/main" id="{EC17054A-E9B0-4123-B349-F972134A16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3880" y="2689623"/>
                        <a:ext cx="177403" cy="222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8">
            <a:extLst>
              <a:ext uri="{FF2B5EF4-FFF2-40B4-BE49-F238E27FC236}">
                <a16:creationId xmlns:a16="http://schemas.microsoft.com/office/drawing/2014/main" id="{05AD82EB-4A09-472B-941D-65F05114A8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901930"/>
              </p:ext>
            </p:extLst>
          </p:nvPr>
        </p:nvGraphicFramePr>
        <p:xfrm>
          <a:off x="1415480" y="4657223"/>
          <a:ext cx="8208913" cy="895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Equation" r:id="rId9" imgW="4012920" imgH="457200" progId="Equation.DSMT4">
                  <p:embed/>
                </p:oleObj>
              </mc:Choice>
              <mc:Fallback>
                <p:oleObj name="Equation" r:id="rId9" imgW="4012920" imgH="457200" progId="Equation.DSMT4">
                  <p:embed/>
                  <p:pic>
                    <p:nvPicPr>
                      <p:cNvPr id="6152" name="Object 8">
                        <a:extLst>
                          <a:ext uri="{FF2B5EF4-FFF2-40B4-BE49-F238E27FC236}">
                            <a16:creationId xmlns:a16="http://schemas.microsoft.com/office/drawing/2014/main" id="{05AD82EB-4A09-472B-941D-65F05114A8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4657223"/>
                        <a:ext cx="8208913" cy="895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EB9AF8E-8C1C-4A1A-ACB3-C3BF06FD826C}"/>
              </a:ext>
            </a:extLst>
          </p:cNvPr>
          <p:cNvSpPr txBox="1"/>
          <p:nvPr/>
        </p:nvSpPr>
        <p:spPr>
          <a:xfrm>
            <a:off x="1631504" y="680107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3.2.2 Schmidt</a:t>
            </a:r>
            <a:r>
              <a:rPr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正交化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175C043-DBD7-4BE8-8362-C23F8FEB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9EFF0944-2518-4343-8163-3F075A3F9F1C}" type="slidenum">
              <a:rPr lang="en-US" altLang="zh-CN">
                <a:solidFill>
                  <a:srgbClr val="000000"/>
                </a:solidFill>
                <a:ea typeface="宋体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20879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6" name="Object 8">
            <a:extLst>
              <a:ext uri="{FF2B5EF4-FFF2-40B4-BE49-F238E27FC236}">
                <a16:creationId xmlns:a16="http://schemas.microsoft.com/office/drawing/2014/main" id="{9003A163-281A-4AAD-82FB-0AB117D6D5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151957"/>
              </p:ext>
            </p:extLst>
          </p:nvPr>
        </p:nvGraphicFramePr>
        <p:xfrm>
          <a:off x="1559496" y="3866347"/>
          <a:ext cx="3744416" cy="443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3" imgW="1714320" imgH="203040" progId="Equation.DSMT4">
                  <p:embed/>
                </p:oleObj>
              </mc:Choice>
              <mc:Fallback>
                <p:oleObj name="Equation" r:id="rId3" imgW="1714320" imgH="203040" progId="Equation.DSMT4">
                  <p:embed/>
                  <p:pic>
                    <p:nvPicPr>
                      <p:cNvPr id="7176" name="Object 8">
                        <a:extLst>
                          <a:ext uri="{FF2B5EF4-FFF2-40B4-BE49-F238E27FC236}">
                            <a16:creationId xmlns:a16="http://schemas.microsoft.com/office/drawing/2014/main" id="{9003A163-281A-4AAD-82FB-0AB117D6D5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3866347"/>
                        <a:ext cx="3744416" cy="4434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9">
            <a:extLst>
              <a:ext uri="{FF2B5EF4-FFF2-40B4-BE49-F238E27FC236}">
                <a16:creationId xmlns:a16="http://schemas.microsoft.com/office/drawing/2014/main" id="{80B86754-2DB2-463F-BC47-E95C6D1E42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446653"/>
              </p:ext>
            </p:extLst>
          </p:nvPr>
        </p:nvGraphicFramePr>
        <p:xfrm>
          <a:off x="3431704" y="4393371"/>
          <a:ext cx="4437896" cy="55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5" imgW="1828800" imgH="228600" progId="Equation.3">
                  <p:embed/>
                </p:oleObj>
              </mc:Choice>
              <mc:Fallback>
                <p:oleObj name="Equation" r:id="rId5" imgW="1828800" imgH="228600" progId="Equation.3">
                  <p:embed/>
                  <p:pic>
                    <p:nvPicPr>
                      <p:cNvPr id="7177" name="Object 9">
                        <a:extLst>
                          <a:ext uri="{FF2B5EF4-FFF2-40B4-BE49-F238E27FC236}">
                            <a16:creationId xmlns:a16="http://schemas.microsoft.com/office/drawing/2014/main" id="{80B86754-2DB2-463F-BC47-E95C6D1E42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4393371"/>
                        <a:ext cx="4437896" cy="55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10">
            <a:extLst>
              <a:ext uri="{FF2B5EF4-FFF2-40B4-BE49-F238E27FC236}">
                <a16:creationId xmlns:a16="http://schemas.microsoft.com/office/drawing/2014/main" id="{05D1B8D1-CE44-4942-ACE2-7889DC684B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48032"/>
              </p:ext>
            </p:extLst>
          </p:nvPr>
        </p:nvGraphicFramePr>
        <p:xfrm>
          <a:off x="3431704" y="5031642"/>
          <a:ext cx="6583661" cy="104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7" imgW="2806700" imgH="444500" progId="Equation.3">
                  <p:embed/>
                </p:oleObj>
              </mc:Choice>
              <mc:Fallback>
                <p:oleObj name="Equation" r:id="rId7" imgW="2806700" imgH="444500" progId="Equation.3">
                  <p:embed/>
                  <p:pic>
                    <p:nvPicPr>
                      <p:cNvPr id="7178" name="Object 10">
                        <a:extLst>
                          <a:ext uri="{FF2B5EF4-FFF2-40B4-BE49-F238E27FC236}">
                            <a16:creationId xmlns:a16="http://schemas.microsoft.com/office/drawing/2014/main" id="{05D1B8D1-CE44-4942-ACE2-7889DC684B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5031642"/>
                        <a:ext cx="6583661" cy="104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Object 15">
            <a:extLst>
              <a:ext uri="{FF2B5EF4-FFF2-40B4-BE49-F238E27FC236}">
                <a16:creationId xmlns:a16="http://schemas.microsoft.com/office/drawing/2014/main" id="{59110D71-88BA-459A-B4DA-4D09FE4DC9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930755"/>
              </p:ext>
            </p:extLst>
          </p:nvPr>
        </p:nvGraphicFramePr>
        <p:xfrm>
          <a:off x="767408" y="3156306"/>
          <a:ext cx="109251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9" imgW="5067000" imgH="253800" progId="Equation.DSMT4">
                  <p:embed/>
                </p:oleObj>
              </mc:Choice>
              <mc:Fallback>
                <p:oleObj name="Equation" r:id="rId9" imgW="5067000" imgH="253800" progId="Equation.DSMT4">
                  <p:embed/>
                  <p:pic>
                    <p:nvPicPr>
                      <p:cNvPr id="7183" name="Object 15">
                        <a:extLst>
                          <a:ext uri="{FF2B5EF4-FFF2-40B4-BE49-F238E27FC236}">
                            <a16:creationId xmlns:a16="http://schemas.microsoft.com/office/drawing/2014/main" id="{59110D71-88BA-459A-B4DA-4D09FE4DC9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408" y="3156306"/>
                        <a:ext cx="109251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8EB9AF8E-8C1C-4A1A-ACB3-C3BF06FD826C}"/>
              </a:ext>
            </a:extLst>
          </p:cNvPr>
          <p:cNvSpPr txBox="1"/>
          <p:nvPr/>
        </p:nvSpPr>
        <p:spPr>
          <a:xfrm>
            <a:off x="1559496" y="632280"/>
            <a:ext cx="3600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3.2.2 Schmidt</a:t>
            </a:r>
            <a:r>
              <a:rPr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正交化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46802" y="1324909"/>
                <a:ext cx="10949798" cy="1688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例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在空间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中，设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1,−1,1,−1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5,1,1,1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−3,−3,1,−3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defTabSz="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𝑠𝑝𝑎𝑛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{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}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的一个标准正交基。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02" y="1324909"/>
                <a:ext cx="10949798" cy="1688924"/>
              </a:xfrm>
              <a:prstGeom prst="rect">
                <a:avLst/>
              </a:prstGeom>
              <a:blipFill>
                <a:blip r:embed="rId11"/>
                <a:stretch>
                  <a:fillRect l="-891" b="-7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60470F0-B740-44BE-A5A7-82885643A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9EFF0944-2518-4343-8163-3F075A3F9F1C}" type="slidenum">
              <a:rPr lang="en-US" altLang="zh-CN">
                <a:solidFill>
                  <a:srgbClr val="000000"/>
                </a:solidFill>
                <a:ea typeface="宋体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26633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4">
            <a:extLst>
              <a:ext uri="{FF2B5EF4-FFF2-40B4-BE49-F238E27FC236}">
                <a16:creationId xmlns:a16="http://schemas.microsoft.com/office/drawing/2014/main" id="{1A7E0E3F-B719-486E-81F9-1C28E76989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295979"/>
              </p:ext>
            </p:extLst>
          </p:nvPr>
        </p:nvGraphicFramePr>
        <p:xfrm>
          <a:off x="911424" y="1572329"/>
          <a:ext cx="8604251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3" imgW="3720960" imgH="253800" progId="Equation.DSMT4">
                  <p:embed/>
                </p:oleObj>
              </mc:Choice>
              <mc:Fallback>
                <p:oleObj name="Equation" r:id="rId3" imgW="3720960" imgH="253800" progId="Equation.DSMT4">
                  <p:embed/>
                  <p:pic>
                    <p:nvPicPr>
                      <p:cNvPr id="8194" name="Object 4">
                        <a:extLst>
                          <a:ext uri="{FF2B5EF4-FFF2-40B4-BE49-F238E27FC236}">
                            <a16:creationId xmlns:a16="http://schemas.microsoft.com/office/drawing/2014/main" id="{1A7E0E3F-B719-486E-81F9-1C28E76989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4" y="1572329"/>
                        <a:ext cx="8604251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>
            <a:extLst>
              <a:ext uri="{FF2B5EF4-FFF2-40B4-BE49-F238E27FC236}">
                <a16:creationId xmlns:a16="http://schemas.microsoft.com/office/drawing/2014/main" id="{61E0B7C3-8FBE-436C-B240-8E13DA7269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235195"/>
              </p:ext>
            </p:extLst>
          </p:nvPr>
        </p:nvGraphicFramePr>
        <p:xfrm>
          <a:off x="3221705" y="2142583"/>
          <a:ext cx="4559702" cy="10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5" imgW="2043813" imgH="495085" progId="Equation.3">
                  <p:embed/>
                </p:oleObj>
              </mc:Choice>
              <mc:Fallback>
                <p:oleObj name="Equation" r:id="rId5" imgW="2043813" imgH="495085" progId="Equation.3">
                  <p:embed/>
                  <p:pic>
                    <p:nvPicPr>
                      <p:cNvPr id="8197" name="Object 5">
                        <a:extLst>
                          <a:ext uri="{FF2B5EF4-FFF2-40B4-BE49-F238E27FC236}">
                            <a16:creationId xmlns:a16="http://schemas.microsoft.com/office/drawing/2014/main" id="{61E0B7C3-8FBE-436C-B240-8E13DA7269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705" y="2142583"/>
                        <a:ext cx="4559702" cy="10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6">
            <a:extLst>
              <a:ext uri="{FF2B5EF4-FFF2-40B4-BE49-F238E27FC236}">
                <a16:creationId xmlns:a16="http://schemas.microsoft.com/office/drawing/2014/main" id="{659F3318-AB90-4B1B-95EA-295D975077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317871"/>
              </p:ext>
            </p:extLst>
          </p:nvPr>
        </p:nvGraphicFramePr>
        <p:xfrm>
          <a:off x="3169571" y="3356992"/>
          <a:ext cx="50038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7" imgW="2133360" imgH="495000" progId="Equation.DSMT4">
                  <p:embed/>
                </p:oleObj>
              </mc:Choice>
              <mc:Fallback>
                <p:oleObj name="Equation" r:id="rId7" imgW="2133360" imgH="495000" progId="Equation.DSMT4">
                  <p:embed/>
                  <p:pic>
                    <p:nvPicPr>
                      <p:cNvPr id="8198" name="Object 6">
                        <a:extLst>
                          <a:ext uri="{FF2B5EF4-FFF2-40B4-BE49-F238E27FC236}">
                            <a16:creationId xmlns:a16="http://schemas.microsoft.com/office/drawing/2014/main" id="{659F3318-AB90-4B1B-95EA-295D975077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9571" y="3356992"/>
                        <a:ext cx="500380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EB9AF8E-8C1C-4A1A-ACB3-C3BF06FD826C}"/>
              </a:ext>
            </a:extLst>
          </p:cNvPr>
          <p:cNvSpPr txBox="1"/>
          <p:nvPr/>
        </p:nvSpPr>
        <p:spPr>
          <a:xfrm>
            <a:off x="1703512" y="623251"/>
            <a:ext cx="3312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3.2.2 Schmidt</a:t>
            </a:r>
            <a:r>
              <a:rPr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正交化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F74A102-39F6-41D6-9FC5-9F546E7FD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9EFF0944-2518-4343-8163-3F075A3F9F1C}" type="slidenum">
              <a:rPr lang="en-US" altLang="zh-CN">
                <a:solidFill>
                  <a:srgbClr val="000000"/>
                </a:solidFill>
                <a:ea typeface="宋体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920204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对象 1">
            <a:extLst>
              <a:ext uri="{FF2B5EF4-FFF2-40B4-BE49-F238E27FC236}">
                <a16:creationId xmlns:a16="http://schemas.microsoft.com/office/drawing/2014/main" id="{D452A431-6F86-46FF-8B56-D63A556E66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743384"/>
              </p:ext>
            </p:extLst>
          </p:nvPr>
        </p:nvGraphicFramePr>
        <p:xfrm>
          <a:off x="1487488" y="1700808"/>
          <a:ext cx="8156146" cy="1512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Equation" r:id="rId3" imgW="3835080" imgH="711000" progId="Equation.DSMT4">
                  <p:embed/>
                </p:oleObj>
              </mc:Choice>
              <mc:Fallback>
                <p:oleObj name="Equation" r:id="rId3" imgW="3835080" imgH="711000" progId="Equation.DSMT4">
                  <p:embed/>
                  <p:pic>
                    <p:nvPicPr>
                      <p:cNvPr id="9218" name="对象 1">
                        <a:extLst>
                          <a:ext uri="{FF2B5EF4-FFF2-40B4-BE49-F238E27FC236}">
                            <a16:creationId xmlns:a16="http://schemas.microsoft.com/office/drawing/2014/main" id="{D452A431-6F86-46FF-8B56-D63A556E66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1700808"/>
                        <a:ext cx="8156146" cy="1512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77CF72C-D0DA-44A6-AA72-CFF39DA5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9EFF0944-2518-4343-8163-3F075A3F9F1C}" type="slidenum">
              <a:rPr lang="en-US" altLang="zh-CN">
                <a:solidFill>
                  <a:srgbClr val="000000"/>
                </a:solidFill>
                <a:ea typeface="宋体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US" altLang="zh-CN">
              <a:solidFill>
                <a:srgbClr val="000000"/>
              </a:solidFill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7944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68E7D-5707-48DA-ACBF-7903B19740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3.3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酉变换、正交变换</a:t>
            </a:r>
          </a:p>
        </p:txBody>
      </p:sp>
    </p:spTree>
    <p:extLst>
      <p:ext uri="{BB962C8B-B14F-4D97-AF65-F5344CB8AC3E}">
        <p14:creationId xmlns:p14="http://schemas.microsoft.com/office/powerpoint/2010/main" val="6254252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15560D7-C7FE-AB28-715A-DE0714567319}"/>
              </a:ext>
            </a:extLst>
          </p:cNvPr>
          <p:cNvGrpSpPr/>
          <p:nvPr/>
        </p:nvGrpSpPr>
        <p:grpSpPr>
          <a:xfrm>
            <a:off x="623392" y="1392100"/>
            <a:ext cx="7369040" cy="1781174"/>
            <a:chOff x="1661841" y="1443833"/>
            <a:chExt cx="7369040" cy="1781174"/>
          </a:xfrm>
        </p:grpSpPr>
        <p:sp>
          <p:nvSpPr>
            <p:cNvPr id="2052" name="Rectangle 5">
              <a:extLst>
                <a:ext uri="{FF2B5EF4-FFF2-40B4-BE49-F238E27FC236}">
                  <a16:creationId xmlns:a16="http://schemas.microsoft.com/office/drawing/2014/main" id="{BB5CF571-D80E-406F-B0E0-77C4E7386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1841" y="1443833"/>
              <a:ext cx="2005012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zh-CN" altLang="en-US" dirty="0">
                  <a:solidFill>
                    <a:srgbClr val="2222FC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定义</a:t>
              </a:r>
              <a:r>
                <a:rPr lang="en-US" altLang="zh-CN" dirty="0">
                  <a:solidFill>
                    <a:srgbClr val="2222FC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3.1</a:t>
              </a:r>
            </a:p>
          </p:txBody>
        </p:sp>
        <p:grpSp>
          <p:nvGrpSpPr>
            <p:cNvPr id="2053" name="Group 14">
              <a:extLst>
                <a:ext uri="{FF2B5EF4-FFF2-40B4-BE49-F238E27FC236}">
                  <a16:creationId xmlns:a16="http://schemas.microsoft.com/office/drawing/2014/main" id="{97C0F234-279E-49D0-9906-7179C8C6EC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8980" y="1443833"/>
              <a:ext cx="6311901" cy="1781174"/>
              <a:chOff x="767" y="920"/>
              <a:chExt cx="3976" cy="112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61" name="Rectangle 6">
                    <a:extLst>
                      <a:ext uri="{FF2B5EF4-FFF2-40B4-BE49-F238E27FC236}">
                        <a16:creationId xmlns:a16="http://schemas.microsoft.com/office/drawing/2014/main" id="{8DDE6755-5CBC-4E3D-97EB-17E7E3C345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45" y="920"/>
                    <a:ext cx="2143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None/>
                      <a:defRPr/>
                    </a:pPr>
                    <a:r>
                      <a:rPr lang="zh-CN" altLang="en-US" dirty="0">
                        <a:solidFill>
                          <a:srgbClr val="000000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若</a:t>
                    </a:r>
                    <a14:m>
                      <m:oMath xmlns:m="http://schemas.openxmlformats.org/officeDocument/2006/math"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oMath>
                    </a14:m>
                    <a:r>
                      <a:rPr lang="zh-CN" altLang="en-US" dirty="0">
                        <a:solidFill>
                          <a:srgbClr val="000000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阶复矩阵</a:t>
                    </a:r>
                    <a14:m>
                      <m:oMath xmlns:m="http://schemas.openxmlformats.org/officeDocument/2006/math"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oMath>
                    </a14:m>
                    <a:r>
                      <a:rPr lang="zh-CN" altLang="en-US" dirty="0">
                        <a:solidFill>
                          <a:srgbClr val="000000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满足</a:t>
                    </a:r>
                  </a:p>
                </p:txBody>
              </p:sp>
            </mc:Choice>
            <mc:Fallback xmlns="">
              <p:sp>
                <p:nvSpPr>
                  <p:cNvPr id="2061" name="Rectangle 6">
                    <a:extLst>
                      <a:ext uri="{FF2B5EF4-FFF2-40B4-BE49-F238E27FC236}">
                        <a16:creationId xmlns:a16="http://schemas.microsoft.com/office/drawing/2014/main" id="{8DDE6755-5CBC-4E3D-97EB-17E7E3C345A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345" y="920"/>
                    <a:ext cx="2143" cy="32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763" t="-12941" b="-3294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062" name="Object 7">
                    <a:extLst>
                      <a:ext uri="{FF2B5EF4-FFF2-40B4-BE49-F238E27FC236}">
                        <a16:creationId xmlns:a16="http://schemas.microsoft.com/office/drawing/2014/main" id="{3BE9A051-3788-4A8E-A778-154ED5C75844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39913839"/>
                      </p:ext>
                    </p:extLst>
                  </p:nvPr>
                </p:nvGraphicFramePr>
                <p:xfrm>
                  <a:off x="2823" y="1325"/>
                  <a:ext cx="1920" cy="3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22534" name="Equation" r:id="rId4" imgW="1155700" imgH="190500" progId="Equation.DSMT4">
                          <p:embed/>
                        </p:oleObj>
                      </mc:Choice>
                      <mc:Fallback>
                        <p:oleObj name="Equation" r:id="rId4" imgW="1155700" imgH="190500" progId="Equation.DSMT4">
                          <p:embed/>
                          <p:pic>
                            <p:nvPicPr>
                              <p:cNvPr id="2062" name="Object 7">
                                <a:extLst>
                                  <a:ext uri="{FF2B5EF4-FFF2-40B4-BE49-F238E27FC236}">
                                    <a16:creationId xmlns:a16="http://schemas.microsoft.com/office/drawing/2014/main" id="{3BE9A051-3788-4A8E-A778-154ED5C75844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23" y="1325"/>
                                <a:ext cx="1920" cy="30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2062" name="Object 7">
                    <a:extLst>
                      <a:ext uri="{FF2B5EF4-FFF2-40B4-BE49-F238E27FC236}">
                        <a16:creationId xmlns:a16="http://schemas.microsoft.com/office/drawing/2014/main" id="{3BE9A051-3788-4A8E-A778-154ED5C75844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39913839"/>
                      </p:ext>
                    </p:extLst>
                  </p:nvPr>
                </p:nvGraphicFramePr>
                <p:xfrm>
                  <a:off x="2823" y="1325"/>
                  <a:ext cx="1920" cy="3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6" imgW="1155700" imgH="190500" progId="Equation.DSMT4">
                          <p:embed/>
                        </p:oleObj>
                      </mc:Choice>
                      <mc:Fallback>
                        <p:oleObj name="Equation" r:id="rId6" imgW="1155700" imgH="190500" progId="Equation.DSMT4">
                          <p:embed/>
                          <p:pic>
                            <p:nvPicPr>
                              <p:cNvPr id="2062" name="Object 7">
                                <a:extLst>
                                  <a:ext uri="{FF2B5EF4-FFF2-40B4-BE49-F238E27FC236}">
                                    <a16:creationId xmlns:a16="http://schemas.microsoft.com/office/drawing/2014/main" id="{3BE9A051-3788-4A8E-A778-154ED5C75844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23" y="1325"/>
                                <a:ext cx="1920" cy="30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063" name="Object 8">
                    <a:extLst>
                      <a:ext uri="{FF2B5EF4-FFF2-40B4-BE49-F238E27FC236}">
                        <a16:creationId xmlns:a16="http://schemas.microsoft.com/office/drawing/2014/main" id="{085753A2-A7D6-48CA-8968-AF53FF6D9E53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767" y="1715"/>
                  <a:ext cx="3299" cy="32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22535" name="Equation" r:id="rId8" imgW="2184400" imgH="228600" progId="Equation.DSMT4">
                          <p:embed/>
                        </p:oleObj>
                      </mc:Choice>
                      <mc:Fallback>
                        <p:oleObj name="Equation" r:id="rId8" imgW="2184400" imgH="228600" progId="Equation.DSMT4">
                          <p:embed/>
                          <p:pic>
                            <p:nvPicPr>
                              <p:cNvPr id="2063" name="Object 8">
                                <a:extLst>
                                  <a:ext uri="{FF2B5EF4-FFF2-40B4-BE49-F238E27FC236}">
                                    <a16:creationId xmlns:a16="http://schemas.microsoft.com/office/drawing/2014/main" id="{085753A2-A7D6-48CA-8968-AF53FF6D9E53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67" y="1715"/>
                                <a:ext cx="3299" cy="327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2063" name="Object 8">
                    <a:extLst>
                      <a:ext uri="{FF2B5EF4-FFF2-40B4-BE49-F238E27FC236}">
                        <a16:creationId xmlns:a16="http://schemas.microsoft.com/office/drawing/2014/main" id="{085753A2-A7D6-48CA-8968-AF53FF6D9E53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767" y="1715"/>
                  <a:ext cx="3299" cy="32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23559" name="Equation" r:id="rId10" imgW="2184400" imgH="228600" progId="Equation.DSMT4">
                          <p:embed/>
                        </p:oleObj>
                      </mc:Choice>
                      <mc:Fallback>
                        <p:oleObj name="Equation" r:id="rId10" imgW="2184400" imgH="228600" progId="Equation.DSMT4">
                          <p:embed/>
                          <p:pic>
                            <p:nvPicPr>
                              <p:cNvPr id="2063" name="Object 8">
                                <a:extLst>
                                  <a:ext uri="{FF2B5EF4-FFF2-40B4-BE49-F238E27FC236}">
                                    <a16:creationId xmlns:a16="http://schemas.microsoft.com/office/drawing/2014/main" id="{085753A2-A7D6-48CA-8968-AF53FF6D9E53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67" y="1715"/>
                                <a:ext cx="3299" cy="327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</p:grpSp>
      <p:grpSp>
        <p:nvGrpSpPr>
          <p:cNvPr id="2054" name="Group 16">
            <a:extLst>
              <a:ext uri="{FF2B5EF4-FFF2-40B4-BE49-F238E27FC236}">
                <a16:creationId xmlns:a16="http://schemas.microsoft.com/office/drawing/2014/main" id="{4B53FB30-134A-4647-A9A0-08887EE02C35}"/>
              </a:ext>
            </a:extLst>
          </p:cNvPr>
          <p:cNvGrpSpPr>
            <a:grpSpLocks/>
          </p:cNvGrpSpPr>
          <p:nvPr/>
        </p:nvGrpSpPr>
        <p:grpSpPr bwMode="auto">
          <a:xfrm>
            <a:off x="1919536" y="3287110"/>
            <a:ext cx="5865813" cy="1641474"/>
            <a:chOff x="618" y="2389"/>
            <a:chExt cx="3695" cy="10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8" name="Rectangle 11">
                  <a:extLst>
                    <a:ext uri="{FF2B5EF4-FFF2-40B4-BE49-F238E27FC236}">
                      <a16:creationId xmlns:a16="http://schemas.microsoft.com/office/drawing/2014/main" id="{F8A8D8E2-E835-40A0-BC00-E574BB9A0B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9" y="2389"/>
                  <a:ext cx="2143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zh-CN" altLang="en-US" dirty="0">
                      <a:solidFill>
                        <a:srgbClr val="00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若</a:t>
                  </a:r>
                  <a14:m>
                    <m:oMath xmlns:m="http://schemas.openxmlformats.org/officeDocument/2006/math">
                      <m:r>
                        <a:rPr lang="en-US" altLang="zh-CN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𝑛</m:t>
                      </m:r>
                    </m:oMath>
                  </a14:m>
                  <a:r>
                    <a:rPr lang="en-US" altLang="zh-CN" i="1" dirty="0">
                      <a:solidFill>
                        <a:srgbClr val="00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 </a:t>
                  </a:r>
                  <a:r>
                    <a:rPr lang="zh-CN" altLang="en-US" dirty="0">
                      <a:solidFill>
                        <a:srgbClr val="00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阶实矩阵</a:t>
                  </a:r>
                  <a14:m>
                    <m:oMath xmlns:m="http://schemas.openxmlformats.org/officeDocument/2006/math">
                      <m:r>
                        <a:rPr lang="en-US" altLang="zh-CN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𝐴</m:t>
                      </m:r>
                      <m:r>
                        <a:rPr lang="en-US" altLang="zh-CN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</m:t>
                      </m:r>
                    </m:oMath>
                  </a14:m>
                  <a:r>
                    <a:rPr lang="zh-CN" altLang="en-US" dirty="0">
                      <a:solidFill>
                        <a:srgbClr val="0000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满足</a:t>
                  </a:r>
                </a:p>
              </p:txBody>
            </p:sp>
          </mc:Choice>
          <mc:Fallback xmlns="">
            <p:sp>
              <p:nvSpPr>
                <p:cNvPr id="2058" name="Rectangle 11">
                  <a:extLst>
                    <a:ext uri="{FF2B5EF4-FFF2-40B4-BE49-F238E27FC236}">
                      <a16:creationId xmlns:a16="http://schemas.microsoft.com/office/drawing/2014/main" id="{F8A8D8E2-E835-40A0-BC00-E574BB9A0B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29" y="2389"/>
                  <a:ext cx="2143" cy="327"/>
                </a:xfrm>
                <a:prstGeom prst="rect">
                  <a:avLst/>
                </a:prstGeom>
                <a:blipFill>
                  <a:blip r:embed="rId12"/>
                  <a:stretch>
                    <a:fillRect l="-3763" t="-11765" r="-358" b="-32941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059" name="Object 12">
                  <a:extLst>
                    <a:ext uri="{FF2B5EF4-FFF2-40B4-BE49-F238E27FC236}">
                      <a16:creationId xmlns:a16="http://schemas.microsoft.com/office/drawing/2014/main" id="{5DBE8C63-67EE-4C35-9FBB-5261D25C270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86066338"/>
                    </p:ext>
                  </p:extLst>
                </p:nvPr>
              </p:nvGraphicFramePr>
              <p:xfrm>
                <a:off x="2478" y="2713"/>
                <a:ext cx="1835" cy="3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2536" name="Equation" r:id="rId13" imgW="1104900" imgH="190500" progId="Equation.3">
                        <p:embed/>
                      </p:oleObj>
                    </mc:Choice>
                    <mc:Fallback>
                      <p:oleObj name="Equation" r:id="rId13" imgW="1104900" imgH="190500" progId="Equation.3">
                        <p:embed/>
                        <p:pic>
                          <p:nvPicPr>
                            <p:cNvPr id="2059" name="Object 12">
                              <a:extLst>
                                <a:ext uri="{FF2B5EF4-FFF2-40B4-BE49-F238E27FC236}">
                                  <a16:creationId xmlns:a16="http://schemas.microsoft.com/office/drawing/2014/main" id="{5DBE8C63-67EE-4C35-9FBB-5261D25C270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78" y="2713"/>
                              <a:ext cx="1835" cy="3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059" name="Object 12">
                  <a:extLst>
                    <a:ext uri="{FF2B5EF4-FFF2-40B4-BE49-F238E27FC236}">
                      <a16:creationId xmlns:a16="http://schemas.microsoft.com/office/drawing/2014/main" id="{5DBE8C63-67EE-4C35-9FBB-5261D25C270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86066338"/>
                    </p:ext>
                  </p:extLst>
                </p:nvPr>
              </p:nvGraphicFramePr>
              <p:xfrm>
                <a:off x="2478" y="2713"/>
                <a:ext cx="1835" cy="3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5" imgW="1104900" imgH="190500" progId="Equation.3">
                        <p:embed/>
                      </p:oleObj>
                    </mc:Choice>
                    <mc:Fallback>
                      <p:oleObj name="Equation" r:id="rId15" imgW="1104900" imgH="190500" progId="Equation.3">
                        <p:embed/>
                        <p:pic>
                          <p:nvPicPr>
                            <p:cNvPr id="2059" name="Object 12">
                              <a:extLst>
                                <a:ext uri="{FF2B5EF4-FFF2-40B4-BE49-F238E27FC236}">
                                  <a16:creationId xmlns:a16="http://schemas.microsoft.com/office/drawing/2014/main" id="{5DBE8C63-67EE-4C35-9FBB-5261D25C270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78" y="2713"/>
                              <a:ext cx="1835" cy="3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060" name="Object 13">
                  <a:extLst>
                    <a:ext uri="{FF2B5EF4-FFF2-40B4-BE49-F238E27FC236}">
                      <a16:creationId xmlns:a16="http://schemas.microsoft.com/office/drawing/2014/main" id="{7510A258-A997-4BF7-B4E0-C4CFA0E4F7E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18" y="3112"/>
                <a:ext cx="3357" cy="31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2537" name="Equation" r:id="rId17" imgW="2336800" imgH="228600" progId="Equation.DSMT4">
                        <p:embed/>
                      </p:oleObj>
                    </mc:Choice>
                    <mc:Fallback>
                      <p:oleObj name="Equation" r:id="rId17" imgW="2336800" imgH="228600" progId="Equation.DSMT4">
                        <p:embed/>
                        <p:pic>
                          <p:nvPicPr>
                            <p:cNvPr id="2060" name="Object 13">
                              <a:extLst>
                                <a:ext uri="{FF2B5EF4-FFF2-40B4-BE49-F238E27FC236}">
                                  <a16:creationId xmlns:a16="http://schemas.microsoft.com/office/drawing/2014/main" id="{7510A258-A997-4BF7-B4E0-C4CFA0E4F7E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18" y="3112"/>
                              <a:ext cx="3357" cy="31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060" name="Object 13">
                  <a:extLst>
                    <a:ext uri="{FF2B5EF4-FFF2-40B4-BE49-F238E27FC236}">
                      <a16:creationId xmlns:a16="http://schemas.microsoft.com/office/drawing/2014/main" id="{7510A258-A997-4BF7-B4E0-C4CFA0E4F7E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18" y="3112"/>
                <a:ext cx="3357" cy="31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3561" name="Equation" r:id="rId19" imgW="2336800" imgH="228600" progId="Equation.DSMT4">
                        <p:embed/>
                      </p:oleObj>
                    </mc:Choice>
                    <mc:Fallback>
                      <p:oleObj name="Equation" r:id="rId19" imgW="2336800" imgH="228600" progId="Equation.DSMT4">
                        <p:embed/>
                        <p:pic>
                          <p:nvPicPr>
                            <p:cNvPr id="2060" name="Object 13">
                              <a:extLst>
                                <a:ext uri="{FF2B5EF4-FFF2-40B4-BE49-F238E27FC236}">
                                  <a16:creationId xmlns:a16="http://schemas.microsoft.com/office/drawing/2014/main" id="{7510A258-A997-4BF7-B4E0-C4CFA0E4F7E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18" y="3112"/>
                              <a:ext cx="3357" cy="31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675921" y="584349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酉矩阵、正交矩阵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34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6CE94E8-700F-4BFD-B3A4-CA25817AE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5014" y="1243703"/>
            <a:ext cx="2362200" cy="609600"/>
          </a:xfrm>
        </p:spPr>
        <p:txBody>
          <a:bodyPr/>
          <a:lstStyle/>
          <a:p>
            <a:pPr eaLnBrk="1" hangingPunct="1"/>
            <a:r>
              <a:rPr lang="zh-CN" altLang="en-US" sz="2800" b="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酉矩阵性质</a:t>
            </a:r>
          </a:p>
        </p:txBody>
      </p:sp>
      <p:graphicFrame>
        <p:nvGraphicFramePr>
          <p:cNvPr id="3075" name="Object 3">
            <a:extLst>
              <a:ext uri="{FF2B5EF4-FFF2-40B4-BE49-F238E27FC236}">
                <a16:creationId xmlns:a16="http://schemas.microsoft.com/office/drawing/2014/main" id="{81B33012-394F-43BE-9438-C496BE34AB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19752"/>
              </p:ext>
            </p:extLst>
          </p:nvPr>
        </p:nvGraphicFramePr>
        <p:xfrm>
          <a:off x="1239158" y="1828187"/>
          <a:ext cx="32004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Equation" r:id="rId3" imgW="1308100" imgH="457200" progId="Equation.3">
                  <p:embed/>
                </p:oleObj>
              </mc:Choice>
              <mc:Fallback>
                <p:oleObj name="Equation" r:id="rId3" imgW="1308100" imgH="457200" progId="Equation.3">
                  <p:embed/>
                  <p:pic>
                    <p:nvPicPr>
                      <p:cNvPr id="3075" name="Object 3">
                        <a:extLst>
                          <a:ext uri="{FF2B5EF4-FFF2-40B4-BE49-F238E27FC236}">
                            <a16:creationId xmlns:a16="http://schemas.microsoft.com/office/drawing/2014/main" id="{81B33012-394F-43BE-9438-C496BE34AB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9158" y="1828187"/>
                        <a:ext cx="32004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5">
            <a:extLst>
              <a:ext uri="{FF2B5EF4-FFF2-40B4-BE49-F238E27FC236}">
                <a16:creationId xmlns:a16="http://schemas.microsoft.com/office/drawing/2014/main" id="{E3926741-36C8-419B-9709-4D22A4B9C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062071"/>
              </p:ext>
            </p:extLst>
          </p:nvPr>
        </p:nvGraphicFramePr>
        <p:xfrm>
          <a:off x="1236446" y="2968140"/>
          <a:ext cx="20732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Equation" r:id="rId5" imgW="850531" imgH="253890" progId="Equation.3">
                  <p:embed/>
                </p:oleObj>
              </mc:Choice>
              <mc:Fallback>
                <p:oleObj name="Equation" r:id="rId5" imgW="850531" imgH="253890" progId="Equation.3">
                  <p:embed/>
                  <p:pic>
                    <p:nvPicPr>
                      <p:cNvPr id="3076" name="Object 5">
                        <a:extLst>
                          <a:ext uri="{FF2B5EF4-FFF2-40B4-BE49-F238E27FC236}">
                            <a16:creationId xmlns:a16="http://schemas.microsoft.com/office/drawing/2014/main" id="{E3926741-36C8-419B-9709-4D22A4B9C1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446" y="2968140"/>
                        <a:ext cx="207327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6">
            <a:extLst>
              <a:ext uri="{FF2B5EF4-FFF2-40B4-BE49-F238E27FC236}">
                <a16:creationId xmlns:a16="http://schemas.microsoft.com/office/drawing/2014/main" id="{D4C073F7-BFC5-4DDE-A66A-E58CC26BCD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617628"/>
              </p:ext>
            </p:extLst>
          </p:nvPr>
        </p:nvGraphicFramePr>
        <p:xfrm>
          <a:off x="1206283" y="3492727"/>
          <a:ext cx="21336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Equation" r:id="rId7" imgW="888614" imgH="203112" progId="Equation.3">
                  <p:embed/>
                </p:oleObj>
              </mc:Choice>
              <mc:Fallback>
                <p:oleObj name="Equation" r:id="rId7" imgW="888614" imgH="203112" progId="Equation.3">
                  <p:embed/>
                  <p:pic>
                    <p:nvPicPr>
                      <p:cNvPr id="3077" name="Object 6">
                        <a:extLst>
                          <a:ext uri="{FF2B5EF4-FFF2-40B4-BE49-F238E27FC236}">
                            <a16:creationId xmlns:a16="http://schemas.microsoft.com/office/drawing/2014/main" id="{D4C073F7-BFC5-4DDE-A66A-E58CC26BCD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283" y="3492727"/>
                        <a:ext cx="21336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7">
            <a:extLst>
              <a:ext uri="{FF2B5EF4-FFF2-40B4-BE49-F238E27FC236}">
                <a16:creationId xmlns:a16="http://schemas.microsoft.com/office/drawing/2014/main" id="{09A39BE3-FEA7-4133-9F4B-85A45CDE7B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510648"/>
              </p:ext>
            </p:extLst>
          </p:nvPr>
        </p:nvGraphicFramePr>
        <p:xfrm>
          <a:off x="1236446" y="3980089"/>
          <a:ext cx="31242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Equation" r:id="rId9" imgW="1256755" imgH="203112" progId="Equation.3">
                  <p:embed/>
                </p:oleObj>
              </mc:Choice>
              <mc:Fallback>
                <p:oleObj name="Equation" r:id="rId9" imgW="1256755" imgH="203112" progId="Equation.3">
                  <p:embed/>
                  <p:pic>
                    <p:nvPicPr>
                      <p:cNvPr id="3078" name="Object 7">
                        <a:extLst>
                          <a:ext uri="{FF2B5EF4-FFF2-40B4-BE49-F238E27FC236}">
                            <a16:creationId xmlns:a16="http://schemas.microsoft.com/office/drawing/2014/main" id="{09A39BE3-FEA7-4133-9F4B-85A45CDE7B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446" y="3980089"/>
                        <a:ext cx="31242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8">
            <a:extLst>
              <a:ext uri="{FF2B5EF4-FFF2-40B4-BE49-F238E27FC236}">
                <a16:creationId xmlns:a16="http://schemas.microsoft.com/office/drawing/2014/main" id="{252750BD-6730-476E-A744-38C9FF36E0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171644"/>
              </p:ext>
            </p:extLst>
          </p:nvPr>
        </p:nvGraphicFramePr>
        <p:xfrm>
          <a:off x="6318747" y="1882462"/>
          <a:ext cx="313848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Equation" r:id="rId11" imgW="1282700" imgH="457200" progId="Equation.3">
                  <p:embed/>
                </p:oleObj>
              </mc:Choice>
              <mc:Fallback>
                <p:oleObj name="Equation" r:id="rId11" imgW="1282700" imgH="457200" progId="Equation.3">
                  <p:embed/>
                  <p:pic>
                    <p:nvPicPr>
                      <p:cNvPr id="4104" name="Object 8">
                        <a:extLst>
                          <a:ext uri="{FF2B5EF4-FFF2-40B4-BE49-F238E27FC236}">
                            <a16:creationId xmlns:a16="http://schemas.microsoft.com/office/drawing/2014/main" id="{252750BD-6730-476E-A744-38C9FF36E0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8747" y="1882462"/>
                        <a:ext cx="313848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9">
            <a:extLst>
              <a:ext uri="{FF2B5EF4-FFF2-40B4-BE49-F238E27FC236}">
                <a16:creationId xmlns:a16="http://schemas.microsoft.com/office/drawing/2014/main" id="{21B40E00-F228-40BF-A32C-A7294F0EDE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302066"/>
              </p:ext>
            </p:extLst>
          </p:nvPr>
        </p:nvGraphicFramePr>
        <p:xfrm>
          <a:off x="6284770" y="3037975"/>
          <a:ext cx="21971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7" name="Equation" r:id="rId13" imgW="901309" imgH="177723" progId="Equation.3">
                  <p:embed/>
                </p:oleObj>
              </mc:Choice>
              <mc:Fallback>
                <p:oleObj name="Equation" r:id="rId13" imgW="901309" imgH="177723" progId="Equation.3">
                  <p:embed/>
                  <p:pic>
                    <p:nvPicPr>
                      <p:cNvPr id="4105" name="Object 9">
                        <a:extLst>
                          <a:ext uri="{FF2B5EF4-FFF2-40B4-BE49-F238E27FC236}">
                            <a16:creationId xmlns:a16="http://schemas.microsoft.com/office/drawing/2014/main" id="{21B40E00-F228-40BF-A32C-A7294F0EDE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4770" y="3037975"/>
                        <a:ext cx="219710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Object 11">
            <a:extLst>
              <a:ext uri="{FF2B5EF4-FFF2-40B4-BE49-F238E27FC236}">
                <a16:creationId xmlns:a16="http://schemas.microsoft.com/office/drawing/2014/main" id="{202A4AA8-2CBB-4C37-B44D-E350771652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847917"/>
              </p:ext>
            </p:extLst>
          </p:nvPr>
        </p:nvGraphicFramePr>
        <p:xfrm>
          <a:off x="6269256" y="3472469"/>
          <a:ext cx="31242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8" name="Equation" r:id="rId15" imgW="1256755" imgH="203112" progId="Equation.3">
                  <p:embed/>
                </p:oleObj>
              </mc:Choice>
              <mc:Fallback>
                <p:oleObj name="Equation" r:id="rId15" imgW="1256755" imgH="203112" progId="Equation.3">
                  <p:embed/>
                  <p:pic>
                    <p:nvPicPr>
                      <p:cNvPr id="4107" name="Object 11">
                        <a:extLst>
                          <a:ext uri="{FF2B5EF4-FFF2-40B4-BE49-F238E27FC236}">
                            <a16:creationId xmlns:a16="http://schemas.microsoft.com/office/drawing/2014/main" id="{202A4AA8-2CBB-4C37-B44D-E350771652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9256" y="3472469"/>
                        <a:ext cx="31242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8" name="Rectangle 12">
            <a:extLst>
              <a:ext uri="{FF2B5EF4-FFF2-40B4-BE49-F238E27FC236}">
                <a16:creationId xmlns:a16="http://schemas.microsoft.com/office/drawing/2014/main" id="{A7194887-BE42-4761-86FE-BBC332966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95" y="4661997"/>
            <a:ext cx="2001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kumimoji="1" lang="zh-CN" altLang="en-US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定理 </a:t>
            </a:r>
            <a:r>
              <a:rPr kumimoji="1" lang="en-US" altLang="zh-CN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3.1</a:t>
            </a:r>
          </a:p>
        </p:txBody>
      </p:sp>
      <p:graphicFrame>
        <p:nvGraphicFramePr>
          <p:cNvPr id="4110" name="Object 14">
            <a:extLst>
              <a:ext uri="{FF2B5EF4-FFF2-40B4-BE49-F238E27FC236}">
                <a16:creationId xmlns:a16="http://schemas.microsoft.com/office/drawing/2014/main" id="{1D96D12A-4D9F-439E-814F-62346973FE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596287"/>
              </p:ext>
            </p:extLst>
          </p:nvPr>
        </p:nvGraphicFramePr>
        <p:xfrm>
          <a:off x="830480" y="4640700"/>
          <a:ext cx="10877551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9" name="Equation" r:id="rId17" imgW="4216320" imgH="457200" progId="Equation.DSMT4">
                  <p:embed/>
                </p:oleObj>
              </mc:Choice>
              <mc:Fallback>
                <p:oleObj name="Equation" r:id="rId17" imgW="4216320" imgH="457200" progId="Equation.DSMT4">
                  <p:embed/>
                  <p:pic>
                    <p:nvPicPr>
                      <p:cNvPr id="4110" name="Object 14">
                        <a:extLst>
                          <a:ext uri="{FF2B5EF4-FFF2-40B4-BE49-F238E27FC236}">
                            <a16:creationId xmlns:a16="http://schemas.microsoft.com/office/drawing/2014/main" id="{1D96D12A-4D9F-439E-814F-62346973FE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480" y="4640700"/>
                        <a:ext cx="10877551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">
            <a:extLst>
              <a:ext uri="{FF2B5EF4-FFF2-40B4-BE49-F238E27FC236}">
                <a16:creationId xmlns:a16="http://schemas.microsoft.com/office/drawing/2014/main" id="{4765A431-1569-4706-BDE4-0D01216AB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030" y="1243703"/>
            <a:ext cx="2362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r>
              <a:rPr lang="zh-CN" altLang="en-US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正交矩阵性质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1911B0-AAE6-447F-AFA5-4FE0E652C5CA}"/>
              </a:ext>
            </a:extLst>
          </p:cNvPr>
          <p:cNvSpPr txBox="1"/>
          <p:nvPr/>
        </p:nvSpPr>
        <p:spPr>
          <a:xfrm>
            <a:off x="830480" y="5764650"/>
            <a:ext cx="864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定理</a:t>
            </a:r>
            <a:r>
              <a:rPr lang="en-US" altLang="zh-CN" sz="28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3.2 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两组标准正交基的过渡矩阵是酉矩阵。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5126EBD-06A8-43D6-A60E-C3EB47695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35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695A14-1593-9339-A4A7-1B46ABD6F47F}"/>
              </a:ext>
            </a:extLst>
          </p:cNvPr>
          <p:cNvSpPr txBox="1"/>
          <p:nvPr/>
        </p:nvSpPr>
        <p:spPr>
          <a:xfrm>
            <a:off x="1675921" y="584349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酉矩阵、正交矩阵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8" grpId="0"/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8678DB3-03C0-4551-8C7F-1F1FBC581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p:sp>
        <p:nvSpPr>
          <p:cNvPr id="4099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33254E9-C367-4972-A497-8220A0FF2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p:sp>
        <p:nvSpPr>
          <p:cNvPr id="4100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0071847-9AC1-46D0-B11A-97FA10C6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zh-CN" altLang="en-US" sz="1800">
              <a:solidFill>
                <a:srgbClr val="000000"/>
              </a:solidFill>
              <a:ea typeface="宋体"/>
            </a:endParaRPr>
          </a:p>
        </p:txBody>
      </p:sp>
      <p:graphicFrame>
        <p:nvGraphicFramePr>
          <p:cNvPr id="4101" name="Object 7">
            <a:extLst>
              <a:ext uri="{FF2B5EF4-FFF2-40B4-BE49-F238E27FC236}">
                <a16:creationId xmlns:a16="http://schemas.microsoft.com/office/drawing/2014/main" id="{946AE42A-7146-47DC-BC31-5CD643D3B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125165"/>
              </p:ext>
            </p:extLst>
          </p:nvPr>
        </p:nvGraphicFramePr>
        <p:xfrm>
          <a:off x="1253282" y="1500605"/>
          <a:ext cx="7331918" cy="2006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3" imgW="3187440" imgH="914400" progId="Equation.DSMT4">
                  <p:embed/>
                </p:oleObj>
              </mc:Choice>
              <mc:Fallback>
                <p:oleObj name="Equation" r:id="rId3" imgW="3187440" imgH="914400" progId="Equation.DSMT4">
                  <p:embed/>
                  <p:pic>
                    <p:nvPicPr>
                      <p:cNvPr id="4101" name="Object 7">
                        <a:extLst>
                          <a:ext uri="{FF2B5EF4-FFF2-40B4-BE49-F238E27FC236}">
                            <a16:creationId xmlns:a16="http://schemas.microsoft.com/office/drawing/2014/main" id="{946AE42A-7146-47DC-BC31-5CD643D3B8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3282" y="1500605"/>
                        <a:ext cx="7331918" cy="20064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6" name="Object 8">
            <a:extLst>
              <a:ext uri="{FF2B5EF4-FFF2-40B4-BE49-F238E27FC236}">
                <a16:creationId xmlns:a16="http://schemas.microsoft.com/office/drawing/2014/main" id="{C439103C-6051-4A14-85D6-0269A08C19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696680"/>
              </p:ext>
            </p:extLst>
          </p:nvPr>
        </p:nvGraphicFramePr>
        <p:xfrm>
          <a:off x="1127239" y="3851428"/>
          <a:ext cx="7676450" cy="1933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5" imgW="3403440" imgH="914400" progId="Equation.DSMT4">
                  <p:embed/>
                </p:oleObj>
              </mc:Choice>
              <mc:Fallback>
                <p:oleObj name="Equation" r:id="rId5" imgW="3403440" imgH="914400" progId="Equation.DSMT4">
                  <p:embed/>
                  <p:pic>
                    <p:nvPicPr>
                      <p:cNvPr id="2056" name="Object 8">
                        <a:extLst>
                          <a:ext uri="{FF2B5EF4-FFF2-40B4-BE49-F238E27FC236}">
                            <a16:creationId xmlns:a16="http://schemas.microsoft.com/office/drawing/2014/main" id="{C439103C-6051-4A14-85D6-0269A08C19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239" y="3851428"/>
                        <a:ext cx="7676450" cy="19335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61BB6E-4E44-4911-9FC8-3ADD04EE8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36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0433B8-B917-70E3-475A-481230425703}"/>
              </a:ext>
            </a:extLst>
          </p:cNvPr>
          <p:cNvSpPr txBox="1"/>
          <p:nvPr/>
        </p:nvSpPr>
        <p:spPr>
          <a:xfrm>
            <a:off x="1675921" y="584349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酉矩阵、正交矩阵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3">
            <a:extLst>
              <a:ext uri="{FF2B5EF4-FFF2-40B4-BE49-F238E27FC236}">
                <a16:creationId xmlns:a16="http://schemas.microsoft.com/office/drawing/2014/main" id="{DCF1599A-2BE0-4133-8D69-3349B17D56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93494"/>
              </p:ext>
            </p:extLst>
          </p:nvPr>
        </p:nvGraphicFramePr>
        <p:xfrm>
          <a:off x="1074945" y="1426245"/>
          <a:ext cx="8765471" cy="230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3" imgW="4330440" imgH="1193760" progId="Equation.DSMT4">
                  <p:embed/>
                </p:oleObj>
              </mc:Choice>
              <mc:Fallback>
                <p:oleObj name="Equation" r:id="rId3" imgW="4330440" imgH="1193760" progId="Equation.DSMT4">
                  <p:embed/>
                  <p:pic>
                    <p:nvPicPr>
                      <p:cNvPr id="5122" name="Object 3">
                        <a:extLst>
                          <a:ext uri="{FF2B5EF4-FFF2-40B4-BE49-F238E27FC236}">
                            <a16:creationId xmlns:a16="http://schemas.microsoft.com/office/drawing/2014/main" id="{DCF1599A-2BE0-4133-8D69-3349B17D56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945" y="1426245"/>
                        <a:ext cx="8765471" cy="230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5">
            <a:extLst>
              <a:ext uri="{FF2B5EF4-FFF2-40B4-BE49-F238E27FC236}">
                <a16:creationId xmlns:a16="http://schemas.microsoft.com/office/drawing/2014/main" id="{02BC2343-70DF-4572-87A4-0ECD68E3B6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2" y="2708275"/>
          <a:ext cx="284163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5" imgW="126890" imgH="190335" progId="Equation.DSMT4">
                  <p:embed/>
                </p:oleObj>
              </mc:Choice>
              <mc:Fallback>
                <p:oleObj name="Equation" r:id="rId5" imgW="126890" imgH="190335" progId="Equation.DSMT4">
                  <p:embed/>
                  <p:pic>
                    <p:nvPicPr>
                      <p:cNvPr id="5123" name="Object 5">
                        <a:extLst>
                          <a:ext uri="{FF2B5EF4-FFF2-40B4-BE49-F238E27FC236}">
                            <a16:creationId xmlns:a16="http://schemas.microsoft.com/office/drawing/2014/main" id="{02BC2343-70DF-4572-87A4-0ECD68E3B6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2" y="2708275"/>
                        <a:ext cx="284163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" name="Rectangle 10">
            <a:extLst>
              <a:ext uri="{FF2B5EF4-FFF2-40B4-BE49-F238E27FC236}">
                <a16:creationId xmlns:a16="http://schemas.microsoft.com/office/drawing/2014/main" id="{D4A2AEC8-002E-44B5-B19B-B95B6DC29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27" y="3866382"/>
            <a:ext cx="1371600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kumimoji="1"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证明：</a:t>
            </a:r>
          </a:p>
        </p:txBody>
      </p:sp>
      <p:graphicFrame>
        <p:nvGraphicFramePr>
          <p:cNvPr id="5132" name="Object 12">
            <a:extLst>
              <a:ext uri="{FF2B5EF4-FFF2-40B4-BE49-F238E27FC236}">
                <a16:creationId xmlns:a16="http://schemas.microsoft.com/office/drawing/2014/main" id="{1AD2247E-EEBD-41A6-95A8-7758B7B403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124805"/>
              </p:ext>
            </p:extLst>
          </p:nvPr>
        </p:nvGraphicFramePr>
        <p:xfrm>
          <a:off x="1228879" y="3995938"/>
          <a:ext cx="8611537" cy="2044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7" imgW="3975100" imgH="990600" progId="Equation.DSMT4">
                  <p:embed/>
                </p:oleObj>
              </mc:Choice>
              <mc:Fallback>
                <p:oleObj name="Equation" r:id="rId7" imgW="3975100" imgH="990600" progId="Equation.DSMT4">
                  <p:embed/>
                  <p:pic>
                    <p:nvPicPr>
                      <p:cNvPr id="5132" name="Object 12">
                        <a:extLst>
                          <a:ext uri="{FF2B5EF4-FFF2-40B4-BE49-F238E27FC236}">
                            <a16:creationId xmlns:a16="http://schemas.microsoft.com/office/drawing/2014/main" id="{1AD2247E-EEBD-41A6-95A8-7758B7B403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879" y="3995938"/>
                        <a:ext cx="8611537" cy="2044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2">
            <a:extLst>
              <a:ext uri="{FF2B5EF4-FFF2-40B4-BE49-F238E27FC236}">
                <a16:creationId xmlns:a16="http://schemas.microsoft.com/office/drawing/2014/main" id="{1333D050-7465-4D87-818F-D012C99681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77" y="5786440"/>
          <a:ext cx="29686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Equation" r:id="rId9" imgW="126890" imgH="190335" progId="Equation.DSMT4">
                  <p:embed/>
                </p:oleObj>
              </mc:Choice>
              <mc:Fallback>
                <p:oleObj name="Equation" r:id="rId9" imgW="126890" imgH="190335" progId="Equation.DSMT4">
                  <p:embed/>
                  <p:pic>
                    <p:nvPicPr>
                      <p:cNvPr id="5129" name="Object 2">
                        <a:extLst>
                          <a:ext uri="{FF2B5EF4-FFF2-40B4-BE49-F238E27FC236}">
                            <a16:creationId xmlns:a16="http://schemas.microsoft.com/office/drawing/2014/main" id="{1333D050-7465-4D87-818F-D012C99681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7" y="5786440"/>
                        <a:ext cx="296863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023A533E-5675-4BC2-8EC1-51238F0FDCB8}"/>
              </a:ext>
            </a:extLst>
          </p:cNvPr>
          <p:cNvSpPr txBox="1"/>
          <p:nvPr/>
        </p:nvSpPr>
        <p:spPr>
          <a:xfrm>
            <a:off x="1713265" y="615236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3.3.2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酉变换、正交变换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B1A350-5920-4F97-A83A-AF190A80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37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3">
            <a:extLst>
              <a:ext uri="{FF2B5EF4-FFF2-40B4-BE49-F238E27FC236}">
                <a16:creationId xmlns:a16="http://schemas.microsoft.com/office/drawing/2014/main" id="{5A4A87FC-1F00-41B8-A56D-0C3F542008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11331"/>
              </p:ext>
            </p:extLst>
          </p:nvPr>
        </p:nvGraphicFramePr>
        <p:xfrm>
          <a:off x="839416" y="1321621"/>
          <a:ext cx="8345487" cy="226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3" imgW="3390900" imgH="965200" progId="Equation.DSMT4">
                  <p:embed/>
                </p:oleObj>
              </mc:Choice>
              <mc:Fallback>
                <p:oleObj name="Equation" r:id="rId3" imgW="3390900" imgH="965200" progId="Equation.DSMT4">
                  <p:embed/>
                  <p:pic>
                    <p:nvPicPr>
                      <p:cNvPr id="6146" name="Object 3">
                        <a:extLst>
                          <a:ext uri="{FF2B5EF4-FFF2-40B4-BE49-F238E27FC236}">
                            <a16:creationId xmlns:a16="http://schemas.microsoft.com/office/drawing/2014/main" id="{5A4A87FC-1F00-41B8-A56D-0C3F542008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6" y="1321621"/>
                        <a:ext cx="8345487" cy="226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4">
            <a:extLst>
              <a:ext uri="{FF2B5EF4-FFF2-40B4-BE49-F238E27FC236}">
                <a16:creationId xmlns:a16="http://schemas.microsoft.com/office/drawing/2014/main" id="{684ED3D9-9FC3-4E3A-853F-17B9AC083E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614473"/>
              </p:ext>
            </p:extLst>
          </p:nvPr>
        </p:nvGraphicFramePr>
        <p:xfrm>
          <a:off x="838930" y="3598588"/>
          <a:ext cx="8099425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5" imgW="3619500" imgH="762000" progId="Equation.DSMT4">
                  <p:embed/>
                </p:oleObj>
              </mc:Choice>
              <mc:Fallback>
                <p:oleObj name="Equation" r:id="rId5" imgW="3619500" imgH="762000" progId="Equation.DSMT4">
                  <p:embed/>
                  <p:pic>
                    <p:nvPicPr>
                      <p:cNvPr id="6147" name="Object 4">
                        <a:extLst>
                          <a:ext uri="{FF2B5EF4-FFF2-40B4-BE49-F238E27FC236}">
                            <a16:creationId xmlns:a16="http://schemas.microsoft.com/office/drawing/2014/main" id="{684ED3D9-9FC3-4E3A-853F-17B9AC083E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930" y="3598588"/>
                        <a:ext cx="8099425" cy="170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5">
            <a:extLst>
              <a:ext uri="{FF2B5EF4-FFF2-40B4-BE49-F238E27FC236}">
                <a16:creationId xmlns:a16="http://schemas.microsoft.com/office/drawing/2014/main" id="{56C42F03-3899-4C4D-BC86-BE9459B35F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498670"/>
              </p:ext>
            </p:extLst>
          </p:nvPr>
        </p:nvGraphicFramePr>
        <p:xfrm>
          <a:off x="887979" y="5509966"/>
          <a:ext cx="5862638" cy="118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Equation" r:id="rId7" imgW="2514600" imgH="508000" progId="Equation.DSMT4">
                  <p:embed/>
                </p:oleObj>
              </mc:Choice>
              <mc:Fallback>
                <p:oleObj name="Equation" r:id="rId7" imgW="2514600" imgH="508000" progId="Equation.DSMT4">
                  <p:embed/>
                  <p:pic>
                    <p:nvPicPr>
                      <p:cNvPr id="6148" name="Object 5">
                        <a:extLst>
                          <a:ext uri="{FF2B5EF4-FFF2-40B4-BE49-F238E27FC236}">
                            <a16:creationId xmlns:a16="http://schemas.microsoft.com/office/drawing/2014/main" id="{56C42F03-3899-4C4D-BC86-BE9459B35F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979" y="5509966"/>
                        <a:ext cx="5862638" cy="1185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B37065-442A-4DF4-AEB2-68FAA48B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38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02AAAE-E8FC-49D1-4AD7-518C241FAFAD}"/>
              </a:ext>
            </a:extLst>
          </p:cNvPr>
          <p:cNvSpPr txBox="1"/>
          <p:nvPr/>
        </p:nvSpPr>
        <p:spPr>
          <a:xfrm>
            <a:off x="1713265" y="615236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3.3.2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酉变换、正交变换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E3E35A9D-2FBB-4C5F-B596-F709FB9184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211722"/>
              </p:ext>
            </p:extLst>
          </p:nvPr>
        </p:nvGraphicFramePr>
        <p:xfrm>
          <a:off x="879367" y="1267673"/>
          <a:ext cx="780573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3" imgW="3683000" imgH="304800" progId="Equation.DSMT4">
                  <p:embed/>
                </p:oleObj>
              </mc:Choice>
              <mc:Fallback>
                <p:oleObj name="Equation" r:id="rId3" imgW="3683000" imgH="304800" progId="Equation.DSMT4">
                  <p:embed/>
                  <p:pic>
                    <p:nvPicPr>
                      <p:cNvPr id="7170" name="Object 2">
                        <a:extLst>
                          <a:ext uri="{FF2B5EF4-FFF2-40B4-BE49-F238E27FC236}">
                            <a16:creationId xmlns:a16="http://schemas.microsoft.com/office/drawing/2014/main" id="{E3E35A9D-2FBB-4C5F-B596-F709FB9184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367" y="1267673"/>
                        <a:ext cx="780573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5">
            <a:extLst>
              <a:ext uri="{FF2B5EF4-FFF2-40B4-BE49-F238E27FC236}">
                <a16:creationId xmlns:a16="http://schemas.microsoft.com/office/drawing/2014/main" id="{9B37C251-F591-4874-85DA-EE32E5DCA4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520394"/>
              </p:ext>
            </p:extLst>
          </p:nvPr>
        </p:nvGraphicFramePr>
        <p:xfrm>
          <a:off x="1363554" y="1849383"/>
          <a:ext cx="6837362" cy="198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Equation" r:id="rId5" imgW="3225800" imgH="939800" progId="Equation.3">
                  <p:embed/>
                </p:oleObj>
              </mc:Choice>
              <mc:Fallback>
                <p:oleObj name="Equation" r:id="rId5" imgW="3225800" imgH="939800" progId="Equation.3">
                  <p:embed/>
                  <p:pic>
                    <p:nvPicPr>
                      <p:cNvPr id="7171" name="Object 5">
                        <a:extLst>
                          <a:ext uri="{FF2B5EF4-FFF2-40B4-BE49-F238E27FC236}">
                            <a16:creationId xmlns:a16="http://schemas.microsoft.com/office/drawing/2014/main" id="{9B37C251-F591-4874-85DA-EE32E5DCA4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554" y="1849383"/>
                        <a:ext cx="6837362" cy="198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>
            <a:extLst>
              <a:ext uri="{FF2B5EF4-FFF2-40B4-BE49-F238E27FC236}">
                <a16:creationId xmlns:a16="http://schemas.microsoft.com/office/drawing/2014/main" id="{5800468D-6BB3-4A99-9363-ED7874948B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113014"/>
              </p:ext>
            </p:extLst>
          </p:nvPr>
        </p:nvGraphicFramePr>
        <p:xfrm>
          <a:off x="1363554" y="3832171"/>
          <a:ext cx="8783638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Equation" r:id="rId7" imgW="4114800" imgH="672840" progId="Equation.DSMT4">
                  <p:embed/>
                </p:oleObj>
              </mc:Choice>
              <mc:Fallback>
                <p:oleObj name="Equation" r:id="rId7" imgW="4114800" imgH="672840" progId="Equation.DSMT4">
                  <p:embed/>
                  <p:pic>
                    <p:nvPicPr>
                      <p:cNvPr id="7174" name="Object 6">
                        <a:extLst>
                          <a:ext uri="{FF2B5EF4-FFF2-40B4-BE49-F238E27FC236}">
                            <a16:creationId xmlns:a16="http://schemas.microsoft.com/office/drawing/2014/main" id="{5800468D-6BB3-4A99-9363-ED7874948B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554" y="3832171"/>
                        <a:ext cx="8783638" cy="143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>
            <a:extLst>
              <a:ext uri="{FF2B5EF4-FFF2-40B4-BE49-F238E27FC236}">
                <a16:creationId xmlns:a16="http://schemas.microsoft.com/office/drawing/2014/main" id="{23CD158C-A0B4-4B6D-AAF1-694D2AD6A1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3112037"/>
              </p:ext>
            </p:extLst>
          </p:nvPr>
        </p:nvGraphicFramePr>
        <p:xfrm>
          <a:off x="2567608" y="5183386"/>
          <a:ext cx="533400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8" name="Equation" r:id="rId9" imgW="2171700" imgH="457200" progId="Equation.3">
                  <p:embed/>
                </p:oleObj>
              </mc:Choice>
              <mc:Fallback>
                <p:oleObj name="Equation" r:id="rId9" imgW="2171700" imgH="457200" progId="Equation.3">
                  <p:embed/>
                  <p:pic>
                    <p:nvPicPr>
                      <p:cNvPr id="7175" name="Object 7">
                        <a:extLst>
                          <a:ext uri="{FF2B5EF4-FFF2-40B4-BE49-F238E27FC236}">
                            <a16:creationId xmlns:a16="http://schemas.microsoft.com/office/drawing/2014/main" id="{23CD158C-A0B4-4B6D-AAF1-694D2AD6A1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5183386"/>
                        <a:ext cx="5334000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FDDF7188-65E8-485A-9140-1B60C7DCC2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93794"/>
              </p:ext>
            </p:extLst>
          </p:nvPr>
        </p:nvGraphicFramePr>
        <p:xfrm>
          <a:off x="1524684" y="6217528"/>
          <a:ext cx="708183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Equation" r:id="rId11" imgW="3200400" imgH="266400" progId="Equation.DSMT4">
                  <p:embed/>
                </p:oleObj>
              </mc:Choice>
              <mc:Fallback>
                <p:oleObj name="Equation" r:id="rId11" imgW="3200400" imgH="266400" progId="Equation.DSMT4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FDDF7188-65E8-485A-9140-1B60C7DCC2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684" y="6217528"/>
                        <a:ext cx="708183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B844C3-E80C-4801-BD22-DDD87D91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39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7C5F16-A362-A5F3-D7EF-DDC630A6D918}"/>
              </a:ext>
            </a:extLst>
          </p:cNvPr>
          <p:cNvSpPr txBox="1"/>
          <p:nvPr/>
        </p:nvSpPr>
        <p:spPr>
          <a:xfrm>
            <a:off x="1631504" y="636920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3.3.2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酉变换、正交变换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3">
            <a:extLst>
              <a:ext uri="{FF2B5EF4-FFF2-40B4-BE49-F238E27FC236}">
                <a16:creationId xmlns:a16="http://schemas.microsoft.com/office/drawing/2014/main" id="{ACA33FC1-0495-4B9E-A2C8-06DC53D63B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6263" y="1412777"/>
          <a:ext cx="7373937" cy="249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3" imgW="3454400" imgH="1168400" progId="Equation.3">
                  <p:embed/>
                </p:oleObj>
              </mc:Choice>
              <mc:Fallback>
                <p:oleObj name="Equation" r:id="rId3" imgW="3454400" imgH="1168400" progId="Equation.3">
                  <p:embed/>
                  <p:pic>
                    <p:nvPicPr>
                      <p:cNvPr id="8194" name="Object 3">
                        <a:extLst>
                          <a:ext uri="{FF2B5EF4-FFF2-40B4-BE49-F238E27FC236}">
                            <a16:creationId xmlns:a16="http://schemas.microsoft.com/office/drawing/2014/main" id="{ACA33FC1-0495-4B9E-A2C8-06DC53D63B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263" y="1412777"/>
                        <a:ext cx="7373937" cy="249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4">
            <a:extLst>
              <a:ext uri="{FF2B5EF4-FFF2-40B4-BE49-F238E27FC236}">
                <a16:creationId xmlns:a16="http://schemas.microsoft.com/office/drawing/2014/main" id="{2A4B786A-94C5-418A-AD46-A915F13977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553" y="4221089"/>
          <a:ext cx="6234113" cy="158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Equation" r:id="rId5" imgW="2730500" imgH="711200" progId="Equation.DSMT4">
                  <p:embed/>
                </p:oleObj>
              </mc:Choice>
              <mc:Fallback>
                <p:oleObj name="Equation" r:id="rId5" imgW="2730500" imgH="711200" progId="Equation.DSMT4">
                  <p:embed/>
                  <p:pic>
                    <p:nvPicPr>
                      <p:cNvPr id="8195" name="Object 4">
                        <a:extLst>
                          <a:ext uri="{FF2B5EF4-FFF2-40B4-BE49-F238E27FC236}">
                            <a16:creationId xmlns:a16="http://schemas.microsoft.com/office/drawing/2014/main" id="{2A4B786A-94C5-418A-AD46-A915F13977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3" y="4221089"/>
                        <a:ext cx="6234113" cy="158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070126-AB5B-4336-8A6E-BA3F1271C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40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5AA8DC-A576-E2C3-8AF3-56D704096DE0}"/>
              </a:ext>
            </a:extLst>
          </p:cNvPr>
          <p:cNvSpPr txBox="1"/>
          <p:nvPr/>
        </p:nvSpPr>
        <p:spPr>
          <a:xfrm>
            <a:off x="1713265" y="615236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3.3.2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酉变换、正交变换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7C8384F3-D14F-4994-AFB1-A31CBDEEA1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426369"/>
              </p:ext>
            </p:extLst>
          </p:nvPr>
        </p:nvGraphicFramePr>
        <p:xfrm>
          <a:off x="5663952" y="2020119"/>
          <a:ext cx="3408362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Equation" r:id="rId3" imgW="1409088" imgH="431613" progId="Equation.3">
                  <p:embed/>
                </p:oleObj>
              </mc:Choice>
              <mc:Fallback>
                <p:oleObj name="Equation" r:id="rId3" imgW="1409088" imgH="431613" progId="Equation.3">
                  <p:embed/>
                  <p:pic>
                    <p:nvPicPr>
                      <p:cNvPr id="9218" name="Object 2">
                        <a:extLst>
                          <a:ext uri="{FF2B5EF4-FFF2-40B4-BE49-F238E27FC236}">
                            <a16:creationId xmlns:a16="http://schemas.microsoft.com/office/drawing/2014/main" id="{7C8384F3-D14F-4994-AFB1-A31CBDEEA1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952" y="2020119"/>
                        <a:ext cx="3408362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id="{C60496AC-9214-4FA4-B10A-FA159C0C4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2601"/>
              </p:ext>
            </p:extLst>
          </p:nvPr>
        </p:nvGraphicFramePr>
        <p:xfrm>
          <a:off x="5635109" y="3023419"/>
          <a:ext cx="281940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name="Equation" r:id="rId5" imgW="1079032" imgH="431613" progId="Equation.3">
                  <p:embed/>
                </p:oleObj>
              </mc:Choice>
              <mc:Fallback>
                <p:oleObj name="Equation" r:id="rId5" imgW="1079032" imgH="431613" progId="Equation.3">
                  <p:embed/>
                  <p:pic>
                    <p:nvPicPr>
                      <p:cNvPr id="9219" name="Object 3">
                        <a:extLst>
                          <a:ext uri="{FF2B5EF4-FFF2-40B4-BE49-F238E27FC236}">
                            <a16:creationId xmlns:a16="http://schemas.microsoft.com/office/drawing/2014/main" id="{C60496AC-9214-4FA4-B10A-FA159C0C4A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109" y="3023419"/>
                        <a:ext cx="281940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4">
            <a:extLst>
              <a:ext uri="{FF2B5EF4-FFF2-40B4-BE49-F238E27FC236}">
                <a16:creationId xmlns:a16="http://schemas.microsoft.com/office/drawing/2014/main" id="{E1424F53-268B-4F80-B56B-9CE1B4CB9A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517907"/>
              </p:ext>
            </p:extLst>
          </p:nvPr>
        </p:nvGraphicFramePr>
        <p:xfrm>
          <a:off x="5663952" y="4042706"/>
          <a:ext cx="1879600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Equation" r:id="rId7" imgW="710891" imgH="431613" progId="Equation.DSMT4">
                  <p:embed/>
                </p:oleObj>
              </mc:Choice>
              <mc:Fallback>
                <p:oleObj name="Equation" r:id="rId7" imgW="710891" imgH="431613" progId="Equation.DSMT4">
                  <p:embed/>
                  <p:pic>
                    <p:nvPicPr>
                      <p:cNvPr id="9220" name="Object 4">
                        <a:extLst>
                          <a:ext uri="{FF2B5EF4-FFF2-40B4-BE49-F238E27FC236}">
                            <a16:creationId xmlns:a16="http://schemas.microsoft.com/office/drawing/2014/main" id="{E1424F53-268B-4F80-B56B-9CE1B4CB9A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952" y="4042706"/>
                        <a:ext cx="1879600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221" name="Text Box 5">
                <a:extLst>
                  <a:ext uri="{FF2B5EF4-FFF2-40B4-BE49-F238E27FC236}">
                    <a16:creationId xmlns:a16="http://schemas.microsoft.com/office/drawing/2014/main" id="{01838CE9-2746-48E7-A432-AC6E99777B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8524" y="5062707"/>
                <a:ext cx="891495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50000"/>
                  </a:spcBef>
                  <a:buNone/>
                  <a:defRPr/>
                </a:pPr>
                <a:r>
                  <a:rPr lang="zh-CN" altLang="en-US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即</a:t>
                </a:r>
                <a:r>
                  <a:rPr lang="en-US" altLang="zh-CN" i="1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A</a:t>
                </a:r>
                <a:r>
                  <a:rPr lang="zh-CN" altLang="en-US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的列向量是标准正交向量组，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/>
                      </a:rPr>
                      <m:t>𝐴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为酉矩阵</a:t>
                </a:r>
                <a:r>
                  <a:rPr lang="en-US" altLang="zh-CN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(</a:t>
                </a:r>
                <a:r>
                  <a:rPr lang="zh-CN" altLang="en-US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正交矩阵</a:t>
                </a:r>
                <a:r>
                  <a:rPr lang="en-US" altLang="zh-CN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)</a:t>
                </a:r>
                <a:endParaRPr lang="en-US" altLang="zh-CN" i="1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221" name="Text Box 5">
                <a:extLst>
                  <a:ext uri="{FF2B5EF4-FFF2-40B4-BE49-F238E27FC236}">
                    <a16:creationId xmlns:a16="http://schemas.microsoft.com/office/drawing/2014/main" id="{01838CE9-2746-48E7-A432-AC6E99777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8524" y="5062707"/>
                <a:ext cx="8914952" cy="523220"/>
              </a:xfrm>
              <a:prstGeom prst="rect">
                <a:avLst/>
              </a:prstGeom>
              <a:blipFill>
                <a:blip r:embed="rId9"/>
                <a:stretch>
                  <a:fillRect l="-1436" t="-11628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231" name="Object 15">
            <a:extLst>
              <a:ext uri="{FF2B5EF4-FFF2-40B4-BE49-F238E27FC236}">
                <a16:creationId xmlns:a16="http://schemas.microsoft.com/office/drawing/2014/main" id="{8C97ECAF-E920-47E0-AAA2-A3C8F40407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033285"/>
              </p:ext>
            </p:extLst>
          </p:nvPr>
        </p:nvGraphicFramePr>
        <p:xfrm>
          <a:off x="2207568" y="5759308"/>
          <a:ext cx="208121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6" name="Equation" r:id="rId10" imgW="787058" imgH="203112" progId="Equation.3">
                  <p:embed/>
                </p:oleObj>
              </mc:Choice>
              <mc:Fallback>
                <p:oleObj name="Equation" r:id="rId10" imgW="787058" imgH="203112" progId="Equation.3">
                  <p:embed/>
                  <p:pic>
                    <p:nvPicPr>
                      <p:cNvPr id="9231" name="Object 15">
                        <a:extLst>
                          <a:ext uri="{FF2B5EF4-FFF2-40B4-BE49-F238E27FC236}">
                            <a16:creationId xmlns:a16="http://schemas.microsoft.com/office/drawing/2014/main" id="{8C97ECAF-E920-47E0-AAA2-A3C8F40407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5759308"/>
                        <a:ext cx="208121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Object 5">
            <a:extLst>
              <a:ext uri="{FF2B5EF4-FFF2-40B4-BE49-F238E27FC236}">
                <a16:creationId xmlns:a16="http://schemas.microsoft.com/office/drawing/2014/main" id="{92A79846-7026-4468-9ADF-4FEE638CCB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3575" y="1127721"/>
          <a:ext cx="685800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name="Equation" r:id="rId12" imgW="3238500" imgH="457200" progId="Equation.3">
                  <p:embed/>
                </p:oleObj>
              </mc:Choice>
              <mc:Fallback>
                <p:oleObj name="Equation" r:id="rId12" imgW="3238500" imgH="457200" progId="Equation.3">
                  <p:embed/>
                  <p:pic>
                    <p:nvPicPr>
                      <p:cNvPr id="9226" name="Object 5">
                        <a:extLst>
                          <a:ext uri="{FF2B5EF4-FFF2-40B4-BE49-F238E27FC236}">
                            <a16:creationId xmlns:a16="http://schemas.microsoft.com/office/drawing/2014/main" id="{92A79846-7026-4468-9ADF-4FEE638CCB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75" y="1127721"/>
                        <a:ext cx="6858000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682127-D109-4904-ABC6-C22000F1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41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49B92B-B421-3338-6056-BD620EE1CC13}"/>
              </a:ext>
            </a:extLst>
          </p:cNvPr>
          <p:cNvSpPr txBox="1"/>
          <p:nvPr/>
        </p:nvSpPr>
        <p:spPr>
          <a:xfrm>
            <a:off x="1713265" y="615236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3.3.2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酉变换、正交变换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3">
            <a:extLst>
              <a:ext uri="{FF2B5EF4-FFF2-40B4-BE49-F238E27FC236}">
                <a16:creationId xmlns:a16="http://schemas.microsoft.com/office/drawing/2014/main" id="{E756358C-94E3-415A-B7B7-53D2A37B21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04394"/>
              </p:ext>
            </p:extLst>
          </p:nvPr>
        </p:nvGraphicFramePr>
        <p:xfrm>
          <a:off x="1612900" y="1316291"/>
          <a:ext cx="6883400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3" imgW="2552400" imgH="698400" progId="Equation.DSMT4">
                  <p:embed/>
                </p:oleObj>
              </mc:Choice>
              <mc:Fallback>
                <p:oleObj name="Equation" r:id="rId3" imgW="2552400" imgH="698400" progId="Equation.DSMT4">
                  <p:embed/>
                  <p:pic>
                    <p:nvPicPr>
                      <p:cNvPr id="10242" name="Object 3">
                        <a:extLst>
                          <a:ext uri="{FF2B5EF4-FFF2-40B4-BE49-F238E27FC236}">
                            <a16:creationId xmlns:a16="http://schemas.microsoft.com/office/drawing/2014/main" id="{E756358C-94E3-415A-B7B7-53D2A37B21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1316291"/>
                        <a:ext cx="6883400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Rectangle 4">
            <a:extLst>
              <a:ext uri="{FF2B5EF4-FFF2-40B4-BE49-F238E27FC236}">
                <a16:creationId xmlns:a16="http://schemas.microsoft.com/office/drawing/2014/main" id="{0B13AD52-3B78-4626-83C9-6CB70838F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5520" y="3395553"/>
            <a:ext cx="990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kumimoji="1" lang="zh-CN" altLang="en-US" sz="32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解：</a:t>
            </a:r>
          </a:p>
        </p:txBody>
      </p:sp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9BE88E5F-1094-4F2F-ABDD-B796C50953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617092"/>
              </p:ext>
            </p:extLst>
          </p:nvPr>
        </p:nvGraphicFramePr>
        <p:xfrm>
          <a:off x="3695700" y="4333622"/>
          <a:ext cx="48006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Equation" r:id="rId5" imgW="1943100" imgH="254000" progId="Equation.3">
                  <p:embed/>
                </p:oleObj>
              </mc:Choice>
              <mc:Fallback>
                <p:oleObj name="Equation" r:id="rId5" imgW="1943100" imgH="254000" progId="Equation.3">
                  <p:embed/>
                  <p:pic>
                    <p:nvPicPr>
                      <p:cNvPr id="10246" name="Object 6">
                        <a:extLst>
                          <a:ext uri="{FF2B5EF4-FFF2-40B4-BE49-F238E27FC236}">
                            <a16:creationId xmlns:a16="http://schemas.microsoft.com/office/drawing/2014/main" id="{9BE88E5F-1094-4F2F-ABDD-B796C50953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4333622"/>
                        <a:ext cx="48006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>
            <a:extLst>
              <a:ext uri="{FF2B5EF4-FFF2-40B4-BE49-F238E27FC236}">
                <a16:creationId xmlns:a16="http://schemas.microsoft.com/office/drawing/2014/main" id="{CF738C46-D621-4867-B521-F9E29BA9A9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505643"/>
              </p:ext>
            </p:extLst>
          </p:nvPr>
        </p:nvGraphicFramePr>
        <p:xfrm>
          <a:off x="2423592" y="3429000"/>
          <a:ext cx="59023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Equation" r:id="rId7" imgW="2578100" imgH="292100" progId="Equation.3">
                  <p:embed/>
                </p:oleObj>
              </mc:Choice>
              <mc:Fallback>
                <p:oleObj name="Equation" r:id="rId7" imgW="2578100" imgH="292100" progId="Equation.3">
                  <p:embed/>
                  <p:pic>
                    <p:nvPicPr>
                      <p:cNvPr id="10245" name="Object 5">
                        <a:extLst>
                          <a:ext uri="{FF2B5EF4-FFF2-40B4-BE49-F238E27FC236}">
                            <a16:creationId xmlns:a16="http://schemas.microsoft.com/office/drawing/2014/main" id="{CF738C46-D621-4867-B521-F9E29BA9A9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3429000"/>
                        <a:ext cx="590232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>
            <a:extLst>
              <a:ext uri="{FF2B5EF4-FFF2-40B4-BE49-F238E27FC236}">
                <a16:creationId xmlns:a16="http://schemas.microsoft.com/office/drawing/2014/main" id="{EEFBB077-E4BE-4D86-ACDF-5D16EAF0BA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84641"/>
              </p:ext>
            </p:extLst>
          </p:nvPr>
        </p:nvGraphicFramePr>
        <p:xfrm>
          <a:off x="3431704" y="5059109"/>
          <a:ext cx="468312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" name="Equation" r:id="rId9" imgW="1714500" imgH="482600" progId="Equation.DSMT4">
                  <p:embed/>
                </p:oleObj>
              </mc:Choice>
              <mc:Fallback>
                <p:oleObj name="Equation" r:id="rId9" imgW="1714500" imgH="482600" progId="Equation.DSMT4">
                  <p:embed/>
                  <p:pic>
                    <p:nvPicPr>
                      <p:cNvPr id="10247" name="Object 7">
                        <a:extLst>
                          <a:ext uri="{FF2B5EF4-FFF2-40B4-BE49-F238E27FC236}">
                            <a16:creationId xmlns:a16="http://schemas.microsoft.com/office/drawing/2014/main" id="{EEFBB077-E4BE-4D86-ACDF-5D16EAF0BA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5059109"/>
                        <a:ext cx="4683125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2DC2C7-EAA3-44CC-B066-B5F161BF3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42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2B3E37-CF3A-8876-6320-4A2462E64F56}"/>
              </a:ext>
            </a:extLst>
          </p:cNvPr>
          <p:cNvSpPr txBox="1"/>
          <p:nvPr/>
        </p:nvSpPr>
        <p:spPr>
          <a:xfrm>
            <a:off x="1713265" y="615236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3.3.2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酉变换、正交变换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5">
            <a:extLst>
              <a:ext uri="{FF2B5EF4-FFF2-40B4-BE49-F238E27FC236}">
                <a16:creationId xmlns:a16="http://schemas.microsoft.com/office/drawing/2014/main" id="{ADB42770-86FC-43C7-9812-58FB36498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014679"/>
              </p:ext>
            </p:extLst>
          </p:nvPr>
        </p:nvGraphicFramePr>
        <p:xfrm>
          <a:off x="1847529" y="1340768"/>
          <a:ext cx="7906680" cy="3960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Equation" r:id="rId3" imgW="4686120" imgH="2361960" progId="Equation.DSMT4">
                  <p:embed/>
                </p:oleObj>
              </mc:Choice>
              <mc:Fallback>
                <p:oleObj name="Equation" r:id="rId3" imgW="4686120" imgH="2361960" progId="Equation.DSMT4">
                  <p:embed/>
                  <p:pic>
                    <p:nvPicPr>
                      <p:cNvPr id="11266" name="Object 5">
                        <a:extLst>
                          <a:ext uri="{FF2B5EF4-FFF2-40B4-BE49-F238E27FC236}">
                            <a16:creationId xmlns:a16="http://schemas.microsoft.com/office/drawing/2014/main" id="{ADB42770-86FC-43C7-9812-58FB36498E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9" y="1340768"/>
                        <a:ext cx="7906680" cy="3960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489C025-5F52-4D71-9106-14FBC71117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529" y="5544936"/>
          <a:ext cx="53689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Equation" r:id="rId5" imgW="2413000" imgH="241300" progId="Equation.DSMT4">
                  <p:embed/>
                </p:oleObj>
              </mc:Choice>
              <mc:Fallback>
                <p:oleObj name="Equation" r:id="rId5" imgW="2413000" imgH="2413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489C025-5F52-4D71-9106-14FBC71117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9" y="5544936"/>
                        <a:ext cx="53689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EDEA745-C6EC-4171-8C05-3F1D9C6F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43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61F587-08F0-EF03-F626-BC7B5DE0F19A}"/>
              </a:ext>
            </a:extLst>
          </p:cNvPr>
          <p:cNvSpPr txBox="1"/>
          <p:nvPr/>
        </p:nvSpPr>
        <p:spPr>
          <a:xfrm>
            <a:off x="1713265" y="615236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3.3.2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酉变换、正交变换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68E7D-5707-48DA-ACBF-7903B19740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3.4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幂等矩阵、正交投影</a:t>
            </a:r>
          </a:p>
        </p:txBody>
      </p:sp>
    </p:spTree>
    <p:extLst>
      <p:ext uri="{BB962C8B-B14F-4D97-AF65-F5344CB8AC3E}">
        <p14:creationId xmlns:p14="http://schemas.microsoft.com/office/powerpoint/2010/main" val="30379214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5">
            <a:extLst>
              <a:ext uri="{FF2B5EF4-FFF2-40B4-BE49-F238E27FC236}">
                <a16:creationId xmlns:a16="http://schemas.microsoft.com/office/drawing/2014/main" id="{9134D485-842C-4DB8-83EF-D5FDD2DC4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664" y="1378322"/>
            <a:ext cx="18938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defTabSz="457200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en-US" altLang="zh-CN" sz="28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4.1</a:t>
            </a:r>
          </a:p>
        </p:txBody>
      </p:sp>
      <p:graphicFrame>
        <p:nvGraphicFramePr>
          <p:cNvPr id="3079" name="Object 7">
            <a:extLst>
              <a:ext uri="{FF2B5EF4-FFF2-40B4-BE49-F238E27FC236}">
                <a16:creationId xmlns:a16="http://schemas.microsoft.com/office/drawing/2014/main" id="{6C0ACF45-CAB6-4FD2-A8EB-F48515AFF9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659619"/>
              </p:ext>
            </p:extLst>
          </p:nvPr>
        </p:nvGraphicFramePr>
        <p:xfrm>
          <a:off x="1276053" y="1403864"/>
          <a:ext cx="7766347" cy="531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name="Equation" r:id="rId3" imgW="3340100" imgH="228600" progId="Equation.DSMT4">
                  <p:embed/>
                </p:oleObj>
              </mc:Choice>
              <mc:Fallback>
                <p:oleObj name="Equation" r:id="rId3" imgW="3340100" imgH="228600" progId="Equation.DSMT4">
                  <p:embed/>
                  <p:pic>
                    <p:nvPicPr>
                      <p:cNvPr id="3079" name="Object 7">
                        <a:extLst>
                          <a:ext uri="{FF2B5EF4-FFF2-40B4-BE49-F238E27FC236}">
                            <a16:creationId xmlns:a16="http://schemas.microsoft.com/office/drawing/2014/main" id="{6C0ACF45-CAB6-4FD2-A8EB-F48515AFF9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053" y="1403864"/>
                        <a:ext cx="7766347" cy="531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8">
            <a:extLst>
              <a:ext uri="{FF2B5EF4-FFF2-40B4-BE49-F238E27FC236}">
                <a16:creationId xmlns:a16="http://schemas.microsoft.com/office/drawing/2014/main" id="{4F758C4B-8A6F-4A61-9D7B-4F1C775DF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116581"/>
              </p:ext>
            </p:extLst>
          </p:nvPr>
        </p:nvGraphicFramePr>
        <p:xfrm>
          <a:off x="1487488" y="2128746"/>
          <a:ext cx="6596538" cy="2085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Equation" r:id="rId5" imgW="2895480" imgH="914400" progId="Equation.DSMT4">
                  <p:embed/>
                </p:oleObj>
              </mc:Choice>
              <mc:Fallback>
                <p:oleObj name="Equation" r:id="rId5" imgW="2895480" imgH="914400" progId="Equation.DSMT4">
                  <p:embed/>
                  <p:pic>
                    <p:nvPicPr>
                      <p:cNvPr id="3080" name="Object 8">
                        <a:extLst>
                          <a:ext uri="{FF2B5EF4-FFF2-40B4-BE49-F238E27FC236}">
                            <a16:creationId xmlns:a16="http://schemas.microsoft.com/office/drawing/2014/main" id="{4F758C4B-8A6F-4A61-9D7B-4F1C775DF4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2128746"/>
                        <a:ext cx="6596538" cy="2085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对象 1">
            <a:extLst>
              <a:ext uri="{FF2B5EF4-FFF2-40B4-BE49-F238E27FC236}">
                <a16:creationId xmlns:a16="http://schemas.microsoft.com/office/drawing/2014/main" id="{E45D3524-7769-4882-924B-FD7261B200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21104"/>
              </p:ext>
            </p:extLst>
          </p:nvPr>
        </p:nvGraphicFramePr>
        <p:xfrm>
          <a:off x="1507583" y="4653136"/>
          <a:ext cx="5336889" cy="484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Equation" r:id="rId7" imgW="2235200" imgH="203200" progId="Equation.DSMT4">
                  <p:embed/>
                </p:oleObj>
              </mc:Choice>
              <mc:Fallback>
                <p:oleObj name="Equation" r:id="rId7" imgW="2235200" imgH="203200" progId="Equation.DSMT4">
                  <p:embed/>
                  <p:pic>
                    <p:nvPicPr>
                      <p:cNvPr id="2058" name="对象 1">
                        <a:extLst>
                          <a:ext uri="{FF2B5EF4-FFF2-40B4-BE49-F238E27FC236}">
                            <a16:creationId xmlns:a16="http://schemas.microsoft.com/office/drawing/2014/main" id="{E45D3524-7769-4882-924B-FD7261B200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583" y="4653136"/>
                        <a:ext cx="5336889" cy="4845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911240" y="597626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3.4.1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幂等矩阵、投影变换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45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3">
            <a:extLst>
              <a:ext uri="{FF2B5EF4-FFF2-40B4-BE49-F238E27FC236}">
                <a16:creationId xmlns:a16="http://schemas.microsoft.com/office/drawing/2014/main" id="{C968E6C4-8FB1-45AF-83A0-EEBF32F9E5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416" y="1358020"/>
            <a:ext cx="1464785" cy="484125"/>
          </a:xfrm>
        </p:spPr>
        <p:txBody>
          <a:bodyPr/>
          <a:lstStyle/>
          <a:p>
            <a:pPr eaLnBrk="1" hangingPunct="1"/>
            <a:r>
              <a:rPr lang="zh-CN" altLang="en-US" sz="2400" b="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定理</a:t>
            </a:r>
            <a:r>
              <a:rPr lang="en-US" altLang="zh-CN" sz="2400" b="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4.1</a:t>
            </a:r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E9B31D60-3A56-455B-955C-626F6A3577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765372"/>
              </p:ext>
            </p:extLst>
          </p:nvPr>
        </p:nvGraphicFramePr>
        <p:xfrm>
          <a:off x="1199456" y="1410076"/>
          <a:ext cx="8272462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Equation" r:id="rId3" imgW="3860640" imgH="482400" progId="Equation.DSMT4">
                  <p:embed/>
                </p:oleObj>
              </mc:Choice>
              <mc:Fallback>
                <p:oleObj name="Equation" r:id="rId3" imgW="3860640" imgH="482400" progId="Equation.DSMT4">
                  <p:embed/>
                  <p:pic>
                    <p:nvPicPr>
                      <p:cNvPr id="2050" name="Object 4">
                        <a:extLst>
                          <a:ext uri="{FF2B5EF4-FFF2-40B4-BE49-F238E27FC236}">
                            <a16:creationId xmlns:a16="http://schemas.microsoft.com/office/drawing/2014/main" id="{E9B31D60-3A56-455B-955C-626F6A3577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9456" y="1410076"/>
                        <a:ext cx="8272462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>
            <a:extLst>
              <a:ext uri="{FF2B5EF4-FFF2-40B4-BE49-F238E27FC236}">
                <a16:creationId xmlns:a16="http://schemas.microsoft.com/office/drawing/2014/main" id="{B1BAD156-0F74-4B7D-B9ED-9FA39D3181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24153"/>
              </p:ext>
            </p:extLst>
          </p:nvPr>
        </p:nvGraphicFramePr>
        <p:xfrm>
          <a:off x="3431704" y="1937400"/>
          <a:ext cx="3417354" cy="96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1" name="Equation" r:id="rId5" imgW="1612900" imgH="457200" progId="Equation.DSMT4">
                  <p:embed/>
                </p:oleObj>
              </mc:Choice>
              <mc:Fallback>
                <p:oleObj name="Equation" r:id="rId5" imgW="1612900" imgH="457200" progId="Equation.DSMT4">
                  <p:embed/>
                  <p:pic>
                    <p:nvPicPr>
                      <p:cNvPr id="2051" name="Object 5">
                        <a:extLst>
                          <a:ext uri="{FF2B5EF4-FFF2-40B4-BE49-F238E27FC236}">
                            <a16:creationId xmlns:a16="http://schemas.microsoft.com/office/drawing/2014/main" id="{B1BAD156-0F74-4B7D-B9ED-9FA39D3181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1937400"/>
                        <a:ext cx="3417354" cy="96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6">
            <a:extLst>
              <a:ext uri="{FF2B5EF4-FFF2-40B4-BE49-F238E27FC236}">
                <a16:creationId xmlns:a16="http://schemas.microsoft.com/office/drawing/2014/main" id="{664DEF55-6BFD-4F0B-8A9F-4B3155EE4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643" y="2784285"/>
            <a:ext cx="1371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defTabSz="457200">
              <a:defRPr/>
            </a:pPr>
            <a:r>
              <a:rPr kumimoji="1" lang="zh-CN" altLang="en-US" sz="2400" dirty="0">
                <a:solidFill>
                  <a:srgbClr val="1F3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证明：</a:t>
            </a:r>
          </a:p>
        </p:txBody>
      </p:sp>
      <p:graphicFrame>
        <p:nvGraphicFramePr>
          <p:cNvPr id="7175" name="Object 7">
            <a:extLst>
              <a:ext uri="{FF2B5EF4-FFF2-40B4-BE49-F238E27FC236}">
                <a16:creationId xmlns:a16="http://schemas.microsoft.com/office/drawing/2014/main" id="{F3AC0A01-2653-4CFE-A605-6FBDD7F0A3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150917"/>
              </p:ext>
            </p:extLst>
          </p:nvPr>
        </p:nvGraphicFramePr>
        <p:xfrm>
          <a:off x="983432" y="2905650"/>
          <a:ext cx="78374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2" name="Equation" r:id="rId7" imgW="3619440" imgH="241200" progId="Equation.DSMT4">
                  <p:embed/>
                </p:oleObj>
              </mc:Choice>
              <mc:Fallback>
                <p:oleObj name="Equation" r:id="rId7" imgW="3619440" imgH="241200" progId="Equation.DSMT4">
                  <p:embed/>
                  <p:pic>
                    <p:nvPicPr>
                      <p:cNvPr id="7175" name="Object 7">
                        <a:extLst>
                          <a:ext uri="{FF2B5EF4-FFF2-40B4-BE49-F238E27FC236}">
                            <a16:creationId xmlns:a16="http://schemas.microsoft.com/office/drawing/2014/main" id="{F3AC0A01-2653-4CFE-A605-6FBDD7F0A3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2905650"/>
                        <a:ext cx="783748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8">
            <a:extLst>
              <a:ext uri="{FF2B5EF4-FFF2-40B4-BE49-F238E27FC236}">
                <a16:creationId xmlns:a16="http://schemas.microsoft.com/office/drawing/2014/main" id="{E1D20092-D625-4500-A40E-366EE716A8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882442"/>
              </p:ext>
            </p:extLst>
          </p:nvPr>
        </p:nvGraphicFramePr>
        <p:xfrm>
          <a:off x="1571808" y="3497778"/>
          <a:ext cx="8137673" cy="1938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3" name="Equation" r:id="rId9" imgW="4318000" imgH="1028700" progId="Equation.DSMT4">
                  <p:embed/>
                </p:oleObj>
              </mc:Choice>
              <mc:Fallback>
                <p:oleObj name="Equation" r:id="rId9" imgW="4318000" imgH="1028700" progId="Equation.DSMT4">
                  <p:embed/>
                  <p:pic>
                    <p:nvPicPr>
                      <p:cNvPr id="7176" name="Object 8">
                        <a:extLst>
                          <a:ext uri="{FF2B5EF4-FFF2-40B4-BE49-F238E27FC236}">
                            <a16:creationId xmlns:a16="http://schemas.microsoft.com/office/drawing/2014/main" id="{E1D20092-D625-4500-A40E-366EE716A8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808" y="3497778"/>
                        <a:ext cx="8137673" cy="19386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3" name="Object 3">
            <a:extLst>
              <a:ext uri="{FF2B5EF4-FFF2-40B4-BE49-F238E27FC236}">
                <a16:creationId xmlns:a16="http://schemas.microsoft.com/office/drawing/2014/main" id="{A37CD287-2E57-4477-8496-5E09CB7FA5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051168"/>
              </p:ext>
            </p:extLst>
          </p:nvPr>
        </p:nvGraphicFramePr>
        <p:xfrm>
          <a:off x="1487488" y="5399992"/>
          <a:ext cx="7056412" cy="567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4" name="Equation" r:id="rId11" imgW="3162300" imgH="254000" progId="Equation.3">
                  <p:embed/>
                </p:oleObj>
              </mc:Choice>
              <mc:Fallback>
                <p:oleObj name="Equation" r:id="rId11" imgW="3162300" imgH="254000" progId="Equation.3">
                  <p:embed/>
                  <p:pic>
                    <p:nvPicPr>
                      <p:cNvPr id="3083" name="Object 3">
                        <a:extLst>
                          <a:ext uri="{FF2B5EF4-FFF2-40B4-BE49-F238E27FC236}">
                            <a16:creationId xmlns:a16="http://schemas.microsoft.com/office/drawing/2014/main" id="{A37CD287-2E57-4477-8496-5E09CB7FA5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5399992"/>
                        <a:ext cx="7056412" cy="5670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3FB96E64-71A1-4DBB-8FBE-83849D49B9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499421"/>
              </p:ext>
            </p:extLst>
          </p:nvPr>
        </p:nvGraphicFramePr>
        <p:xfrm>
          <a:off x="1487488" y="6050031"/>
          <a:ext cx="6647978" cy="54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5" name="Equation" r:id="rId13" imgW="3086100" imgH="254000" progId="Equation.3">
                  <p:embed/>
                </p:oleObj>
              </mc:Choice>
              <mc:Fallback>
                <p:oleObj name="Equation" r:id="rId13" imgW="3086100" imgH="254000" progId="Equation.3">
                  <p:embed/>
                  <p:pic>
                    <p:nvPicPr>
                      <p:cNvPr id="13" name="Object 4">
                        <a:extLst>
                          <a:ext uri="{FF2B5EF4-FFF2-40B4-BE49-F238E27FC236}">
                            <a16:creationId xmlns:a16="http://schemas.microsoft.com/office/drawing/2014/main" id="{3FB96E64-71A1-4DBB-8FBE-83849D49B9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6050031"/>
                        <a:ext cx="6647978" cy="54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AC6CA3A8-99BA-4D30-80E1-B472D25CF561}"/>
              </a:ext>
            </a:extLst>
          </p:cNvPr>
          <p:cNvSpPr txBox="1"/>
          <p:nvPr/>
        </p:nvSpPr>
        <p:spPr>
          <a:xfrm>
            <a:off x="1707082" y="570199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3.4.1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幂等矩阵、投影变换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231DAE-14DE-491B-BE5B-C63AC113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46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5">
            <a:extLst>
              <a:ext uri="{FF2B5EF4-FFF2-40B4-BE49-F238E27FC236}">
                <a16:creationId xmlns:a16="http://schemas.microsoft.com/office/drawing/2014/main" id="{FED02935-2D15-4D7A-BD4E-5F0946AC69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923107"/>
              </p:ext>
            </p:extLst>
          </p:nvPr>
        </p:nvGraphicFramePr>
        <p:xfrm>
          <a:off x="1299294" y="1461371"/>
          <a:ext cx="5006417" cy="563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3" name="Equation" r:id="rId3" imgW="2032000" imgH="228600" progId="Equation.3">
                  <p:embed/>
                </p:oleObj>
              </mc:Choice>
              <mc:Fallback>
                <p:oleObj name="Equation" r:id="rId3" imgW="2032000" imgH="228600" progId="Equation.3">
                  <p:embed/>
                  <p:pic>
                    <p:nvPicPr>
                      <p:cNvPr id="3074" name="Object 5">
                        <a:extLst>
                          <a:ext uri="{FF2B5EF4-FFF2-40B4-BE49-F238E27FC236}">
                            <a16:creationId xmlns:a16="http://schemas.microsoft.com/office/drawing/2014/main" id="{FED02935-2D15-4D7A-BD4E-5F0946AC69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9294" y="1461371"/>
                        <a:ext cx="5006417" cy="563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6">
            <a:extLst>
              <a:ext uri="{FF2B5EF4-FFF2-40B4-BE49-F238E27FC236}">
                <a16:creationId xmlns:a16="http://schemas.microsoft.com/office/drawing/2014/main" id="{19671320-E2AE-4E1F-84B9-19A22D5616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509692"/>
              </p:ext>
            </p:extLst>
          </p:nvPr>
        </p:nvGraphicFramePr>
        <p:xfrm>
          <a:off x="6168008" y="1301508"/>
          <a:ext cx="3096344" cy="1041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4" name="Equation" r:id="rId5" imgW="1358900" imgH="457200" progId="Equation.3">
                  <p:embed/>
                </p:oleObj>
              </mc:Choice>
              <mc:Fallback>
                <p:oleObj name="Equation" r:id="rId5" imgW="1358900" imgH="457200" progId="Equation.3">
                  <p:embed/>
                  <p:pic>
                    <p:nvPicPr>
                      <p:cNvPr id="3075" name="Object 6">
                        <a:extLst>
                          <a:ext uri="{FF2B5EF4-FFF2-40B4-BE49-F238E27FC236}">
                            <a16:creationId xmlns:a16="http://schemas.microsoft.com/office/drawing/2014/main" id="{19671320-E2AE-4E1F-84B9-19A22D5616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008" y="1301508"/>
                        <a:ext cx="3096344" cy="10413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>
            <a:extLst>
              <a:ext uri="{FF2B5EF4-FFF2-40B4-BE49-F238E27FC236}">
                <a16:creationId xmlns:a16="http://schemas.microsoft.com/office/drawing/2014/main" id="{B8D8AFF3-E0B8-48A6-B1BB-184150E9C9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857669"/>
              </p:ext>
            </p:extLst>
          </p:nvPr>
        </p:nvGraphicFramePr>
        <p:xfrm>
          <a:off x="0" y="2297344"/>
          <a:ext cx="5976664" cy="1273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5" name="Equation" r:id="rId7" imgW="2501900" imgH="533400" progId="Equation.DSMT4">
                  <p:embed/>
                </p:oleObj>
              </mc:Choice>
              <mc:Fallback>
                <p:oleObj name="Equation" r:id="rId7" imgW="2501900" imgH="533400" progId="Equation.DSMT4">
                  <p:embed/>
                  <p:pic>
                    <p:nvPicPr>
                      <p:cNvPr id="6151" name="Object 7">
                        <a:extLst>
                          <a:ext uri="{FF2B5EF4-FFF2-40B4-BE49-F238E27FC236}">
                            <a16:creationId xmlns:a16="http://schemas.microsoft.com/office/drawing/2014/main" id="{B8D8AFF3-E0B8-48A6-B1BB-184150E9C9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97344"/>
                        <a:ext cx="5976664" cy="12737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8">
            <a:extLst>
              <a:ext uri="{FF2B5EF4-FFF2-40B4-BE49-F238E27FC236}">
                <a16:creationId xmlns:a16="http://schemas.microsoft.com/office/drawing/2014/main" id="{5388B1A9-231C-4BFE-BF9A-793AFE9BE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91948"/>
              </p:ext>
            </p:extLst>
          </p:nvPr>
        </p:nvGraphicFramePr>
        <p:xfrm>
          <a:off x="2263229" y="3650819"/>
          <a:ext cx="8084964" cy="118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6" name="Equation" r:id="rId9" imgW="3644900" imgH="533400" progId="Equation.DSMT4">
                  <p:embed/>
                </p:oleObj>
              </mc:Choice>
              <mc:Fallback>
                <p:oleObj name="Equation" r:id="rId9" imgW="3644900" imgH="533400" progId="Equation.DSMT4">
                  <p:embed/>
                  <p:pic>
                    <p:nvPicPr>
                      <p:cNvPr id="6152" name="Object 8">
                        <a:extLst>
                          <a:ext uri="{FF2B5EF4-FFF2-40B4-BE49-F238E27FC236}">
                            <a16:creationId xmlns:a16="http://schemas.microsoft.com/office/drawing/2014/main" id="{5388B1A9-231C-4BFE-BF9A-793AFE9BEB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229" y="3650819"/>
                        <a:ext cx="8084964" cy="118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对象 1">
            <a:extLst>
              <a:ext uri="{FF2B5EF4-FFF2-40B4-BE49-F238E27FC236}">
                <a16:creationId xmlns:a16="http://schemas.microsoft.com/office/drawing/2014/main" id="{93CD24F1-A153-47AE-A83B-1EF3A66FCA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973949"/>
              </p:ext>
            </p:extLst>
          </p:nvPr>
        </p:nvGraphicFramePr>
        <p:xfrm>
          <a:off x="1163452" y="5319484"/>
          <a:ext cx="6552728" cy="474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7" name="Equation" r:id="rId11" imgW="2578100" imgH="203200" progId="Equation.DSMT4">
                  <p:embed/>
                </p:oleObj>
              </mc:Choice>
              <mc:Fallback>
                <p:oleObj name="Equation" r:id="rId11" imgW="2578100" imgH="203200" progId="Equation.DSMT4">
                  <p:embed/>
                  <p:pic>
                    <p:nvPicPr>
                      <p:cNvPr id="4105" name="对象 1">
                        <a:extLst>
                          <a:ext uri="{FF2B5EF4-FFF2-40B4-BE49-F238E27FC236}">
                            <a16:creationId xmlns:a16="http://schemas.microsoft.com/office/drawing/2014/main" id="{93CD24F1-A153-47AE-A83B-1EF3A66FCA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452" y="5319484"/>
                        <a:ext cx="6552728" cy="4740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03D125C-710C-4979-94A9-06BDC5B7D588}"/>
              </a:ext>
            </a:extLst>
          </p:cNvPr>
          <p:cNvSpPr txBox="1"/>
          <p:nvPr/>
        </p:nvSpPr>
        <p:spPr>
          <a:xfrm>
            <a:off x="1606259" y="61458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3.4.1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幂等矩阵、投影变换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3E7A97-3774-43FE-BFCB-51071740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47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Rectangle 2">
            <a:extLst>
              <a:ext uri="{FF2B5EF4-FFF2-40B4-BE49-F238E27FC236}">
                <a16:creationId xmlns:a16="http://schemas.microsoft.com/office/drawing/2014/main" id="{BF1E46AF-7A50-486C-8226-516A5CB82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0656" y="1156449"/>
            <a:ext cx="1948583" cy="560388"/>
          </a:xfrm>
        </p:spPr>
        <p:txBody>
          <a:bodyPr/>
          <a:lstStyle/>
          <a:p>
            <a:pPr algn="r" eaLnBrk="1" hangingPunct="1"/>
            <a:r>
              <a:rPr lang="zh-CN" altLang="en-US" sz="2400" b="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定理</a:t>
            </a:r>
            <a:r>
              <a:rPr lang="en-US" altLang="zh-CN" sz="2400" b="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4.2</a:t>
            </a:r>
          </a:p>
        </p:txBody>
      </p:sp>
      <p:graphicFrame>
        <p:nvGraphicFramePr>
          <p:cNvPr id="4098" name="Object 3">
            <a:extLst>
              <a:ext uri="{FF2B5EF4-FFF2-40B4-BE49-F238E27FC236}">
                <a16:creationId xmlns:a16="http://schemas.microsoft.com/office/drawing/2014/main" id="{76C57BEC-827C-4032-8E91-412226178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233190"/>
              </p:ext>
            </p:extLst>
          </p:nvPr>
        </p:nvGraphicFramePr>
        <p:xfrm>
          <a:off x="1960314" y="1239745"/>
          <a:ext cx="7471817" cy="2983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" name="Equation" r:id="rId3" imgW="3504960" imgH="1396800" progId="Equation.DSMT4">
                  <p:embed/>
                </p:oleObj>
              </mc:Choice>
              <mc:Fallback>
                <p:oleObj name="Equation" r:id="rId3" imgW="3504960" imgH="1396800" progId="Equation.DSMT4">
                  <p:embed/>
                  <p:pic>
                    <p:nvPicPr>
                      <p:cNvPr id="4098" name="Object 3">
                        <a:extLst>
                          <a:ext uri="{FF2B5EF4-FFF2-40B4-BE49-F238E27FC236}">
                            <a16:creationId xmlns:a16="http://schemas.microsoft.com/office/drawing/2014/main" id="{76C57BEC-827C-4032-8E91-4122261783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314" y="1239745"/>
                        <a:ext cx="7471817" cy="29832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9">
            <a:extLst>
              <a:ext uri="{FF2B5EF4-FFF2-40B4-BE49-F238E27FC236}">
                <a16:creationId xmlns:a16="http://schemas.microsoft.com/office/drawing/2014/main" id="{14CCD7C0-5D84-40D2-8487-4F191E7E3A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6727" y="2928940"/>
          <a:ext cx="3349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0" name="Equation" r:id="rId5" imgW="126890" imgH="190335" progId="Equation.DSMT4">
                  <p:embed/>
                </p:oleObj>
              </mc:Choice>
              <mc:Fallback>
                <p:oleObj name="Equation" r:id="rId5" imgW="126890" imgH="190335" progId="Equation.DSMT4">
                  <p:embed/>
                  <p:pic>
                    <p:nvPicPr>
                      <p:cNvPr id="4099" name="Object 9">
                        <a:extLst>
                          <a:ext uri="{FF2B5EF4-FFF2-40B4-BE49-F238E27FC236}">
                            <a16:creationId xmlns:a16="http://schemas.microsoft.com/office/drawing/2014/main" id="{14CCD7C0-5D84-40D2-8487-4F191E7E3A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727" y="2928940"/>
                        <a:ext cx="3349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3" name="Rectangle 17">
            <a:extLst>
              <a:ext uri="{FF2B5EF4-FFF2-40B4-BE49-F238E27FC236}">
                <a16:creationId xmlns:a16="http://schemas.microsoft.com/office/drawing/2014/main" id="{96D4B711-6E6B-4647-AF0D-033EE0A3F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3149" y="4137659"/>
            <a:ext cx="1371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defTabSz="457200">
              <a:defRPr/>
            </a:pPr>
            <a:r>
              <a:rPr kumimoji="1" lang="zh-CN" altLang="en-US" sz="2400" dirty="0">
                <a:solidFill>
                  <a:srgbClr val="1F3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证明：</a:t>
            </a:r>
          </a:p>
        </p:txBody>
      </p:sp>
      <p:graphicFrame>
        <p:nvGraphicFramePr>
          <p:cNvPr id="5126" name="Object 18">
            <a:extLst>
              <a:ext uri="{FF2B5EF4-FFF2-40B4-BE49-F238E27FC236}">
                <a16:creationId xmlns:a16="http://schemas.microsoft.com/office/drawing/2014/main" id="{80874A95-62B9-452E-BB58-ED7AC54F46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9869" y="4928450"/>
          <a:ext cx="6672262" cy="151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1" name="Equation" r:id="rId7" imgW="2946240" imgH="672840" progId="Equation.DSMT4">
                  <p:embed/>
                </p:oleObj>
              </mc:Choice>
              <mc:Fallback>
                <p:oleObj name="Equation" r:id="rId7" imgW="2946240" imgH="672840" progId="Equation.DSMT4">
                  <p:embed/>
                  <p:pic>
                    <p:nvPicPr>
                      <p:cNvPr id="5126" name="Object 18">
                        <a:extLst>
                          <a:ext uri="{FF2B5EF4-FFF2-40B4-BE49-F238E27FC236}">
                            <a16:creationId xmlns:a16="http://schemas.microsoft.com/office/drawing/2014/main" id="{80874A95-62B9-452E-BB58-ED7AC54F46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869" y="4928450"/>
                        <a:ext cx="6672262" cy="151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22">
            <a:extLst>
              <a:ext uri="{FF2B5EF4-FFF2-40B4-BE49-F238E27FC236}">
                <a16:creationId xmlns:a16="http://schemas.microsoft.com/office/drawing/2014/main" id="{AC83A131-BE16-451B-BCC9-68FFE7B3CC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54665" y="5175252"/>
          <a:ext cx="3190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2" name="Equation" r:id="rId9" imgW="126890" imgH="190335" progId="Equation.DSMT4">
                  <p:embed/>
                </p:oleObj>
              </mc:Choice>
              <mc:Fallback>
                <p:oleObj name="Equation" r:id="rId9" imgW="126890" imgH="190335" progId="Equation.DSMT4">
                  <p:embed/>
                  <p:pic>
                    <p:nvPicPr>
                      <p:cNvPr id="4101" name="Object 22">
                        <a:extLst>
                          <a:ext uri="{FF2B5EF4-FFF2-40B4-BE49-F238E27FC236}">
                            <a16:creationId xmlns:a16="http://schemas.microsoft.com/office/drawing/2014/main" id="{AC83A131-BE16-451B-BCC9-68FFE7B3CC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4665" y="5175252"/>
                        <a:ext cx="31908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23">
            <a:extLst>
              <a:ext uri="{FF2B5EF4-FFF2-40B4-BE49-F238E27FC236}">
                <a16:creationId xmlns:a16="http://schemas.microsoft.com/office/drawing/2014/main" id="{84E337FC-FD78-445C-A9A9-F0EA37ADBB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3" name="Equation" r:id="rId10" imgW="114151" imgH="215619" progId="Equation.3">
                  <p:embed/>
                </p:oleObj>
              </mc:Choice>
              <mc:Fallback>
                <p:oleObj name="Equation" r:id="rId10" imgW="114151" imgH="215619" progId="Equation.3">
                  <p:embed/>
                  <p:pic>
                    <p:nvPicPr>
                      <p:cNvPr id="4102" name="Object 23">
                        <a:extLst>
                          <a:ext uri="{FF2B5EF4-FFF2-40B4-BE49-F238E27FC236}">
                            <a16:creationId xmlns:a16="http://schemas.microsoft.com/office/drawing/2014/main" id="{84E337FC-FD78-445C-A9A9-F0EA37ADBB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33">
            <a:extLst>
              <a:ext uri="{FF2B5EF4-FFF2-40B4-BE49-F238E27FC236}">
                <a16:creationId xmlns:a16="http://schemas.microsoft.com/office/drawing/2014/main" id="{7372A3CA-9022-4DB7-BBF5-80B753E97C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9940" y="5821365"/>
          <a:ext cx="3190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4" name="Equation" r:id="rId12" imgW="126890" imgH="190335" progId="Equation.DSMT4">
                  <p:embed/>
                </p:oleObj>
              </mc:Choice>
              <mc:Fallback>
                <p:oleObj name="Equation" r:id="rId12" imgW="126890" imgH="190335" progId="Equation.DSMT4">
                  <p:embed/>
                  <p:pic>
                    <p:nvPicPr>
                      <p:cNvPr id="4103" name="Object 33">
                        <a:extLst>
                          <a:ext uri="{FF2B5EF4-FFF2-40B4-BE49-F238E27FC236}">
                            <a16:creationId xmlns:a16="http://schemas.microsoft.com/office/drawing/2014/main" id="{7372A3CA-9022-4DB7-BBF5-80B753E97C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940" y="5821365"/>
                        <a:ext cx="31908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3" name="对象 1">
            <a:extLst>
              <a:ext uri="{FF2B5EF4-FFF2-40B4-BE49-F238E27FC236}">
                <a16:creationId xmlns:a16="http://schemas.microsoft.com/office/drawing/2014/main" id="{3BA9C52F-410E-4805-B2E4-7B4A9FA114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367206"/>
              </p:ext>
            </p:extLst>
          </p:nvPr>
        </p:nvGraphicFramePr>
        <p:xfrm>
          <a:off x="2761084" y="4186871"/>
          <a:ext cx="315277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5" name="Equation" r:id="rId13" imgW="1358310" imgH="241195" progId="Equation.DSMT4">
                  <p:embed/>
                </p:oleObj>
              </mc:Choice>
              <mc:Fallback>
                <p:oleObj name="Equation" r:id="rId13" imgW="1358310" imgH="241195" progId="Equation.DSMT4">
                  <p:embed/>
                  <p:pic>
                    <p:nvPicPr>
                      <p:cNvPr id="5133" name="对象 1">
                        <a:extLst>
                          <a:ext uri="{FF2B5EF4-FFF2-40B4-BE49-F238E27FC236}">
                            <a16:creationId xmlns:a16="http://schemas.microsoft.com/office/drawing/2014/main" id="{3BA9C52F-410E-4805-B2E4-7B4A9FA114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1084" y="4186871"/>
                        <a:ext cx="3152775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927FB3CD-8789-4DB5-AED4-62C98FB57A8F}"/>
              </a:ext>
            </a:extLst>
          </p:cNvPr>
          <p:cNvSpPr txBox="1"/>
          <p:nvPr/>
        </p:nvSpPr>
        <p:spPr>
          <a:xfrm>
            <a:off x="1734948" y="582625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3.4.1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幂等矩阵、投影变换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E80247-035C-41A4-9401-3859E5328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48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94970B8-68D8-4533-A31F-C3FC4E931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100" y="6286500"/>
            <a:ext cx="6731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>
              <a:defRPr/>
            </a:pPr>
            <a:endParaRPr lang="zh-CN" altLang="en-US">
              <a:solidFill>
                <a:srgbClr val="000000"/>
              </a:solidFill>
              <a:ea typeface="宋体"/>
            </a:endParaRPr>
          </a:p>
        </p:txBody>
      </p:sp>
      <p:sp>
        <p:nvSpPr>
          <p:cNvPr id="5126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94E121F-ABAA-4E3F-A7B4-F70134CCC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0" y="6299200"/>
            <a:ext cx="6731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>
              <a:defRPr/>
            </a:pPr>
            <a:endParaRPr lang="zh-CN" altLang="en-US">
              <a:solidFill>
                <a:srgbClr val="000000"/>
              </a:solidFill>
              <a:ea typeface="宋体"/>
            </a:endParaRPr>
          </a:p>
        </p:txBody>
      </p:sp>
      <p:sp>
        <p:nvSpPr>
          <p:cNvPr id="5127" name="Rectangl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403D93B-C174-4688-96C9-A3AE07BBC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6299200"/>
            <a:ext cx="6731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>
              <a:defRPr/>
            </a:pPr>
            <a:endParaRPr lang="zh-CN" altLang="en-US">
              <a:solidFill>
                <a:srgbClr val="000000"/>
              </a:solidFill>
              <a:ea typeface="宋体"/>
            </a:endParaRPr>
          </a:p>
        </p:txBody>
      </p:sp>
      <p:graphicFrame>
        <p:nvGraphicFramePr>
          <p:cNvPr id="5122" name="Object 19">
            <a:extLst>
              <a:ext uri="{FF2B5EF4-FFF2-40B4-BE49-F238E27FC236}">
                <a16:creationId xmlns:a16="http://schemas.microsoft.com/office/drawing/2014/main" id="{57727807-D071-4DA0-8F49-572215C4A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078162"/>
              </p:ext>
            </p:extLst>
          </p:nvPr>
        </p:nvGraphicFramePr>
        <p:xfrm>
          <a:off x="1143000" y="1290638"/>
          <a:ext cx="8486775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9" name="Equation" r:id="rId3" imgW="3746160" imgH="939600" progId="Equation.DSMT4">
                  <p:embed/>
                </p:oleObj>
              </mc:Choice>
              <mc:Fallback>
                <p:oleObj name="Equation" r:id="rId3" imgW="3746160" imgH="939600" progId="Equation.DSMT4">
                  <p:embed/>
                  <p:pic>
                    <p:nvPicPr>
                      <p:cNvPr id="5122" name="Object 19">
                        <a:extLst>
                          <a:ext uri="{FF2B5EF4-FFF2-40B4-BE49-F238E27FC236}">
                            <a16:creationId xmlns:a16="http://schemas.microsoft.com/office/drawing/2014/main" id="{57727807-D071-4DA0-8F49-572215C4A5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290638"/>
                        <a:ext cx="8486775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35">
            <a:extLst>
              <a:ext uri="{FF2B5EF4-FFF2-40B4-BE49-F238E27FC236}">
                <a16:creationId xmlns:a16="http://schemas.microsoft.com/office/drawing/2014/main" id="{A4B6EA91-6148-4F81-81CD-0881DBAAC1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852351"/>
              </p:ext>
            </p:extLst>
          </p:nvPr>
        </p:nvGraphicFramePr>
        <p:xfrm>
          <a:off x="632387" y="4129808"/>
          <a:ext cx="7663234" cy="1975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0" name="Equation" r:id="rId5" imgW="3543120" imgH="914400" progId="Equation.DSMT4">
                  <p:embed/>
                </p:oleObj>
              </mc:Choice>
              <mc:Fallback>
                <p:oleObj name="Equation" r:id="rId5" imgW="3543120" imgH="914400" progId="Equation.DSMT4">
                  <p:embed/>
                  <p:pic>
                    <p:nvPicPr>
                      <p:cNvPr id="6150" name="Object 35">
                        <a:extLst>
                          <a:ext uri="{FF2B5EF4-FFF2-40B4-BE49-F238E27FC236}">
                            <a16:creationId xmlns:a16="http://schemas.microsoft.com/office/drawing/2014/main" id="{A4B6EA91-6148-4F81-81CD-0881DBAAC1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387" y="4129808"/>
                        <a:ext cx="7663234" cy="1975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对象 1">
            <a:extLst>
              <a:ext uri="{FF2B5EF4-FFF2-40B4-BE49-F238E27FC236}">
                <a16:creationId xmlns:a16="http://schemas.microsoft.com/office/drawing/2014/main" id="{0A986040-3ACD-4934-9FDA-D220A1F5A4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101099"/>
              </p:ext>
            </p:extLst>
          </p:nvPr>
        </p:nvGraphicFramePr>
        <p:xfrm>
          <a:off x="2854990" y="3519463"/>
          <a:ext cx="54435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Equation" r:id="rId7" imgW="2361960" imgH="203040" progId="Equation.DSMT4">
                  <p:embed/>
                </p:oleObj>
              </mc:Choice>
              <mc:Fallback>
                <p:oleObj name="Equation" r:id="rId7" imgW="2361960" imgH="203040" progId="Equation.DSMT4">
                  <p:embed/>
                  <p:pic>
                    <p:nvPicPr>
                      <p:cNvPr id="6154" name="对象 1">
                        <a:extLst>
                          <a:ext uri="{FF2B5EF4-FFF2-40B4-BE49-F238E27FC236}">
                            <a16:creationId xmlns:a16="http://schemas.microsoft.com/office/drawing/2014/main" id="{0A986040-3ACD-4934-9FDA-D220A1F5A4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990" y="3519463"/>
                        <a:ext cx="5443538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A3A502A-24EC-442C-90BA-42955BE2779B}"/>
              </a:ext>
            </a:extLst>
          </p:cNvPr>
          <p:cNvSpPr txBox="1"/>
          <p:nvPr/>
        </p:nvSpPr>
        <p:spPr>
          <a:xfrm>
            <a:off x="1761281" y="654323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3.4.1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幂等矩阵、投影变换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C10109-3596-40BB-A207-FB14049A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49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5">
            <a:extLst>
              <a:ext uri="{FF2B5EF4-FFF2-40B4-BE49-F238E27FC236}">
                <a16:creationId xmlns:a16="http://schemas.microsoft.com/office/drawing/2014/main" id="{5AA502E3-8862-4760-8070-A9BC4F7398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516567"/>
              </p:ext>
            </p:extLst>
          </p:nvPr>
        </p:nvGraphicFramePr>
        <p:xfrm>
          <a:off x="983432" y="1589881"/>
          <a:ext cx="9967912" cy="367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2" name="Equation" r:id="rId3" imgW="4470120" imgH="1650960" progId="Equation.DSMT4">
                  <p:embed/>
                </p:oleObj>
              </mc:Choice>
              <mc:Fallback>
                <p:oleObj name="Equation" r:id="rId3" imgW="4470120" imgH="1650960" progId="Equation.DSMT4">
                  <p:embed/>
                  <p:pic>
                    <p:nvPicPr>
                      <p:cNvPr id="6146" name="Object 5">
                        <a:extLst>
                          <a:ext uri="{FF2B5EF4-FFF2-40B4-BE49-F238E27FC236}">
                            <a16:creationId xmlns:a16="http://schemas.microsoft.com/office/drawing/2014/main" id="{5AA502E3-8862-4760-8070-A9BC4F7398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1589881"/>
                        <a:ext cx="9967912" cy="367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13">
            <a:extLst>
              <a:ext uri="{FF2B5EF4-FFF2-40B4-BE49-F238E27FC236}">
                <a16:creationId xmlns:a16="http://schemas.microsoft.com/office/drawing/2014/main" id="{364AA8CB-8EC8-4AD2-B470-78A10FF73F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8165" y="1857377"/>
          <a:ext cx="29368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3" name="Equation" r:id="rId5" imgW="126890" imgH="190335" progId="Equation.DSMT4">
                  <p:embed/>
                </p:oleObj>
              </mc:Choice>
              <mc:Fallback>
                <p:oleObj name="Equation" r:id="rId5" imgW="126890" imgH="190335" progId="Equation.DSMT4">
                  <p:embed/>
                  <p:pic>
                    <p:nvPicPr>
                      <p:cNvPr id="6147" name="Object 13">
                        <a:extLst>
                          <a:ext uri="{FF2B5EF4-FFF2-40B4-BE49-F238E27FC236}">
                            <a16:creationId xmlns:a16="http://schemas.microsoft.com/office/drawing/2014/main" id="{364AA8CB-8EC8-4AD2-B470-78A10FF73F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165" y="1857377"/>
                        <a:ext cx="293687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D9E45BE-6218-44E4-B2A7-380E26836A79}"/>
              </a:ext>
            </a:extLst>
          </p:cNvPr>
          <p:cNvSpPr txBox="1"/>
          <p:nvPr/>
        </p:nvSpPr>
        <p:spPr>
          <a:xfrm>
            <a:off x="1703512" y="639268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3.4.1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幂等矩阵、投影变换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500D6A-970E-4992-926E-B6423B3FA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50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4">
            <a:extLst>
              <a:ext uri="{FF2B5EF4-FFF2-40B4-BE49-F238E27FC236}">
                <a16:creationId xmlns:a16="http://schemas.microsoft.com/office/drawing/2014/main" id="{2938230E-F51A-4F76-8362-D9ABC96FA8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502743"/>
              </p:ext>
            </p:extLst>
          </p:nvPr>
        </p:nvGraphicFramePr>
        <p:xfrm>
          <a:off x="840582" y="1343316"/>
          <a:ext cx="9594851" cy="181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9" name="Equation" r:id="rId3" imgW="4889160" imgH="914400" progId="Equation.DSMT4">
                  <p:embed/>
                </p:oleObj>
              </mc:Choice>
              <mc:Fallback>
                <p:oleObj name="Equation" r:id="rId3" imgW="4889160" imgH="914400" progId="Equation.DSMT4">
                  <p:embed/>
                  <p:pic>
                    <p:nvPicPr>
                      <p:cNvPr id="7170" name="Object 4">
                        <a:extLst>
                          <a:ext uri="{FF2B5EF4-FFF2-40B4-BE49-F238E27FC236}">
                            <a16:creationId xmlns:a16="http://schemas.microsoft.com/office/drawing/2014/main" id="{2938230E-F51A-4F76-8362-D9ABC96FA8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582" y="1343316"/>
                        <a:ext cx="9594851" cy="181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5">
            <a:extLst>
              <a:ext uri="{FF2B5EF4-FFF2-40B4-BE49-F238E27FC236}">
                <a16:creationId xmlns:a16="http://schemas.microsoft.com/office/drawing/2014/main" id="{30C39DF9-0EE0-41BC-A272-1EBCB71A52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6150" y="3295650"/>
          <a:ext cx="139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0" name="Equation" r:id="rId5" imgW="139579" imgH="266469" progId="Equation.3">
                  <p:embed/>
                </p:oleObj>
              </mc:Choice>
              <mc:Fallback>
                <p:oleObj name="Equation" r:id="rId5" imgW="139579" imgH="266469" progId="Equation.3">
                  <p:embed/>
                  <p:pic>
                    <p:nvPicPr>
                      <p:cNvPr id="7171" name="Object 5">
                        <a:extLst>
                          <a:ext uri="{FF2B5EF4-FFF2-40B4-BE49-F238E27FC236}">
                            <a16:creationId xmlns:a16="http://schemas.microsoft.com/office/drawing/2014/main" id="{30C39DF9-0EE0-41BC-A272-1EBCB71A52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6150" y="3295650"/>
                        <a:ext cx="1397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7">
            <a:extLst>
              <a:ext uri="{FF2B5EF4-FFF2-40B4-BE49-F238E27FC236}">
                <a16:creationId xmlns:a16="http://schemas.microsoft.com/office/drawing/2014/main" id="{3DD6EFE4-B859-4585-A448-3C72A4A415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2840" y="3063875"/>
          <a:ext cx="134937" cy="13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1" name="Equation" r:id="rId7" imgW="75969" imgH="75969" progId="Equation.DSMT4">
                  <p:embed/>
                </p:oleObj>
              </mc:Choice>
              <mc:Fallback>
                <p:oleObj name="Equation" r:id="rId7" imgW="75969" imgH="75969" progId="Equation.DSMT4">
                  <p:embed/>
                  <p:pic>
                    <p:nvPicPr>
                      <p:cNvPr id="7172" name="Object 7">
                        <a:extLst>
                          <a:ext uri="{FF2B5EF4-FFF2-40B4-BE49-F238E27FC236}">
                            <a16:creationId xmlns:a16="http://schemas.microsoft.com/office/drawing/2014/main" id="{3DD6EFE4-B859-4585-A448-3C72A4A415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40" y="3063875"/>
                        <a:ext cx="134937" cy="134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8">
            <a:extLst>
              <a:ext uri="{FF2B5EF4-FFF2-40B4-BE49-F238E27FC236}">
                <a16:creationId xmlns:a16="http://schemas.microsoft.com/office/drawing/2014/main" id="{5FCADDF2-C060-4B2E-89E2-39320303FD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581036"/>
              </p:ext>
            </p:extLst>
          </p:nvPr>
        </p:nvGraphicFramePr>
        <p:xfrm>
          <a:off x="1343472" y="3269050"/>
          <a:ext cx="6192366" cy="3439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2" name="Equation" r:id="rId9" imgW="3098520" imgH="1574640" progId="Equation.DSMT4">
                  <p:embed/>
                </p:oleObj>
              </mc:Choice>
              <mc:Fallback>
                <p:oleObj name="Equation" r:id="rId9" imgW="3098520" imgH="1574640" progId="Equation.DSMT4">
                  <p:embed/>
                  <p:pic>
                    <p:nvPicPr>
                      <p:cNvPr id="8200" name="Object 8">
                        <a:extLst>
                          <a:ext uri="{FF2B5EF4-FFF2-40B4-BE49-F238E27FC236}">
                            <a16:creationId xmlns:a16="http://schemas.microsoft.com/office/drawing/2014/main" id="{5FCADDF2-C060-4B2E-89E2-39320303FD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3269050"/>
                        <a:ext cx="6192366" cy="3439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21">
            <a:extLst>
              <a:ext uri="{FF2B5EF4-FFF2-40B4-BE49-F238E27FC236}">
                <a16:creationId xmlns:a16="http://schemas.microsoft.com/office/drawing/2014/main" id="{3AAD11BB-3DA1-4FE8-85C5-EFC57DBB1F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7" y="5734050"/>
          <a:ext cx="25876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3" name="Equation" r:id="rId11" imgW="126890" imgH="190335" progId="Equation.DSMT4">
                  <p:embed/>
                </p:oleObj>
              </mc:Choice>
              <mc:Fallback>
                <p:oleObj name="Equation" r:id="rId11" imgW="126890" imgH="190335" progId="Equation.DSMT4">
                  <p:embed/>
                  <p:pic>
                    <p:nvPicPr>
                      <p:cNvPr id="7174" name="Object 21">
                        <a:extLst>
                          <a:ext uri="{FF2B5EF4-FFF2-40B4-BE49-F238E27FC236}">
                            <a16:creationId xmlns:a16="http://schemas.microsoft.com/office/drawing/2014/main" id="{3AAD11BB-3DA1-4FE8-85C5-EFC57DBB1F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7" y="5734050"/>
                        <a:ext cx="258763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4E621210-CB06-48DD-84F7-E905BFE37302}"/>
              </a:ext>
            </a:extLst>
          </p:cNvPr>
          <p:cNvSpPr txBox="1"/>
          <p:nvPr/>
        </p:nvSpPr>
        <p:spPr>
          <a:xfrm>
            <a:off x="1624473" y="598791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3.4.1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幂等矩阵、投影变换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4D2DA4-3470-44C5-A4E3-A3F6BED0E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51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3">
            <a:extLst>
              <a:ext uri="{FF2B5EF4-FFF2-40B4-BE49-F238E27FC236}">
                <a16:creationId xmlns:a16="http://schemas.microsoft.com/office/drawing/2014/main" id="{1528A1AD-2DB1-4F88-9392-99F9D40EA0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5380"/>
              </p:ext>
            </p:extLst>
          </p:nvPr>
        </p:nvGraphicFramePr>
        <p:xfrm>
          <a:off x="623392" y="2154197"/>
          <a:ext cx="7312404" cy="2787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1" name="Equation" r:id="rId3" imgW="3606480" imgH="1371600" progId="Equation.DSMT4">
                  <p:embed/>
                </p:oleObj>
              </mc:Choice>
              <mc:Fallback>
                <p:oleObj name="Equation" r:id="rId3" imgW="3606480" imgH="1371600" progId="Equation.DSMT4">
                  <p:embed/>
                  <p:pic>
                    <p:nvPicPr>
                      <p:cNvPr id="9218" name="Object 3">
                        <a:extLst>
                          <a:ext uri="{FF2B5EF4-FFF2-40B4-BE49-F238E27FC236}">
                            <a16:creationId xmlns:a16="http://schemas.microsoft.com/office/drawing/2014/main" id="{1528A1AD-2DB1-4F88-9392-99F9D40EA0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392" y="2154197"/>
                        <a:ext cx="7312404" cy="2787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17">
            <a:extLst>
              <a:ext uri="{FF2B5EF4-FFF2-40B4-BE49-F238E27FC236}">
                <a16:creationId xmlns:a16="http://schemas.microsoft.com/office/drawing/2014/main" id="{A5F4F84D-3654-4A43-AD0A-50BFA0DAC5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763209"/>
              </p:ext>
            </p:extLst>
          </p:nvPr>
        </p:nvGraphicFramePr>
        <p:xfrm>
          <a:off x="623392" y="1182647"/>
          <a:ext cx="102203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2" name="Equation" r:id="rId5" imgW="4101840" imgH="457200" progId="Equation.DSMT4">
                  <p:embed/>
                </p:oleObj>
              </mc:Choice>
              <mc:Fallback>
                <p:oleObj name="Equation" r:id="rId5" imgW="4101840" imgH="457200" progId="Equation.DSMT4">
                  <p:embed/>
                  <p:pic>
                    <p:nvPicPr>
                      <p:cNvPr id="8195" name="Object 17">
                        <a:extLst>
                          <a:ext uri="{FF2B5EF4-FFF2-40B4-BE49-F238E27FC236}">
                            <a16:creationId xmlns:a16="http://schemas.microsoft.com/office/drawing/2014/main" id="{A5F4F84D-3654-4A43-AD0A-50BFA0DAC5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392" y="1182647"/>
                        <a:ext cx="102203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3">
            <a:extLst>
              <a:ext uri="{FF2B5EF4-FFF2-40B4-BE49-F238E27FC236}">
                <a16:creationId xmlns:a16="http://schemas.microsoft.com/office/drawing/2014/main" id="{A45C2294-F5F8-456E-9211-3F1DE5B75F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670950"/>
              </p:ext>
            </p:extLst>
          </p:nvPr>
        </p:nvGraphicFramePr>
        <p:xfrm>
          <a:off x="1480770" y="4942073"/>
          <a:ext cx="7112272" cy="1751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3" name="Equation" r:id="rId7" imgW="3721100" imgH="914400" progId="Equation.DSMT4">
                  <p:embed/>
                </p:oleObj>
              </mc:Choice>
              <mc:Fallback>
                <p:oleObj name="Equation" r:id="rId7" imgW="3721100" imgH="914400" progId="Equation.DSMT4">
                  <p:embed/>
                  <p:pic>
                    <p:nvPicPr>
                      <p:cNvPr id="9223" name="Object 3">
                        <a:extLst>
                          <a:ext uri="{FF2B5EF4-FFF2-40B4-BE49-F238E27FC236}">
                            <a16:creationId xmlns:a16="http://schemas.microsoft.com/office/drawing/2014/main" id="{A45C2294-F5F8-456E-9211-3F1DE5B75F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0770" y="4942073"/>
                        <a:ext cx="7112272" cy="17510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29134181-9D81-4641-B37E-065A7220E817}"/>
              </a:ext>
            </a:extLst>
          </p:cNvPr>
          <p:cNvSpPr txBox="1"/>
          <p:nvPr/>
        </p:nvSpPr>
        <p:spPr>
          <a:xfrm>
            <a:off x="1480770" y="578631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3.4.1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幂等矩阵、投影变换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E2C0F05-1A87-47FB-94CD-8E6E7F39F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52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3">
            <a:extLst>
              <a:ext uri="{FF2B5EF4-FFF2-40B4-BE49-F238E27FC236}">
                <a16:creationId xmlns:a16="http://schemas.microsoft.com/office/drawing/2014/main" id="{F7D7DD1E-AE69-443C-B4E5-D65EA3E45A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806581"/>
              </p:ext>
            </p:extLst>
          </p:nvPr>
        </p:nvGraphicFramePr>
        <p:xfrm>
          <a:off x="1695450" y="1330325"/>
          <a:ext cx="6858000" cy="325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4" name="Equation" r:id="rId3" imgW="3403440" imgH="1612800" progId="Equation.DSMT4">
                  <p:embed/>
                </p:oleObj>
              </mc:Choice>
              <mc:Fallback>
                <p:oleObj name="Equation" r:id="rId3" imgW="3403440" imgH="1612800" progId="Equation.DSMT4">
                  <p:embed/>
                  <p:pic>
                    <p:nvPicPr>
                      <p:cNvPr id="9218" name="Object 3">
                        <a:extLst>
                          <a:ext uri="{FF2B5EF4-FFF2-40B4-BE49-F238E27FC236}">
                            <a16:creationId xmlns:a16="http://schemas.microsoft.com/office/drawing/2014/main" id="{F7D7DD1E-AE69-443C-B4E5-D65EA3E45A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1330325"/>
                        <a:ext cx="6858000" cy="325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F91D4E01-B8A8-4E74-B1FD-F0A6941F91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775971"/>
              </p:ext>
            </p:extLst>
          </p:nvPr>
        </p:nvGraphicFramePr>
        <p:xfrm>
          <a:off x="1055440" y="4651047"/>
          <a:ext cx="8518368" cy="1786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5" name="Equation" r:id="rId5" imgW="4508280" imgH="914400" progId="Equation.DSMT4">
                  <p:embed/>
                </p:oleObj>
              </mc:Choice>
              <mc:Fallback>
                <p:oleObj name="Equation" r:id="rId5" imgW="4508280" imgH="91440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F91D4E01-B8A8-4E74-B1FD-F0A6941F91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4651047"/>
                        <a:ext cx="8518368" cy="17867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0001F31A-F161-47B8-95BD-F825432870F6}"/>
              </a:ext>
            </a:extLst>
          </p:cNvPr>
          <p:cNvSpPr txBox="1"/>
          <p:nvPr/>
        </p:nvSpPr>
        <p:spPr>
          <a:xfrm>
            <a:off x="1701595" y="657049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3.4.1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幂等矩阵、投影变换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54A7ED-9BBE-4587-A48E-DFA439A9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53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" name="Rectangle 14">
            <a:extLst>
              <a:ext uri="{FF2B5EF4-FFF2-40B4-BE49-F238E27FC236}">
                <a16:creationId xmlns:a16="http://schemas.microsoft.com/office/drawing/2014/main" id="{1C657023-B85C-4DCB-8C8D-F1A48E089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6859" y="-1044841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>
              <a:defRPr/>
            </a:pPr>
            <a:endParaRPr lang="en-US" altLang="zh-CN" sz="2800">
              <a:solidFill>
                <a:srgbClr val="000000"/>
              </a:solidFill>
              <a:latin typeface="Monotype Corsiva" panose="03010101010201010101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10243" name="Object 13">
            <a:extLst>
              <a:ext uri="{FF2B5EF4-FFF2-40B4-BE49-F238E27FC236}">
                <a16:creationId xmlns:a16="http://schemas.microsoft.com/office/drawing/2014/main" id="{90DCC8B0-45E0-4072-8760-35A0DE28F0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609166"/>
              </p:ext>
            </p:extLst>
          </p:nvPr>
        </p:nvGraphicFramePr>
        <p:xfrm>
          <a:off x="1540413" y="1304118"/>
          <a:ext cx="7501987" cy="2584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Equation" r:id="rId3" imgW="4025880" imgH="1371600" progId="Equation.DSMT4">
                  <p:embed/>
                </p:oleObj>
              </mc:Choice>
              <mc:Fallback>
                <p:oleObj name="Equation" r:id="rId3" imgW="4025880" imgH="1371600" progId="Equation.DSMT4">
                  <p:embed/>
                  <p:pic>
                    <p:nvPicPr>
                      <p:cNvPr id="10243" name="Object 13">
                        <a:extLst>
                          <a:ext uri="{FF2B5EF4-FFF2-40B4-BE49-F238E27FC236}">
                            <a16:creationId xmlns:a16="http://schemas.microsoft.com/office/drawing/2014/main" id="{90DCC8B0-45E0-4072-8760-35A0DE28F0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0413" y="1304118"/>
                        <a:ext cx="7501987" cy="2584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Rectangle 14">
            <a:extLst>
              <a:ext uri="{FF2B5EF4-FFF2-40B4-BE49-F238E27FC236}">
                <a16:creationId xmlns:a16="http://schemas.microsoft.com/office/drawing/2014/main" id="{7E8DEAAF-12C1-48C3-8EF8-124CE40C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916" y="-315416"/>
            <a:ext cx="1129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>
              <a:defRPr/>
            </a:pPr>
            <a:endParaRPr lang="en-US" altLang="zh-CN" sz="2800">
              <a:solidFill>
                <a:srgbClr val="000000"/>
              </a:solidFill>
              <a:latin typeface="Monotype Corsiva" panose="03010101010201010101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10242" name="Object 13">
            <a:extLst>
              <a:ext uri="{FF2B5EF4-FFF2-40B4-BE49-F238E27FC236}">
                <a16:creationId xmlns:a16="http://schemas.microsoft.com/office/drawing/2014/main" id="{EF602579-D48A-46F8-AED8-152C9B64F2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323981"/>
              </p:ext>
            </p:extLst>
          </p:nvPr>
        </p:nvGraphicFramePr>
        <p:xfrm>
          <a:off x="1703512" y="3968972"/>
          <a:ext cx="7002288" cy="2599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Equation" r:id="rId5" imgW="4241800" imgH="1625600" progId="Equation.DSMT4">
                  <p:embed/>
                </p:oleObj>
              </mc:Choice>
              <mc:Fallback>
                <p:oleObj name="Equation" r:id="rId5" imgW="4241800" imgH="1625600" progId="Equation.DSMT4">
                  <p:embed/>
                  <p:pic>
                    <p:nvPicPr>
                      <p:cNvPr id="10242" name="Object 13">
                        <a:extLst>
                          <a:ext uri="{FF2B5EF4-FFF2-40B4-BE49-F238E27FC236}">
                            <a16:creationId xmlns:a16="http://schemas.microsoft.com/office/drawing/2014/main" id="{EF602579-D48A-46F8-AED8-152C9B64F2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3968972"/>
                        <a:ext cx="7002288" cy="2599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67924FA8-9E41-4704-A535-B4A10A7606DE}"/>
              </a:ext>
            </a:extLst>
          </p:cNvPr>
          <p:cNvSpPr txBox="1"/>
          <p:nvPr/>
        </p:nvSpPr>
        <p:spPr>
          <a:xfrm>
            <a:off x="1703512" y="574693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3.4.1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幂等矩阵、投影变换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41AF26-F8BC-4360-A8BB-9A1BCA9ED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54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" name="Rectangle 14">
            <a:extLst>
              <a:ext uri="{FF2B5EF4-FFF2-40B4-BE49-F238E27FC236}">
                <a16:creationId xmlns:a16="http://schemas.microsoft.com/office/drawing/2014/main" id="{BC4A21E6-3D2C-44A6-A04F-9F3D27903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6258" y="-103505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>
              <a:defRPr/>
            </a:pPr>
            <a:endParaRPr lang="en-US" altLang="zh-CN" sz="2800">
              <a:solidFill>
                <a:srgbClr val="000000"/>
              </a:solidFill>
              <a:latin typeface="Monotype Corsiva" panose="03010101010201010101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11267" name="Object 13">
            <a:extLst>
              <a:ext uri="{FF2B5EF4-FFF2-40B4-BE49-F238E27FC236}">
                <a16:creationId xmlns:a16="http://schemas.microsoft.com/office/drawing/2014/main" id="{850190C8-2A06-4EA6-912D-092BFFA742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43799"/>
              </p:ext>
            </p:extLst>
          </p:nvPr>
        </p:nvGraphicFramePr>
        <p:xfrm>
          <a:off x="1008679" y="1425233"/>
          <a:ext cx="7518400" cy="239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" name="Equation" r:id="rId3" imgW="4356000" imgH="1396800" progId="Equation.DSMT4">
                  <p:embed/>
                </p:oleObj>
              </mc:Choice>
              <mc:Fallback>
                <p:oleObj name="Equation" r:id="rId3" imgW="4356000" imgH="1396800" progId="Equation.DSMT4">
                  <p:embed/>
                  <p:pic>
                    <p:nvPicPr>
                      <p:cNvPr id="11267" name="Object 13">
                        <a:extLst>
                          <a:ext uri="{FF2B5EF4-FFF2-40B4-BE49-F238E27FC236}">
                            <a16:creationId xmlns:a16="http://schemas.microsoft.com/office/drawing/2014/main" id="{850190C8-2A06-4EA6-912D-092BFFA742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679" y="1425233"/>
                        <a:ext cx="7518400" cy="239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14">
            <a:extLst>
              <a:ext uri="{FF2B5EF4-FFF2-40B4-BE49-F238E27FC236}">
                <a16:creationId xmlns:a16="http://schemas.microsoft.com/office/drawing/2014/main" id="{D5050ABD-692C-4FA3-8E07-CBE92A101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204" y="-88265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>
              <a:defRPr/>
            </a:pPr>
            <a:endParaRPr lang="en-US" altLang="zh-CN" sz="2800">
              <a:solidFill>
                <a:srgbClr val="000000"/>
              </a:solidFill>
              <a:latin typeface="Monotype Corsiva" panose="03010101010201010101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11266" name="Object 13">
            <a:extLst>
              <a:ext uri="{FF2B5EF4-FFF2-40B4-BE49-F238E27FC236}">
                <a16:creationId xmlns:a16="http://schemas.microsoft.com/office/drawing/2014/main" id="{23E282E4-48A9-487D-B2EF-5860F71EF7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630124"/>
              </p:ext>
            </p:extLst>
          </p:nvPr>
        </p:nvGraphicFramePr>
        <p:xfrm>
          <a:off x="1008679" y="3861048"/>
          <a:ext cx="9259888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Equation" r:id="rId5" imgW="5117760" imgH="939600" progId="Equation.DSMT4">
                  <p:embed/>
                </p:oleObj>
              </mc:Choice>
              <mc:Fallback>
                <p:oleObj name="Equation" r:id="rId5" imgW="5117760" imgH="939600" progId="Equation.DSMT4">
                  <p:embed/>
                  <p:pic>
                    <p:nvPicPr>
                      <p:cNvPr id="11266" name="Object 13">
                        <a:extLst>
                          <a:ext uri="{FF2B5EF4-FFF2-40B4-BE49-F238E27FC236}">
                            <a16:creationId xmlns:a16="http://schemas.microsoft.com/office/drawing/2014/main" id="{23E282E4-48A9-487D-B2EF-5860F71EF7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679" y="3861048"/>
                        <a:ext cx="9259888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1CF9B0FC-B95C-498D-8642-B0037D5A7943}"/>
              </a:ext>
            </a:extLst>
          </p:cNvPr>
          <p:cNvSpPr txBox="1"/>
          <p:nvPr/>
        </p:nvSpPr>
        <p:spPr>
          <a:xfrm>
            <a:off x="1655144" y="558955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3.4.1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幂等矩阵、投影变换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70D506-6A9D-47B6-A7FC-776D6FD71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55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4">
            <a:extLst>
              <a:ext uri="{FF2B5EF4-FFF2-40B4-BE49-F238E27FC236}">
                <a16:creationId xmlns:a16="http://schemas.microsoft.com/office/drawing/2014/main" id="{58A365C1-88D1-4E13-A11C-89D7DBF123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570760"/>
              </p:ext>
            </p:extLst>
          </p:nvPr>
        </p:nvGraphicFramePr>
        <p:xfrm>
          <a:off x="695400" y="1405587"/>
          <a:ext cx="10498137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7" name="Equation" r:id="rId3" imgW="4711680" imgH="457200" progId="Equation.DSMT4">
                  <p:embed/>
                </p:oleObj>
              </mc:Choice>
              <mc:Fallback>
                <p:oleObj name="Equation" r:id="rId3" imgW="4711680" imgH="457200" progId="Equation.DSMT4">
                  <p:embed/>
                  <p:pic>
                    <p:nvPicPr>
                      <p:cNvPr id="12290" name="Object 4">
                        <a:extLst>
                          <a:ext uri="{FF2B5EF4-FFF2-40B4-BE49-F238E27FC236}">
                            <a16:creationId xmlns:a16="http://schemas.microsoft.com/office/drawing/2014/main" id="{58A365C1-88D1-4E13-A11C-89D7DBF123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400" y="1405587"/>
                        <a:ext cx="10498137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">
            <a:extLst>
              <a:ext uri="{FF2B5EF4-FFF2-40B4-BE49-F238E27FC236}">
                <a16:creationId xmlns:a16="http://schemas.microsoft.com/office/drawing/2014/main" id="{6111CDEF-6722-4699-B63E-D450007E03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549964"/>
              </p:ext>
            </p:extLst>
          </p:nvPr>
        </p:nvGraphicFramePr>
        <p:xfrm>
          <a:off x="695400" y="2582480"/>
          <a:ext cx="7955706" cy="1396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8" name="Equation" r:id="rId5" imgW="3708360" imgH="672840" progId="Equation.DSMT4">
                  <p:embed/>
                </p:oleObj>
              </mc:Choice>
              <mc:Fallback>
                <p:oleObj name="Equation" r:id="rId5" imgW="3708360" imgH="672840" progId="Equation.DSMT4">
                  <p:embed/>
                  <p:pic>
                    <p:nvPicPr>
                      <p:cNvPr id="13318" name="Object 6">
                        <a:extLst>
                          <a:ext uri="{FF2B5EF4-FFF2-40B4-BE49-F238E27FC236}">
                            <a16:creationId xmlns:a16="http://schemas.microsoft.com/office/drawing/2014/main" id="{6111CDEF-6722-4699-B63E-D450007E03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400" y="2582480"/>
                        <a:ext cx="7955706" cy="1396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8">
            <a:extLst>
              <a:ext uri="{FF2B5EF4-FFF2-40B4-BE49-F238E27FC236}">
                <a16:creationId xmlns:a16="http://schemas.microsoft.com/office/drawing/2014/main" id="{868655AD-7E8D-413D-8560-4991B6135F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093704"/>
              </p:ext>
            </p:extLst>
          </p:nvPr>
        </p:nvGraphicFramePr>
        <p:xfrm>
          <a:off x="704842" y="4348521"/>
          <a:ext cx="11237913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9" name="Equation" r:id="rId7" imgW="5270400" imgH="203040" progId="Equation.DSMT4">
                  <p:embed/>
                </p:oleObj>
              </mc:Choice>
              <mc:Fallback>
                <p:oleObj name="Equation" r:id="rId7" imgW="5270400" imgH="203040" progId="Equation.DSMT4">
                  <p:embed/>
                  <p:pic>
                    <p:nvPicPr>
                      <p:cNvPr id="13320" name="Object 8">
                        <a:extLst>
                          <a:ext uri="{FF2B5EF4-FFF2-40B4-BE49-F238E27FC236}">
                            <a16:creationId xmlns:a16="http://schemas.microsoft.com/office/drawing/2014/main" id="{868655AD-7E8D-413D-8560-4991B6135F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42" y="4348521"/>
                        <a:ext cx="11237913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447CE3D0-0322-4728-97D8-5CD6B1678A6A}"/>
              </a:ext>
            </a:extLst>
          </p:cNvPr>
          <p:cNvSpPr/>
          <p:nvPr/>
        </p:nvSpPr>
        <p:spPr>
          <a:xfrm>
            <a:off x="11245365" y="4493730"/>
            <a:ext cx="287338" cy="276225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zh-CN" altLang="en-US" dirty="0">
              <a:solidFill>
                <a:srgbClr val="FFFFFF"/>
              </a:solidFill>
              <a:latin typeface="Tahoma"/>
              <a:ea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B227633-22F1-47C1-96C4-B3EFFE0A5ECA}"/>
                  </a:ext>
                </a:extLst>
              </p:cNvPr>
              <p:cNvSpPr txBox="1"/>
              <p:nvPr/>
            </p:nvSpPr>
            <p:spPr>
              <a:xfrm>
                <a:off x="10992544" y="4348521"/>
                <a:ext cx="7929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</m:oMath>
                  </m:oMathPara>
                </a14:m>
                <a:endParaRPr lang="zh-CN" altLang="en-US" sz="2400" dirty="0">
                  <a:solidFill>
                    <a:srgbClr val="000000"/>
                  </a:solidFill>
                  <a:latin typeface="Tahoma"/>
                  <a:ea typeface="宋体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B227633-22F1-47C1-96C4-B3EFFE0A5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2544" y="4348521"/>
                <a:ext cx="79298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F63E9F68-A9D5-4D90-8E76-5553AF2FFF4C}"/>
              </a:ext>
            </a:extLst>
          </p:cNvPr>
          <p:cNvSpPr txBox="1"/>
          <p:nvPr/>
        </p:nvSpPr>
        <p:spPr>
          <a:xfrm>
            <a:off x="1672847" y="642643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3.4.2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正交补、正交投影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4D44F1-A864-4B23-AB34-F0DD1AA85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56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20" name="Group 11">
            <a:extLst>
              <a:ext uri="{FF2B5EF4-FFF2-40B4-BE49-F238E27FC236}">
                <a16:creationId xmlns:a16="http://schemas.microsoft.com/office/drawing/2014/main" id="{7084DA23-4267-43A9-A6F1-A13DE7BD9D23}"/>
              </a:ext>
            </a:extLst>
          </p:cNvPr>
          <p:cNvGrpSpPr>
            <a:grpSpLocks/>
          </p:cNvGrpSpPr>
          <p:nvPr/>
        </p:nvGrpSpPr>
        <p:grpSpPr bwMode="auto">
          <a:xfrm>
            <a:off x="-428694" y="-273070"/>
            <a:ext cx="8858563" cy="3208489"/>
            <a:chOff x="1200" y="528"/>
            <a:chExt cx="4556" cy="1720"/>
          </a:xfrm>
        </p:grpSpPr>
        <p:graphicFrame>
          <p:nvGraphicFramePr>
            <p:cNvPr id="13319" name="Object 3">
              <a:extLst>
                <a:ext uri="{FF2B5EF4-FFF2-40B4-BE49-F238E27FC236}">
                  <a16:creationId xmlns:a16="http://schemas.microsoft.com/office/drawing/2014/main" id="{6D60B23E-1131-4B5A-95C7-6A7428AFA5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5380878"/>
                </p:ext>
              </p:extLst>
            </p:nvPr>
          </p:nvGraphicFramePr>
          <p:xfrm>
            <a:off x="1780" y="1404"/>
            <a:ext cx="3976" cy="8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64" name="Equation" r:id="rId3" imgW="3288960" imgH="723600" progId="Equation.DSMT4">
                    <p:embed/>
                  </p:oleObj>
                </mc:Choice>
                <mc:Fallback>
                  <p:oleObj name="Equation" r:id="rId3" imgW="3288960" imgH="723600" progId="Equation.DSMT4">
                    <p:embed/>
                    <p:pic>
                      <p:nvPicPr>
                        <p:cNvPr id="13319" name="Object 3">
                          <a:extLst>
                            <a:ext uri="{FF2B5EF4-FFF2-40B4-BE49-F238E27FC236}">
                              <a16:creationId xmlns:a16="http://schemas.microsoft.com/office/drawing/2014/main" id="{6D60B23E-1131-4B5A-95C7-6A7428AFA5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0" y="1404"/>
                          <a:ext cx="3976" cy="8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0" name="Rectangle 5">
              <a:extLst>
                <a:ext uri="{FF2B5EF4-FFF2-40B4-BE49-F238E27FC236}">
                  <a16:creationId xmlns:a16="http://schemas.microsoft.com/office/drawing/2014/main" id="{4E592EE5-F763-4B42-ABC9-7A859A991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864"/>
              <a:ext cx="9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defTabSz="457200">
                <a:defRPr/>
              </a:pPr>
              <a:endParaRPr lang="en-US" altLang="zh-CN" sz="2800">
                <a:solidFill>
                  <a:srgbClr val="000000"/>
                </a:solidFill>
                <a:latin typeface="Monotype Corsiva" panose="03010101010201010101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3331" name="Rectangle 7">
              <a:extLst>
                <a:ext uri="{FF2B5EF4-FFF2-40B4-BE49-F238E27FC236}">
                  <a16:creationId xmlns:a16="http://schemas.microsoft.com/office/drawing/2014/main" id="{95DA2FCB-3007-46C7-8592-B90807D41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528"/>
              <a:ext cx="9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defTabSz="457200">
                <a:defRPr/>
              </a:pPr>
              <a:endParaRPr lang="en-US" altLang="zh-CN" sz="2800">
                <a:solidFill>
                  <a:srgbClr val="000000"/>
                </a:solidFill>
                <a:latin typeface="Monotype Corsiva" panose="03010101010201010101" pitchFamily="66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4339" name="Object 14">
            <a:extLst>
              <a:ext uri="{FF2B5EF4-FFF2-40B4-BE49-F238E27FC236}">
                <a16:creationId xmlns:a16="http://schemas.microsoft.com/office/drawing/2014/main" id="{9FA87001-1186-4BA1-A2B4-BA2467711C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990889"/>
              </p:ext>
            </p:extLst>
          </p:nvPr>
        </p:nvGraphicFramePr>
        <p:xfrm>
          <a:off x="409574" y="3009368"/>
          <a:ext cx="11782426" cy="212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5" name="Equation" r:id="rId5" imgW="5219640" imgH="965160" progId="Equation.DSMT4">
                  <p:embed/>
                </p:oleObj>
              </mc:Choice>
              <mc:Fallback>
                <p:oleObj name="Equation" r:id="rId5" imgW="5219640" imgH="965160" progId="Equation.DSMT4">
                  <p:embed/>
                  <p:pic>
                    <p:nvPicPr>
                      <p:cNvPr id="14339" name="Object 14">
                        <a:extLst>
                          <a:ext uri="{FF2B5EF4-FFF2-40B4-BE49-F238E27FC236}">
                            <a16:creationId xmlns:a16="http://schemas.microsoft.com/office/drawing/2014/main" id="{9FA87001-1186-4BA1-A2B4-BA2467711C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4" y="3009368"/>
                        <a:ext cx="11782426" cy="212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18">
            <a:extLst>
              <a:ext uri="{FF2B5EF4-FFF2-40B4-BE49-F238E27FC236}">
                <a16:creationId xmlns:a16="http://schemas.microsoft.com/office/drawing/2014/main" id="{CB32B1A5-A5EF-478A-B4C9-39A7C6F32F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2" y="3484453"/>
          <a:ext cx="25876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6" name="Equation" r:id="rId7" imgW="126890" imgH="190335" progId="Equation.DSMT4">
                  <p:embed/>
                </p:oleObj>
              </mc:Choice>
              <mc:Fallback>
                <p:oleObj name="Equation" r:id="rId7" imgW="126890" imgH="190335" progId="Equation.DSMT4">
                  <p:embed/>
                  <p:pic>
                    <p:nvPicPr>
                      <p:cNvPr id="13315" name="Object 18">
                        <a:extLst>
                          <a:ext uri="{FF2B5EF4-FFF2-40B4-BE49-F238E27FC236}">
                            <a16:creationId xmlns:a16="http://schemas.microsoft.com/office/drawing/2014/main" id="{CB32B1A5-A5EF-478A-B4C9-39A7C6F32F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2" y="3484453"/>
                        <a:ext cx="258763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20">
            <a:extLst>
              <a:ext uri="{FF2B5EF4-FFF2-40B4-BE49-F238E27FC236}">
                <a16:creationId xmlns:a16="http://schemas.microsoft.com/office/drawing/2014/main" id="{77AB37FB-C9A5-41FC-A97D-19AE95722C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2" y="3803652"/>
          <a:ext cx="239713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7" name="Equation" r:id="rId9" imgW="126890" imgH="190335" progId="Equation.DSMT4">
                  <p:embed/>
                </p:oleObj>
              </mc:Choice>
              <mc:Fallback>
                <p:oleObj name="Equation" r:id="rId9" imgW="126890" imgH="190335" progId="Equation.DSMT4">
                  <p:embed/>
                  <p:pic>
                    <p:nvPicPr>
                      <p:cNvPr id="13316" name="Object 20">
                        <a:extLst>
                          <a:ext uri="{FF2B5EF4-FFF2-40B4-BE49-F238E27FC236}">
                            <a16:creationId xmlns:a16="http://schemas.microsoft.com/office/drawing/2014/main" id="{77AB37FB-C9A5-41FC-A97D-19AE95722C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2" y="3803652"/>
                        <a:ext cx="239713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30">
            <a:extLst>
              <a:ext uri="{FF2B5EF4-FFF2-40B4-BE49-F238E27FC236}">
                <a16:creationId xmlns:a16="http://schemas.microsoft.com/office/drawing/2014/main" id="{3F79D989-B73C-4AA5-9B66-B4647B0D3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221981"/>
              </p:ext>
            </p:extLst>
          </p:nvPr>
        </p:nvGraphicFramePr>
        <p:xfrm>
          <a:off x="1349375" y="5127620"/>
          <a:ext cx="769302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8" name="Equation" r:id="rId10" imgW="3708360" imgH="482400" progId="Equation.DSMT4">
                  <p:embed/>
                </p:oleObj>
              </mc:Choice>
              <mc:Fallback>
                <p:oleObj name="Equation" r:id="rId10" imgW="3708360" imgH="482400" progId="Equation.DSMT4">
                  <p:embed/>
                  <p:pic>
                    <p:nvPicPr>
                      <p:cNvPr id="14342" name="Object 30">
                        <a:extLst>
                          <a:ext uri="{FF2B5EF4-FFF2-40B4-BE49-F238E27FC236}">
                            <a16:creationId xmlns:a16="http://schemas.microsoft.com/office/drawing/2014/main" id="{3F79D989-B73C-4AA5-9B66-B4647B0D32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5" y="5127620"/>
                        <a:ext cx="7693025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4" name="Object 38">
            <a:extLst>
              <a:ext uri="{FF2B5EF4-FFF2-40B4-BE49-F238E27FC236}">
                <a16:creationId xmlns:a16="http://schemas.microsoft.com/office/drawing/2014/main" id="{EBB66453-0006-434C-BF9F-E345739267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63699"/>
              </p:ext>
            </p:extLst>
          </p:nvPr>
        </p:nvGraphicFramePr>
        <p:xfrm>
          <a:off x="1349375" y="6210993"/>
          <a:ext cx="2751957" cy="462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9" name="Equation" r:id="rId12" imgW="1206500" imgH="203200" progId="Equation.DSMT4">
                  <p:embed/>
                </p:oleObj>
              </mc:Choice>
              <mc:Fallback>
                <p:oleObj name="Equation" r:id="rId12" imgW="1206500" imgH="203200" progId="Equation.DSMT4">
                  <p:embed/>
                  <p:pic>
                    <p:nvPicPr>
                      <p:cNvPr id="14374" name="Object 38">
                        <a:extLst>
                          <a:ext uri="{FF2B5EF4-FFF2-40B4-BE49-F238E27FC236}">
                            <a16:creationId xmlns:a16="http://schemas.microsoft.com/office/drawing/2014/main" id="{EBB66453-0006-434C-BF9F-E345739267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5" y="6210993"/>
                        <a:ext cx="2751957" cy="462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流程图: 接点 8">
            <a:extLst>
              <a:ext uri="{FF2B5EF4-FFF2-40B4-BE49-F238E27FC236}">
                <a16:creationId xmlns:a16="http://schemas.microsoft.com/office/drawing/2014/main" id="{668D501D-6C76-418D-A2AB-D280F9A4132C}"/>
              </a:ext>
            </a:extLst>
          </p:cNvPr>
          <p:cNvSpPr/>
          <p:nvPr/>
        </p:nvSpPr>
        <p:spPr>
          <a:xfrm>
            <a:off x="4663705" y="2551129"/>
            <a:ext cx="288925" cy="277813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zh-CN" altLang="en-US">
              <a:solidFill>
                <a:srgbClr val="FFFFFF"/>
              </a:solidFill>
              <a:latin typeface="Tahoma"/>
              <a:ea typeface="宋体"/>
            </a:endParaRPr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461A763B-D150-490B-8095-D36E0520083D}"/>
              </a:ext>
            </a:extLst>
          </p:cNvPr>
          <p:cNvSpPr/>
          <p:nvPr/>
        </p:nvSpPr>
        <p:spPr>
          <a:xfrm>
            <a:off x="4619176" y="2024895"/>
            <a:ext cx="288925" cy="276225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zh-CN" altLang="en-US">
              <a:solidFill>
                <a:srgbClr val="FFFFFF"/>
              </a:solidFill>
              <a:latin typeface="Tahoma"/>
              <a:ea typeface="宋体"/>
            </a:endParaRPr>
          </a:p>
        </p:txBody>
      </p:sp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27DE2709-8121-4ED1-99B4-5BB7C3AB89B0}"/>
              </a:ext>
            </a:extLst>
          </p:cNvPr>
          <p:cNvSpPr/>
          <p:nvPr/>
        </p:nvSpPr>
        <p:spPr>
          <a:xfrm>
            <a:off x="6735367" y="4725145"/>
            <a:ext cx="288925" cy="276225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zh-CN" altLang="en-US">
              <a:solidFill>
                <a:srgbClr val="FFFFFF"/>
              </a:solidFill>
              <a:latin typeface="Tahoma"/>
              <a:ea typeface="宋体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168AA41-D65E-4BFB-BAB5-464315D022C7}"/>
              </a:ext>
            </a:extLst>
          </p:cNvPr>
          <p:cNvSpPr txBox="1"/>
          <p:nvPr/>
        </p:nvSpPr>
        <p:spPr>
          <a:xfrm>
            <a:off x="1805102" y="584403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3.4.2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正交补、正交投影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637762-B012-4EDC-8E05-1C0AB96DB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57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F3FEEF9E-A54C-401C-9336-99C525AEDD83}"/>
              </a:ext>
            </a:extLst>
          </p:cNvPr>
          <p:cNvSpPr/>
          <p:nvPr/>
        </p:nvSpPr>
        <p:spPr>
          <a:xfrm>
            <a:off x="4598708" y="5775079"/>
            <a:ext cx="288925" cy="276225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zh-CN" altLang="en-US">
              <a:solidFill>
                <a:srgbClr val="FFFFFF"/>
              </a:solidFill>
              <a:latin typeface="Tahoma"/>
              <a:ea typeface="宋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7">
            <a:extLst>
              <a:ext uri="{FF2B5EF4-FFF2-40B4-BE49-F238E27FC236}">
                <a16:creationId xmlns:a16="http://schemas.microsoft.com/office/drawing/2014/main" id="{30C20BB7-5F21-4028-8AA1-1F57C1557E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596674"/>
              </p:ext>
            </p:extLst>
          </p:nvPr>
        </p:nvGraphicFramePr>
        <p:xfrm>
          <a:off x="1876425" y="1193561"/>
          <a:ext cx="7710488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7" name="Equation" r:id="rId3" imgW="3619440" imgH="774360" progId="Equation.DSMT4">
                  <p:embed/>
                </p:oleObj>
              </mc:Choice>
              <mc:Fallback>
                <p:oleObj name="Equation" r:id="rId3" imgW="3619440" imgH="774360" progId="Equation.DSMT4">
                  <p:embed/>
                  <p:pic>
                    <p:nvPicPr>
                      <p:cNvPr id="14338" name="Object 7">
                        <a:extLst>
                          <a:ext uri="{FF2B5EF4-FFF2-40B4-BE49-F238E27FC236}">
                            <a16:creationId xmlns:a16="http://schemas.microsoft.com/office/drawing/2014/main" id="{30C20BB7-5F21-4028-8AA1-1F57C1557E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5" y="1193561"/>
                        <a:ext cx="7710488" cy="165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9">
            <a:extLst>
              <a:ext uri="{FF2B5EF4-FFF2-40B4-BE49-F238E27FC236}">
                <a16:creationId xmlns:a16="http://schemas.microsoft.com/office/drawing/2014/main" id="{D5555E99-0C6C-4313-A571-ACBFBC078E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850007"/>
              </p:ext>
            </p:extLst>
          </p:nvPr>
        </p:nvGraphicFramePr>
        <p:xfrm>
          <a:off x="1876425" y="2879540"/>
          <a:ext cx="8439150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Equation" r:id="rId5" imgW="4114800" imgH="711000" progId="Equation.DSMT4">
                  <p:embed/>
                </p:oleObj>
              </mc:Choice>
              <mc:Fallback>
                <p:oleObj name="Equation" r:id="rId5" imgW="4114800" imgH="711000" progId="Equation.DSMT4">
                  <p:embed/>
                  <p:pic>
                    <p:nvPicPr>
                      <p:cNvPr id="15369" name="Object 9">
                        <a:extLst>
                          <a:ext uri="{FF2B5EF4-FFF2-40B4-BE49-F238E27FC236}">
                            <a16:creationId xmlns:a16="http://schemas.microsoft.com/office/drawing/2014/main" id="{D5555E99-0C6C-4313-A571-ACBFBC078E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5" y="2879540"/>
                        <a:ext cx="8439150" cy="146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11">
            <a:extLst>
              <a:ext uri="{FF2B5EF4-FFF2-40B4-BE49-F238E27FC236}">
                <a16:creationId xmlns:a16="http://schemas.microsoft.com/office/drawing/2014/main" id="{C432AB6C-9559-4917-805D-5EA21980D2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547060"/>
              </p:ext>
            </p:extLst>
          </p:nvPr>
        </p:nvGraphicFramePr>
        <p:xfrm>
          <a:off x="2268538" y="4564063"/>
          <a:ext cx="7353300" cy="143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9" name="Equation" r:id="rId7" imgW="3720960" imgH="723600" progId="Equation.DSMT4">
                  <p:embed/>
                </p:oleObj>
              </mc:Choice>
              <mc:Fallback>
                <p:oleObj name="Equation" r:id="rId7" imgW="3720960" imgH="723600" progId="Equation.DSMT4">
                  <p:embed/>
                  <p:pic>
                    <p:nvPicPr>
                      <p:cNvPr id="15371" name="Object 11">
                        <a:extLst>
                          <a:ext uri="{FF2B5EF4-FFF2-40B4-BE49-F238E27FC236}">
                            <a16:creationId xmlns:a16="http://schemas.microsoft.com/office/drawing/2014/main" id="{C432AB6C-9559-4917-805D-5EA21980D2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564063"/>
                        <a:ext cx="7353300" cy="1433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7A1DAF3E-2033-4457-81AE-CEB5DB245AB9}"/>
              </a:ext>
            </a:extLst>
          </p:cNvPr>
          <p:cNvSpPr/>
          <p:nvPr/>
        </p:nvSpPr>
        <p:spPr>
          <a:xfrm>
            <a:off x="4073425" y="4692450"/>
            <a:ext cx="287338" cy="276225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zh-CN" altLang="en-US">
              <a:solidFill>
                <a:srgbClr val="FFFFFF"/>
              </a:solidFill>
              <a:latin typeface="Tahoma"/>
              <a:ea typeface="宋体"/>
            </a:endParaRPr>
          </a:p>
        </p:txBody>
      </p:sp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0E3F7AC5-545E-4E93-9522-90CA34F2CC2C}"/>
              </a:ext>
            </a:extLst>
          </p:cNvPr>
          <p:cNvSpPr/>
          <p:nvPr/>
        </p:nvSpPr>
        <p:spPr>
          <a:xfrm>
            <a:off x="8061523" y="1355725"/>
            <a:ext cx="287338" cy="277813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zh-CN" altLang="en-US">
              <a:solidFill>
                <a:srgbClr val="FFFFFF"/>
              </a:solidFill>
              <a:latin typeface="Tahoma"/>
              <a:ea typeface="宋体"/>
            </a:endParaRPr>
          </a:p>
        </p:txBody>
      </p:sp>
      <p:graphicFrame>
        <p:nvGraphicFramePr>
          <p:cNvPr id="14341" name="对象 3">
            <a:extLst>
              <a:ext uri="{FF2B5EF4-FFF2-40B4-BE49-F238E27FC236}">
                <a16:creationId xmlns:a16="http://schemas.microsoft.com/office/drawing/2014/main" id="{79BC0594-14EE-4F45-A4C4-C5D730F0FB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2209800"/>
          <a:ext cx="914400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0" name="Equation" r:id="rId9" imgW="454360" imgH="681540" progId="Equation.DSMT4">
                  <p:embed/>
                </p:oleObj>
              </mc:Choice>
              <mc:Fallback>
                <p:oleObj name="Equation" r:id="rId9" imgW="454360" imgH="681540" progId="Equation.DSMT4">
                  <p:embed/>
                  <p:pic>
                    <p:nvPicPr>
                      <p:cNvPr id="14341" name="对象 3">
                        <a:extLst>
                          <a:ext uri="{FF2B5EF4-FFF2-40B4-BE49-F238E27FC236}">
                            <a16:creationId xmlns:a16="http://schemas.microsoft.com/office/drawing/2014/main" id="{79BC0594-14EE-4F45-A4C4-C5D730F0FB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209800"/>
                        <a:ext cx="914400" cy="22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对象 3">
            <a:extLst>
              <a:ext uri="{FF2B5EF4-FFF2-40B4-BE49-F238E27FC236}">
                <a16:creationId xmlns:a16="http://schemas.microsoft.com/office/drawing/2014/main" id="{554E48A9-E471-4B82-8839-2FE424CD74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28324"/>
              </p:ext>
            </p:extLst>
          </p:nvPr>
        </p:nvGraphicFramePr>
        <p:xfrm>
          <a:off x="1775521" y="6165304"/>
          <a:ext cx="51704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1" name="Equation" r:id="rId11" imgW="2209680" imgH="203040" progId="Equation.DSMT4">
                  <p:embed/>
                </p:oleObj>
              </mc:Choice>
              <mc:Fallback>
                <p:oleObj name="Equation" r:id="rId11" imgW="2209680" imgH="203040" progId="Equation.DSMT4">
                  <p:embed/>
                  <p:pic>
                    <p:nvPicPr>
                      <p:cNvPr id="15374" name="对象 3">
                        <a:extLst>
                          <a:ext uri="{FF2B5EF4-FFF2-40B4-BE49-F238E27FC236}">
                            <a16:creationId xmlns:a16="http://schemas.microsoft.com/office/drawing/2014/main" id="{554E48A9-E471-4B82-8839-2FE424CD74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1" y="6165304"/>
                        <a:ext cx="517048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流程图: 接点 14">
            <a:extLst>
              <a:ext uri="{FF2B5EF4-FFF2-40B4-BE49-F238E27FC236}">
                <a16:creationId xmlns:a16="http://schemas.microsoft.com/office/drawing/2014/main" id="{3E26B318-D517-406D-8241-87C1E4C52C63}"/>
              </a:ext>
            </a:extLst>
          </p:cNvPr>
          <p:cNvSpPr/>
          <p:nvPr/>
        </p:nvSpPr>
        <p:spPr>
          <a:xfrm>
            <a:off x="4193703" y="3976105"/>
            <a:ext cx="287338" cy="277813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zh-CN" altLang="en-US">
              <a:solidFill>
                <a:srgbClr val="FFFFFF"/>
              </a:solidFill>
              <a:latin typeface="Tahoma"/>
              <a:ea typeface="宋体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186ADF-419E-4405-92FA-424CAFF7C075}"/>
              </a:ext>
            </a:extLst>
          </p:cNvPr>
          <p:cNvSpPr txBox="1"/>
          <p:nvPr/>
        </p:nvSpPr>
        <p:spPr>
          <a:xfrm>
            <a:off x="1576850" y="620678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3.4.2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正交补、正交投影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B4EB7F-6CF5-4798-A6B8-61A831A1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58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7">
            <a:extLst>
              <a:ext uri="{FF2B5EF4-FFF2-40B4-BE49-F238E27FC236}">
                <a16:creationId xmlns:a16="http://schemas.microsoft.com/office/drawing/2014/main" id="{D28D9637-5AD4-44FB-AAE6-472F39381A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937127"/>
              </p:ext>
            </p:extLst>
          </p:nvPr>
        </p:nvGraphicFramePr>
        <p:xfrm>
          <a:off x="1127448" y="1484784"/>
          <a:ext cx="9073405" cy="2404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7" name="Equation" r:id="rId3" imgW="4559040" imgH="1206360" progId="Equation.DSMT4">
                  <p:embed/>
                </p:oleObj>
              </mc:Choice>
              <mc:Fallback>
                <p:oleObj name="Equation" r:id="rId3" imgW="4559040" imgH="1206360" progId="Equation.DSMT4">
                  <p:embed/>
                  <p:pic>
                    <p:nvPicPr>
                      <p:cNvPr id="15362" name="Object 7">
                        <a:extLst>
                          <a:ext uri="{FF2B5EF4-FFF2-40B4-BE49-F238E27FC236}">
                            <a16:creationId xmlns:a16="http://schemas.microsoft.com/office/drawing/2014/main" id="{D28D9637-5AD4-44FB-AAE6-472F39381A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48" y="1484784"/>
                        <a:ext cx="9073405" cy="24041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3526EBC-B4E7-4701-A997-4857B1A03C06}"/>
              </a:ext>
            </a:extLst>
          </p:cNvPr>
          <p:cNvSpPr txBox="1"/>
          <p:nvPr/>
        </p:nvSpPr>
        <p:spPr>
          <a:xfrm>
            <a:off x="1723607" y="620688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3.4.2 </a:t>
            </a:r>
            <a:r>
              <a:rPr lang="zh-CN" altLang="en-US" sz="2400" dirty="0">
                <a:solidFill>
                  <a:srgbClr val="2222F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正交补、正交投影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DF688D-C910-4533-9567-663541DFA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59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68E7D-5707-48DA-ACBF-7903B19740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3.6 Schur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引理、正规矩阵</a:t>
            </a:r>
          </a:p>
        </p:txBody>
      </p:sp>
    </p:spTree>
    <p:extLst>
      <p:ext uri="{BB962C8B-B14F-4D97-AF65-F5344CB8AC3E}">
        <p14:creationId xmlns:p14="http://schemas.microsoft.com/office/powerpoint/2010/main" val="22741692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7" name="Text Box 5">
                <a:extLst>
                  <a:ext uri="{FF2B5EF4-FFF2-40B4-BE49-F238E27FC236}">
                    <a16:creationId xmlns:a16="http://schemas.microsoft.com/office/drawing/2014/main" id="{9134D485-842C-4DB8-83EF-D5FDD2DC43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9593" y="1194196"/>
                <a:ext cx="10828739" cy="18735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定义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6.1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𝐵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𝐶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p>
                    </m:sSup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或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 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×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，若存在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𝑈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 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或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×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，使得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𝑈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𝐻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𝐴𝑈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𝑈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−1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𝐴𝑈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𝐵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  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或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𝐴𝑈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𝐴𝑈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则说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酉相似（或正交相似于）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𝐵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.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077" name="Text Box 5">
                <a:extLst>
                  <a:ext uri="{FF2B5EF4-FFF2-40B4-BE49-F238E27FC236}">
                    <a16:creationId xmlns:a16="http://schemas.microsoft.com/office/drawing/2014/main" id="{9134D485-842C-4DB8-83EF-D5FDD2DC4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9593" y="1194196"/>
                <a:ext cx="10828739" cy="1873590"/>
              </a:xfrm>
              <a:prstGeom prst="rect">
                <a:avLst/>
              </a:prstGeom>
              <a:blipFill>
                <a:blip r:embed="rId2"/>
                <a:stretch>
                  <a:fillRect l="-901" b="-684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703512" y="61473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3.6.1 Schur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引理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39CBC6A9-19C1-63C0-F2D2-F4D15E70E8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9593" y="3067786"/>
                <a:ext cx="10684723" cy="580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定理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6.1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Schur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引理）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任何一个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𝑛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阶复矩阵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酉相似于一个上（下）三角矩阵。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39CBC6A9-19C1-63C0-F2D2-F4D15E70E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9593" y="3067786"/>
                <a:ext cx="10684723" cy="580928"/>
              </a:xfrm>
              <a:prstGeom prst="rect">
                <a:avLst/>
              </a:prstGeom>
              <a:blipFill>
                <a:blip r:embed="rId3"/>
                <a:stretch>
                  <a:fillRect l="-913" r="-3767" b="-229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77F8C1D9-F28C-3A09-6D5B-D92F96912B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9593" y="3661093"/>
                <a:ext cx="10828739" cy="2453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定理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6.2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Schur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不等式）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𝐶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,⋯,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为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A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的特征值，则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𝑖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≤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𝑖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CN" sz="2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CN" sz="2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CN" sz="2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其中等号成立的充要条件是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酉相似于对角矩阵。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77F8C1D9-F28C-3A09-6D5B-D92F96912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9593" y="3661093"/>
                <a:ext cx="10828739" cy="2453877"/>
              </a:xfrm>
              <a:prstGeom prst="rect">
                <a:avLst/>
              </a:prstGeom>
              <a:blipFill>
                <a:blip r:embed="rId4"/>
                <a:stretch>
                  <a:fillRect l="-901" b="-49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773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/>
      <p:bldP spid="4" grpId="0"/>
      <p:bldP spid="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7" name="Text Box 5">
                <a:extLst>
                  <a:ext uri="{FF2B5EF4-FFF2-40B4-BE49-F238E27FC236}">
                    <a16:creationId xmlns:a16="http://schemas.microsoft.com/office/drawing/2014/main" id="{9134D485-842C-4DB8-83EF-D5FDD2DC43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376" y="1404316"/>
                <a:ext cx="10828739" cy="2862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定义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6.2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𝐶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，若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𝐻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𝐻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则称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正规矩阵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.</a:t>
                </a: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         若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𝑅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，显然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𝐻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，于是</a:t>
                </a:r>
                <a:endParaRPr kumimoji="0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则称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为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实正规矩阵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077" name="Text Box 5">
                <a:extLst>
                  <a:ext uri="{FF2B5EF4-FFF2-40B4-BE49-F238E27FC236}">
                    <a16:creationId xmlns:a16="http://schemas.microsoft.com/office/drawing/2014/main" id="{9134D485-842C-4DB8-83EF-D5FDD2DC4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376" y="1404316"/>
                <a:ext cx="10828739" cy="2862322"/>
              </a:xfrm>
              <a:prstGeom prst="rect">
                <a:avLst/>
              </a:prstGeom>
              <a:blipFill>
                <a:blip r:embed="rId2"/>
                <a:stretch>
                  <a:fillRect l="-901" t="-1702" b="-38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703512" y="61473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3.6.2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正规矩阵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77F8C1D9-F28C-3A09-6D5B-D92F96912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4226745"/>
            <a:ext cx="10828739" cy="580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Remark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对角阵、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Hermite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矩阵、反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Hermite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矩阵与酉矩阵都是正规矩阵。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557A656B-DC0E-5857-137E-77F82BBC3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4857246"/>
            <a:ext cx="10828739" cy="580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Remark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实对称阵、实反对称阵、正交矩阵也是实正规矩阵。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5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/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7" name="Text Box 5">
                <a:extLst>
                  <a:ext uri="{FF2B5EF4-FFF2-40B4-BE49-F238E27FC236}">
                    <a16:creationId xmlns:a16="http://schemas.microsoft.com/office/drawing/2014/main" id="{9134D485-842C-4DB8-83EF-D5FDD2DC43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410" y="1723005"/>
                <a:ext cx="1082873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引理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6.1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正规矩阵</a:t>
                </a:r>
                <a:r>
                  <a:rPr lang="zh-CN" altLang="en-US" sz="2400" noProof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，则与</a:t>
                </a:r>
                <a14:m>
                  <m:oMath xmlns:m="http://schemas.openxmlformats.org/officeDocument/2006/math">
                    <m:r>
                      <a:rPr lang="en-US" altLang="zh-CN" sz="2400" i="1" noProof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noProof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酉相似的矩阵都是正规矩阵。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077" name="Text Box 5">
                <a:extLst>
                  <a:ext uri="{FF2B5EF4-FFF2-40B4-BE49-F238E27FC236}">
                    <a16:creationId xmlns:a16="http://schemas.microsoft.com/office/drawing/2014/main" id="{9134D485-842C-4DB8-83EF-D5FDD2DC4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6410" y="1723005"/>
                <a:ext cx="10828739" cy="461665"/>
              </a:xfrm>
              <a:prstGeom prst="rect">
                <a:avLst/>
              </a:prstGeom>
              <a:blipFill>
                <a:blip r:embed="rId2"/>
                <a:stretch>
                  <a:fillRect l="-901" t="-10667" b="-30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703512" y="61473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3.6.2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正规矩阵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77F8C1D9-F28C-3A09-6D5B-D92F96912B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409" y="3541637"/>
                <a:ext cx="10839179" cy="22429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定理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6.3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（正规矩阵的结构定理）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𝐶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，则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是正规矩阵的充要条件是存在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𝑈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，使得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𝑈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𝐻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𝐴𝑈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𝑑𝑖𝑎𝑔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𝜆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𝜆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,⋯,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𝜆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,⋯,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的特征值。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77F8C1D9-F28C-3A09-6D5B-D92F96912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6409" y="3541637"/>
                <a:ext cx="10839179" cy="2242922"/>
              </a:xfrm>
              <a:prstGeom prst="rect">
                <a:avLst/>
              </a:prstGeom>
              <a:blipFill>
                <a:blip r:embed="rId3"/>
                <a:stretch>
                  <a:fillRect l="-900" b="-54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A463E43F-B107-07DE-A086-70989BC081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409" y="2632321"/>
                <a:ext cx="1082873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引理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2FC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6.2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正规矩阵</a:t>
                </a:r>
                <a:r>
                  <a:rPr lang="zh-CN" altLang="en-US" sz="2400" noProof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i="1" noProof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noProof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是三角矩阵，则</a:t>
                </a:r>
                <a14:m>
                  <m:oMath xmlns:m="http://schemas.openxmlformats.org/officeDocument/2006/math">
                    <m:r>
                      <a:rPr lang="en-US" altLang="zh-CN" sz="2400" i="1" noProof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noProof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是对角阵。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A463E43F-B107-07DE-A086-70989BC08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6409" y="2632321"/>
                <a:ext cx="10828739" cy="461665"/>
              </a:xfrm>
              <a:prstGeom prst="rect">
                <a:avLst/>
              </a:prstGeom>
              <a:blipFill>
                <a:blip r:embed="rId4"/>
                <a:stretch>
                  <a:fillRect l="-901" t="-10526" b="-289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60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/>
      <p:bldP spid="5" grpId="0"/>
      <p:bldP spid="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703512" y="61473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3.6.2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正规矩阵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557A656B-DC0E-5857-137E-77F82BBC31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1630" y="4029686"/>
                <a:ext cx="10828739" cy="11349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     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充分性</a:t>
                </a:r>
                <a:r>
                  <a:rPr kumimoji="0" lang="zh-CN" altLang="en-US" sz="2400" b="0" i="0" u="none" strike="noStrike" kern="1200" cap="none" spc="0" normalizeH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因为对角阵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𝑑𝑖𝑎𝑔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𝜆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𝜆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,⋯,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𝜆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是正规矩阵，由引理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6.1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知，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是正规矩阵。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557A656B-DC0E-5857-137E-77F82BBC3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630" y="4029686"/>
                <a:ext cx="10828739" cy="1134926"/>
              </a:xfrm>
              <a:prstGeom prst="rect">
                <a:avLst/>
              </a:prstGeom>
              <a:blipFill>
                <a:blip r:embed="rId2"/>
                <a:stretch>
                  <a:fillRect l="-901" b="-118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5">
                <a:extLst>
                  <a:ext uri="{FF2B5EF4-FFF2-40B4-BE49-F238E27FC236}">
                    <a16:creationId xmlns:a16="http://schemas.microsoft.com/office/drawing/2014/main" id="{5B140B7E-4EFB-91E7-102F-ED4B895487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1630" y="1535776"/>
                <a:ext cx="10828739" cy="2058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证明：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必要性</a:t>
                </a:r>
                <a:r>
                  <a:rPr kumimoji="0" lang="zh-CN" altLang="en-US" sz="2400" b="0" i="0" u="none" strike="noStrike" kern="1200" cap="none" spc="0" normalizeH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根据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Schur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引理知，存在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𝑈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，使得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𝐻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𝐴𝑈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𝐵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上三角阵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由引理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6.1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知，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𝐵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是正规矩阵，由引理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6.2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知，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𝐵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是对角阵。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Text Box 5">
                <a:extLst>
                  <a:ext uri="{FF2B5EF4-FFF2-40B4-BE49-F238E27FC236}">
                    <a16:creationId xmlns:a16="http://schemas.microsoft.com/office/drawing/2014/main" id="{5B140B7E-4EFB-91E7-102F-ED4B89548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630" y="1535776"/>
                <a:ext cx="10828739" cy="2058256"/>
              </a:xfrm>
              <a:prstGeom prst="rect">
                <a:avLst/>
              </a:prstGeom>
              <a:blipFill>
                <a:blip r:embed="rId3"/>
                <a:stretch>
                  <a:fillRect l="-901" b="-59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186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703512" y="61473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3.6.2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正规矩阵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557A656B-DC0E-5857-137E-77F82BBC31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1628" y="2665808"/>
                <a:ext cx="10828739" cy="580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推论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6.2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阶正规矩阵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个线性无关的特征向量。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557A656B-DC0E-5857-137E-77F82BBC3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628" y="2665808"/>
                <a:ext cx="10828739" cy="580928"/>
              </a:xfrm>
              <a:prstGeom prst="rect">
                <a:avLst/>
              </a:prstGeom>
              <a:blipFill>
                <a:blip r:embed="rId2"/>
                <a:stretch>
                  <a:fillRect l="-901" b="-229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5">
                <a:extLst>
                  <a:ext uri="{FF2B5EF4-FFF2-40B4-BE49-F238E27FC236}">
                    <a16:creationId xmlns:a16="http://schemas.microsoft.com/office/drawing/2014/main" id="{5B140B7E-4EFB-91E7-102F-ED4B895487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1630" y="1417489"/>
                <a:ext cx="10828739" cy="1147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推论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6.1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正规矩阵，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的特征值，对应的特征向量是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𝑥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，则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zh-CN" alt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𝜆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zh-CN" altLang="en-US" sz="2400" i="1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是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的特征值，其对应的特征向量是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𝑥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 Box 5">
                <a:extLst>
                  <a:ext uri="{FF2B5EF4-FFF2-40B4-BE49-F238E27FC236}">
                    <a16:creationId xmlns:a16="http://schemas.microsoft.com/office/drawing/2014/main" id="{5B140B7E-4EFB-91E7-102F-ED4B89548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630" y="1417489"/>
                <a:ext cx="10828739" cy="1147365"/>
              </a:xfrm>
              <a:prstGeom prst="rect">
                <a:avLst/>
              </a:prstGeom>
              <a:blipFill>
                <a:blip r:embed="rId3"/>
                <a:stretch>
                  <a:fillRect l="-901" r="-56" b="-1170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5">
            <a:extLst>
              <a:ext uri="{FF2B5EF4-FFF2-40B4-BE49-F238E27FC236}">
                <a16:creationId xmlns:a16="http://schemas.microsoft.com/office/drawing/2014/main" id="{250F02B1-048C-5524-494F-BA48A9FF1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28" y="3365545"/>
            <a:ext cx="10828739" cy="580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推论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6.3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正规矩阵属于不同特征值的特征子空间是互相正交的。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45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703512" y="61473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3.6.2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正规矩阵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5">
                <a:extLst>
                  <a:ext uri="{FF2B5EF4-FFF2-40B4-BE49-F238E27FC236}">
                    <a16:creationId xmlns:a16="http://schemas.microsoft.com/office/drawing/2014/main" id="{5B140B7E-4EFB-91E7-102F-ED4B895487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5263" y="1096448"/>
                <a:ext cx="10828739" cy="18735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   当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是正规矩阵，求酉矩阵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𝑈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，使得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𝑈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𝐻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𝐴𝑈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对角</m:t>
                      </m:r>
                      <m:r>
                        <a:rPr lang="zh-CN" altLang="en-US" sz="240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矩阵</m:t>
                      </m:r>
                    </m:oMath>
                  </m:oMathPara>
                </a14:m>
                <a:endParaRPr lang="en-US" altLang="zh-CN" sz="2400" i="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具体求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𝑈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的步骤如下：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Text Box 5">
                <a:extLst>
                  <a:ext uri="{FF2B5EF4-FFF2-40B4-BE49-F238E27FC236}">
                    <a16:creationId xmlns:a16="http://schemas.microsoft.com/office/drawing/2014/main" id="{5B140B7E-4EFB-91E7-102F-ED4B89548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5263" y="1096448"/>
                <a:ext cx="10828739" cy="1873590"/>
              </a:xfrm>
              <a:prstGeom prst="rect">
                <a:avLst/>
              </a:prstGeom>
              <a:blipFill>
                <a:blip r:embed="rId2"/>
                <a:stretch>
                  <a:fillRect l="-901" b="-684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1627" y="2879126"/>
                <a:ext cx="10828739" cy="580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1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）求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𝐸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−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𝐴</m:t>
                        </m:r>
                      </m:e>
                    </m:d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=0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,⋯,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627" y="2879126"/>
                <a:ext cx="10828739" cy="580928"/>
              </a:xfrm>
              <a:prstGeom prst="rect">
                <a:avLst/>
              </a:prstGeom>
              <a:blipFill>
                <a:blip r:embed="rId3"/>
                <a:stretch>
                  <a:fillRect l="-901" b="-229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14D69714-FFC5-395F-BCB8-FB2E7FEFAD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3331" y="3385659"/>
                <a:ext cx="10828739" cy="6497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2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）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对每一个相异的特征值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的特征子空间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𝜆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14D69714-FFC5-395F-BCB8-FB2E7FEFA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3331" y="3385659"/>
                <a:ext cx="10828739" cy="649730"/>
              </a:xfrm>
              <a:prstGeom prst="rect">
                <a:avLst/>
              </a:prstGeom>
              <a:blipFill>
                <a:blip r:embed="rId4"/>
                <a:stretch>
                  <a:fillRect l="-844" b="-140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5">
                <a:extLst>
                  <a:ext uri="{FF2B5EF4-FFF2-40B4-BE49-F238E27FC236}">
                    <a16:creationId xmlns:a16="http://schemas.microsoft.com/office/drawing/2014/main" id="{4BD4BBEF-5542-E342-E15B-B5D9F681DA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9647" y="3954929"/>
                <a:ext cx="10828739" cy="6497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3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）</a:t>
                </a:r>
                <a:r>
                  <a:rPr lang="zh-CN" altLang="en-US" sz="2400" noProof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用</a:t>
                </a:r>
                <a:r>
                  <a:rPr lang="en-US" altLang="zh-CN" sz="2400" noProof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Schmidt</a:t>
                </a:r>
                <a:r>
                  <a:rPr lang="zh-CN" altLang="en-US" sz="2400" noProof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正交化与单位化方法，求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noProof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noProof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b="0" i="1" noProof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noProof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400" b="0" i="1" noProof="0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的标准正交基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𝜀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𝑖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𝜀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𝑖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,⋯,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𝜀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𝑖𝑛</m:t>
                        </m:r>
                      </m:sub>
                    </m:sSub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Text Box 5">
                <a:extLst>
                  <a:ext uri="{FF2B5EF4-FFF2-40B4-BE49-F238E27FC236}">
                    <a16:creationId xmlns:a16="http://schemas.microsoft.com/office/drawing/2014/main" id="{4BD4BBEF-5542-E342-E15B-B5D9F681D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9647" y="3954929"/>
                <a:ext cx="10828739" cy="649730"/>
              </a:xfrm>
              <a:prstGeom prst="rect">
                <a:avLst/>
              </a:prstGeom>
              <a:blipFill>
                <a:blip r:embed="rId5"/>
                <a:stretch>
                  <a:fillRect l="-845" b="-150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5">
                <a:extLst>
                  <a:ext uri="{FF2B5EF4-FFF2-40B4-BE49-F238E27FC236}">
                    <a16:creationId xmlns:a16="http://schemas.microsoft.com/office/drawing/2014/main" id="{337B493F-3DDA-7FFA-06F8-A42AD496DA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9647" y="4642359"/>
                <a:ext cx="10828739" cy="1814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4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）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命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𝑈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11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,⋯,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21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,⋯,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,⋯,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𝑠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,⋯,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𝑠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则酉矩阵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𝑈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满足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𝑈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𝐻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𝐴𝑈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𝑑𝑖𝑎𝑔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𝜆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𝜆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,⋯,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𝜆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9" name="Text Box 5">
                <a:extLst>
                  <a:ext uri="{FF2B5EF4-FFF2-40B4-BE49-F238E27FC236}">
                    <a16:creationId xmlns:a16="http://schemas.microsoft.com/office/drawing/2014/main" id="{337B493F-3DDA-7FFA-06F8-A42AD496D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9647" y="4642359"/>
                <a:ext cx="10828739" cy="1814407"/>
              </a:xfrm>
              <a:prstGeom prst="rect">
                <a:avLst/>
              </a:prstGeom>
              <a:blipFill>
                <a:blip r:embed="rId6"/>
                <a:stretch>
                  <a:fillRect l="-845" t="-2694" b="-43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80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703512" y="61473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3.6.2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正规矩阵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5">
                <a:extLst>
                  <a:ext uri="{FF2B5EF4-FFF2-40B4-BE49-F238E27FC236}">
                    <a16:creationId xmlns:a16="http://schemas.microsoft.com/office/drawing/2014/main" id="{5B140B7E-4EFB-91E7-102F-ED4B895487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5263" y="1096448"/>
                <a:ext cx="10828739" cy="9358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例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1.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已知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验证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是正规矩阵，且求酉矩阵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𝑈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，使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𝐻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𝐴𝑈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为对角阵。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Text Box 5">
                <a:extLst>
                  <a:ext uri="{FF2B5EF4-FFF2-40B4-BE49-F238E27FC236}">
                    <a16:creationId xmlns:a16="http://schemas.microsoft.com/office/drawing/2014/main" id="{5B140B7E-4EFB-91E7-102F-ED4B89548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5263" y="1096448"/>
                <a:ext cx="10828739" cy="935834"/>
              </a:xfrm>
              <a:prstGeom prst="rect">
                <a:avLst/>
              </a:prstGeom>
              <a:blipFill>
                <a:blip r:embed="rId2"/>
                <a:stretch>
                  <a:fillRect l="-901" r="-788" b="-13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5262" y="1979366"/>
                <a:ext cx="10828739" cy="18755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解：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由于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𝐻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−1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经计算得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𝐻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𝐴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𝐻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spcBef>
                    <a:spcPct val="50000"/>
                  </a:spcBef>
                  <a:defRPr/>
                </a:pPr>
                <a:r>
                  <a:rPr lang="zh-CN" altLang="en-US" sz="2400" noProof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2400" i="1" noProof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noProof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是正规矩阵。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5262" y="1979366"/>
                <a:ext cx="10828739" cy="1875578"/>
              </a:xfrm>
              <a:prstGeom prst="rect">
                <a:avLst/>
              </a:prstGeom>
              <a:blipFill>
                <a:blip r:embed="rId3"/>
                <a:stretch>
                  <a:fillRect l="-901" b="-684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5">
                <a:extLst>
                  <a:ext uri="{FF2B5EF4-FFF2-40B4-BE49-F238E27FC236}">
                    <a16:creationId xmlns:a16="http://schemas.microsoft.com/office/drawing/2014/main" id="{337B493F-3DDA-7FFA-06F8-A42AD496DA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5261" y="4088594"/>
                <a:ext cx="10828739" cy="16729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        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的特征多项式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𝜆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𝐸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−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𝐴</m:t>
                          </m:r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𝜆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𝜆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𝜆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−2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𝜆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+2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于是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的特征值：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=1+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=1−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9" name="Text Box 5">
                <a:extLst>
                  <a:ext uri="{FF2B5EF4-FFF2-40B4-BE49-F238E27FC236}">
                    <a16:creationId xmlns:a16="http://schemas.microsoft.com/office/drawing/2014/main" id="{337B493F-3DDA-7FFA-06F8-A42AD496D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5261" y="4088594"/>
                <a:ext cx="10828739" cy="1672958"/>
              </a:xfrm>
              <a:prstGeom prst="rect">
                <a:avLst/>
              </a:prstGeom>
              <a:blipFill>
                <a:blip r:embed="rId4"/>
                <a:stretch>
                  <a:fillRect l="-901" t="-2920" b="-766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379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703512" y="61473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3.6.2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正规矩阵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1384" y="1382301"/>
                <a:ext cx="10513168" cy="20240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     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=1+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𝑖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时，特征矩阵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𝐸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−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spcBef>
                    <a:spcPct val="50000"/>
                  </a:spcBef>
                  <a:defRPr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𝑖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，所以属于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的单位特征向量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𝛼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𝑖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kumimoji="0" lang="en-US" altLang="zh-CN" sz="2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kumimoji="0" lang="en-US" altLang="zh-CN" sz="2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,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kumimoji="0" lang="en-US" altLang="zh-CN" sz="2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kumimoji="0" lang="en-US" altLang="zh-CN" sz="2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384" y="1382301"/>
                <a:ext cx="10513168" cy="2024080"/>
              </a:xfrm>
              <a:prstGeom prst="rect">
                <a:avLst/>
              </a:prstGeom>
              <a:blipFill>
                <a:blip r:embed="rId2"/>
                <a:stretch>
                  <a:fillRect l="-870" t="-2410" b="-120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A365D024-85DF-3639-8841-A0CC8F74E9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2939" y="3451620"/>
                <a:ext cx="10513168" cy="20240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     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=1−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𝑖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时，特征矩阵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𝐸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−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spcBef>
                    <a:spcPct val="50000"/>
                  </a:spcBef>
                  <a:defRPr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𝑖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，所以属于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的单位特征向量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𝛼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𝑖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kumimoji="0" lang="en-US" altLang="zh-CN" sz="2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kumimoji="0" lang="en-US" altLang="zh-CN" sz="2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,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kumimoji="0" lang="en-US" altLang="zh-CN" sz="2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kumimoji="0" lang="en-US" altLang="zh-CN" sz="2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A365D024-85DF-3639-8841-A0CC8F74E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939" y="3451620"/>
                <a:ext cx="10513168" cy="2024080"/>
              </a:xfrm>
              <a:prstGeom prst="rect">
                <a:avLst/>
              </a:prstGeom>
              <a:blipFill>
                <a:blip r:embed="rId3"/>
                <a:stretch>
                  <a:fillRect l="-928" t="-2410" b="-120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922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703512" y="61473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3.6.2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正规矩阵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1384" y="1484784"/>
                <a:ext cx="10513168" cy="3384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     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命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 defTabSz="457200"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𝑈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𝑖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𝑖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spcBef>
                    <a:spcPct val="50000"/>
                  </a:spcBef>
                  <a:defRPr/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是酉矩阵，且满足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 defTabSz="457200"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𝑈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𝐻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𝐴𝑈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1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1−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400" b="0" i="0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384" y="1484784"/>
                <a:ext cx="10513168" cy="3384966"/>
              </a:xfrm>
              <a:prstGeom prst="rect">
                <a:avLst/>
              </a:prstGeom>
              <a:blipFill>
                <a:blip r:embed="rId2"/>
                <a:stretch>
                  <a:fillRect l="-116" t="-14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21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703512" y="61473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3.6.2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正规矩阵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1384" y="692696"/>
                <a:ext cx="10801200" cy="2045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5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例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2.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已知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验证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是正规矩阵，且求酉矩阵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𝑈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𝑈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𝐻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𝐴𝑈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为对角阵。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384" y="692696"/>
                <a:ext cx="10801200" cy="2045175"/>
              </a:xfrm>
              <a:prstGeom prst="rect">
                <a:avLst/>
              </a:prstGeom>
              <a:blipFill>
                <a:blip r:embed="rId2"/>
                <a:stretch>
                  <a:fillRect l="-847" b="-62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C1785157-22B6-A924-9EBB-B7AD47A7F3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1384" y="2709898"/>
                <a:ext cx="10801200" cy="10690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A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Hermite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矩阵，也是正规矩阵。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C1785157-22B6-A924-9EBB-B7AD47A7F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384" y="2709898"/>
                <a:ext cx="10801200" cy="10690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9084869E-5AFB-753F-C6B2-2F15F5F10B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5400" y="3778909"/>
                <a:ext cx="10153128" cy="2338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2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𝐸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−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𝐴</m:t>
                        </m:r>
                      </m:e>
                    </m:d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𝜆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𝑖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𝑖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𝜆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𝑖</m:t>
                              </m:r>
                            </m:e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lnSpc>
                    <a:spcPct val="12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                                                     </m:t>
                      </m:r>
                      <m:r>
                        <a:rPr lang="en-US" altLang="zh-CN" sz="2400" dirty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𝜆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3</m:t>
                          </m:r>
                        </m:sup>
                      </m:sSup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−3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𝜆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−2=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𝜆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𝜆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n-US" altLang="zh-CN" sz="2400" b="0" i="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的特征值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=−1,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3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=2.</m:t>
                    </m:r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9084869E-5AFB-753F-C6B2-2F15F5F10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5400" y="3778909"/>
                <a:ext cx="10153128" cy="2338204"/>
              </a:xfrm>
              <a:prstGeom prst="rect">
                <a:avLst/>
              </a:prstGeom>
              <a:blipFill>
                <a:blip r:embed="rId4"/>
                <a:stretch>
                  <a:fillRect l="-120" b="-52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994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703512" y="61473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3.6.2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正规矩阵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785" y="1340768"/>
                <a:ext cx="10801200" cy="51196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2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    </a:t>
                </a:r>
                <a:r>
                  <a:rPr lang="zh-CN" altLang="en-US" sz="2400" noProof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=−1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的特征矩阵作初等变换得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lnSpc>
                    <a:spcPct val="125000"/>
                  </a:lnSpc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𝐸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−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→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lnSpc>
                    <a:spcPct val="125000"/>
                  </a:lnSpc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+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𝑖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lnSpc>
                    <a:spcPct val="125000"/>
                  </a:lnSpc>
                  <a:spcBef>
                    <a:spcPct val="50000"/>
                  </a:spcBef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解得属于特征值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-1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的特征向量为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lnSpc>
                    <a:spcPct val="125000"/>
                  </a:lnSpc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1,0,1</m:t>
                              </m:r>
                            </m:e>
                          </m:d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,   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0,1,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𝑖</m:t>
                              </m:r>
                            </m:e>
                          </m:d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lnSpc>
                    <a:spcPct val="125000"/>
                  </a:lnSpc>
                  <a:spcBef>
                    <a:spcPct val="50000"/>
                  </a:spcBef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用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Schmidt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方法把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𝛼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𝛼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单位化并正交化得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lnSpc>
                    <a:spcPct val="125000"/>
                  </a:lnSpc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, 0,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,     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𝑖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𝑖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785" y="1340768"/>
                <a:ext cx="10801200" cy="5119607"/>
              </a:xfrm>
              <a:prstGeom prst="rect">
                <a:avLst/>
              </a:prstGeom>
              <a:blipFill>
                <a:blip r:embed="rId2"/>
                <a:stretch>
                  <a:fillRect l="-8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00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703512" y="61473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3.6.2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正规矩阵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785" y="1340768"/>
                <a:ext cx="10801200" cy="40116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lnSpc>
                    <a:spcPct val="12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    </a:t>
                </a:r>
                <a:r>
                  <a:rPr lang="zh-CN" altLang="en-US" sz="2400" noProof="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3</m:t>
                        </m:r>
                      </m:sub>
                    </m:sSub>
                    <m:r>
                      <a:rPr lang="en-US" altLang="zh-CN" sz="2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=2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的特征矩阵作初等变换得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lnSpc>
                    <a:spcPct val="125000"/>
                  </a:lnSpc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𝐸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−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→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−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lnSpc>
                    <a:spcPct val="125000"/>
                  </a:lnSpc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=0,      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−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𝑖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lnSpc>
                    <a:spcPct val="125000"/>
                  </a:lnSpc>
                  <a:spcBef>
                    <a:spcPct val="50000"/>
                  </a:spcBef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解得属于特征值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单位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特征向量为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 defTabSz="457200">
                  <a:lnSpc>
                    <a:spcPct val="125000"/>
                  </a:lnSpc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𝑖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785" y="1340768"/>
                <a:ext cx="10801200" cy="4011611"/>
              </a:xfrm>
              <a:prstGeom prst="rect">
                <a:avLst/>
              </a:prstGeom>
              <a:blipFill>
                <a:blip r:embed="rId2"/>
                <a:stretch>
                  <a:fillRect l="-8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409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703512" y="61473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3.6.2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正规矩阵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785" y="1340768"/>
                <a:ext cx="10801200" cy="47237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       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命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𝑈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𝑖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  <m:t>6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  <m:t>6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𝑖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𝑖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  <m:t>6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altLang="zh-CN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0" lang="en-US" altLang="zh-CN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  <a:cs typeface="+mn-cs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lnSpc>
                    <a:spcPct val="12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𝑈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是酉矩阵，且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marR="0" lvl="0" indent="0" defTabSz="457200" rtl="0" eaLnBrk="1" fontAlgn="auto" latinLnBrk="0" hangingPunct="1">
                  <a:lnSpc>
                    <a:spcPct val="12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𝑈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𝐻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𝐴𝑈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400" b="0" i="0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785" y="1340768"/>
                <a:ext cx="10801200" cy="4723729"/>
              </a:xfrm>
              <a:prstGeom prst="rect">
                <a:avLst/>
              </a:prstGeom>
              <a:blipFill>
                <a:blip r:embed="rId2"/>
                <a:stretch>
                  <a:fillRect l="-113" t="-10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366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26CDC20-0C7B-44F0-A2A1-A4C55C93973C}"/>
              </a:ext>
            </a:extLst>
          </p:cNvPr>
          <p:cNvSpPr txBox="1"/>
          <p:nvPr/>
        </p:nvSpPr>
        <p:spPr>
          <a:xfrm>
            <a:off x="1703512" y="61473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3.6.2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F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正规矩阵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C307DF-83E1-4641-A3CF-43061DBB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392" y="1844824"/>
                <a:ext cx="10801200" cy="21236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定理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6.4 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是正规矩阵，则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1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）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Hermite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矩阵的充要条件是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的特征值是实数。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是反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Hermite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矩阵的充要条件是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的特征值的实部为零。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marR="0" lvl="0" indent="0" defTabSz="457200" rtl="0" eaLnBrk="1" fontAlgn="auto" latinLnBrk="0" hangingPunct="1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3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）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是酉矩阵的充要条件是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的特征值的模长等于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1.</a:t>
                </a:r>
              </a:p>
            </p:txBody>
          </p:sp>
        </mc:Choice>
        <mc:Fallback xmlns="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250F02B1-048C-5524-494F-BA48A9FF1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392" y="1844824"/>
                <a:ext cx="10801200" cy="2123658"/>
              </a:xfrm>
              <a:prstGeom prst="rect">
                <a:avLst/>
              </a:prstGeom>
              <a:blipFill>
                <a:blip r:embed="rId2"/>
                <a:stretch>
                  <a:fillRect l="-847" t="-2299" b="-57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813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楷体_GB2312"/>
        <a:ea typeface="楷体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楷体_GB2312"/>
        <a:ea typeface="楷体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6.xml><?xml version="1.0" encoding="utf-8"?>
<a:theme xmlns:a="http://schemas.openxmlformats.org/drawingml/2006/main" name="2_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7.xml><?xml version="1.0" encoding="utf-8"?>
<a:theme xmlns:a="http://schemas.openxmlformats.org/drawingml/2006/main" name="3_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4316</TotalTime>
  <Words>1430</Words>
  <Application>Microsoft Office PowerPoint</Application>
  <PresentationFormat>宽屏</PresentationFormat>
  <Paragraphs>323</Paragraphs>
  <Slides>74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74</vt:i4>
      </vt:variant>
    </vt:vector>
  </HeadingPairs>
  <TitlesOfParts>
    <vt:vector size="100" baseType="lpstr">
      <vt:lpstr>等线</vt:lpstr>
      <vt:lpstr>方正舒体</vt:lpstr>
      <vt:lpstr>黑体</vt:lpstr>
      <vt:lpstr>华文中宋</vt:lpstr>
      <vt:lpstr>楷体_GB2312</vt:lpstr>
      <vt:lpstr>宋体</vt:lpstr>
      <vt:lpstr>Arial</vt:lpstr>
      <vt:lpstr>Arial Black</vt:lpstr>
      <vt:lpstr>Calibri</vt:lpstr>
      <vt:lpstr>Calibri Light</vt:lpstr>
      <vt:lpstr>Cambria Math</vt:lpstr>
      <vt:lpstr>Garamond</vt:lpstr>
      <vt:lpstr>Monotype Corsiva</vt:lpstr>
      <vt:lpstr>Tahoma</vt:lpstr>
      <vt:lpstr>Times New Roman</vt:lpstr>
      <vt:lpstr>Wingdings</vt:lpstr>
      <vt:lpstr>Wingdings 2</vt:lpstr>
      <vt:lpstr>HDOfficeLightV0</vt:lpstr>
      <vt:lpstr>Pixel</vt:lpstr>
      <vt:lpstr>Blends</vt:lpstr>
      <vt:lpstr>1_Blends</vt:lpstr>
      <vt:lpstr>环保</vt:lpstr>
      <vt:lpstr>2_环保</vt:lpstr>
      <vt:lpstr>3_环保</vt:lpstr>
      <vt:lpstr>Equation</vt:lpstr>
      <vt:lpstr>MathType 6.0 Equation</vt:lpstr>
      <vt:lpstr>PowerPoint 演示文稿</vt:lpstr>
      <vt:lpstr>3.1 欧氏空间、酉空间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 标准正交基、Schmidt方法</vt:lpstr>
      <vt:lpstr>PowerPoint 演示文稿</vt:lpstr>
      <vt:lpstr>PowerPoint 演示文稿</vt:lpstr>
      <vt:lpstr>定理 2.1 正交向量组（不含零向量）是线性无关向量组。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 酉变换、正交变换</vt:lpstr>
      <vt:lpstr>PowerPoint 演示文稿</vt:lpstr>
      <vt:lpstr>酉矩阵性质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 幂等矩阵、正交投影</vt:lpstr>
      <vt:lpstr>PowerPoint 演示文稿</vt:lpstr>
      <vt:lpstr>定理4.1</vt:lpstr>
      <vt:lpstr>PowerPoint 演示文稿</vt:lpstr>
      <vt:lpstr>定理4.2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3.6 Schur引理、正规矩阵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第一节  欧氏空间、酉空间</dc:title>
  <dc:creator>lhs</dc:creator>
  <cp:lastModifiedBy>dell</cp:lastModifiedBy>
  <cp:revision>79</cp:revision>
  <cp:lastPrinted>2022-11-20T12:02:58Z</cp:lastPrinted>
  <dcterms:created xsi:type="dcterms:W3CDTF">2003-11-22T21:16:13Z</dcterms:created>
  <dcterms:modified xsi:type="dcterms:W3CDTF">2023-11-15T07:29:51Z</dcterms:modified>
</cp:coreProperties>
</file>