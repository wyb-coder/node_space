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0" r:id="rId1"/>
    <p:sldMasterId id="2147483812" r:id="rId2"/>
    <p:sldMasterId id="2147483842" r:id="rId3"/>
    <p:sldMasterId id="2147483892" r:id="rId4"/>
    <p:sldMasterId id="2147483906" r:id="rId5"/>
    <p:sldMasterId id="2147483924" r:id="rId6"/>
  </p:sldMasterIdLst>
  <p:notesMasterIdLst>
    <p:notesMasterId r:id="rId45"/>
  </p:notesMasterIdLst>
  <p:handoutMasterIdLst>
    <p:handoutMasterId r:id="rId46"/>
  </p:handoutMasterIdLst>
  <p:sldIdLst>
    <p:sldId id="298" r:id="rId7"/>
    <p:sldId id="309" r:id="rId8"/>
    <p:sldId id="307" r:id="rId9"/>
    <p:sldId id="296" r:id="rId10"/>
    <p:sldId id="256" r:id="rId11"/>
    <p:sldId id="300" r:id="rId12"/>
    <p:sldId id="301" r:id="rId13"/>
    <p:sldId id="340" r:id="rId14"/>
    <p:sldId id="341" r:id="rId15"/>
    <p:sldId id="342" r:id="rId16"/>
    <p:sldId id="302" r:id="rId17"/>
    <p:sldId id="343" r:id="rId18"/>
    <p:sldId id="344" r:id="rId19"/>
    <p:sldId id="310" r:id="rId20"/>
    <p:sldId id="311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08" r:id="rId31"/>
    <p:sldId id="257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65" r:id="rId44"/>
  </p:sldIdLst>
  <p:sldSz cx="12192000" cy="6858000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30" autoAdjust="0"/>
    <p:restoredTop sz="90929"/>
  </p:normalViewPr>
  <p:slideViewPr>
    <p:cSldViewPr>
      <p:cViewPr varScale="1">
        <p:scale>
          <a:sx n="102" d="100"/>
          <a:sy n="102" d="100"/>
        </p:scale>
        <p:origin x="150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C4A74-658F-4AA3-8FF8-818328ADB058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98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027" y="6456698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ACEEC-160C-4DE4-9ED0-8DBD97EF3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330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EEE2B77-74D5-4FE2-A3CD-3CFB3D4F7E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84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D86357-BBC5-4848-BF16-5A665AECE9D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593125" y="0"/>
            <a:ext cx="427884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0AC7368-D48C-4469-A989-C1FDAC858E90}" type="datetimeFigureOut">
              <a:rPr lang="zh-CN" altLang="en-US"/>
              <a:pPr>
                <a:defRPr/>
              </a:pPr>
              <a:t>2024/12/13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5D27E8A-9BB3-4F8F-A208-468E6B198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9875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4DE94FC-BF02-452E-8207-75F948F73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87426" y="3271381"/>
            <a:ext cx="789940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742AC2-CA9D-47A2-8545-82A6F5A2E4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27884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D29D1D-F9D2-49D9-B3BE-EB4316DAB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593125" y="6456612"/>
            <a:ext cx="427884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170EE65-0C9F-47E6-9333-1C91FD451B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71763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074800-B55B-43BE-BA8B-ADE373D1120E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43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03134E-E0F2-4682-B484-D0D891D289A4}" type="slidenum">
              <a:rPr lang="zh-CN" altLang="en-US" smtClean="0">
                <a:latin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8300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70EE65-0C9F-47E6-9333-1C91FD451BFA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4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70EE65-0C9F-47E6-9333-1C91FD451BFA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09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755898-8FD4-4964-B4BC-AA646DD2E2DA}" type="slidenum">
              <a:rPr lang="en-US" altLang="zh-CN" smtClean="0">
                <a:solidFill>
                  <a:srgbClr val="1C1C1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93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B680AF-C5C1-499C-8332-B6623D96608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34C5F8-D23A-4C9B-89C4-004DA083814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86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5C62C5-D8BD-45D3-8DFE-AF86FD4E640A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030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465D5D-4317-43F7-96E2-545B31FADE6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142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61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D20362-9C4A-447B-BF66-33DDC3C33AA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153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02A06D-A098-4C3D-976F-6656EA86D46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665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91C385-4FD6-40D0-9EF7-B11DD1F280A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42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949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0379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375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0379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55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E8A036-B214-4C7B-91A8-FE0C3205C3D5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387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5201B5-CB4D-42D1-A24C-89C5084F027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965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CA570B-6248-4CA0-8BEA-67BAB01BE08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655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855FC78-BCC3-4F66-9FB6-31CC4AE3B8AF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356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0C81236-4C05-4C18-9F3A-618683FD7793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172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9D95E8-65F7-4EBC-A32B-46733FC53D48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696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68F74B-42FF-42F5-B81D-7F87A6CB4FB7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4001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B1C4B2-3F16-4E19-8E7D-26797EC984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3696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279BCE-FBD0-4480-9323-D616018F075E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625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FDE0CD1-61CC-4DCB-A2D6-23C7AF07CC9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739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1E5CFAC-FA47-4892-8698-F2EBC73130B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3491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" y="228605"/>
            <a:ext cx="12012084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81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219200" y="609600"/>
            <a:ext cx="103632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北京大学博士学位论文－</a:t>
            </a:r>
            <a:r>
              <a:rPr lang="en-US" altLang="zh-CN"/>
              <a:t>Weyl</a:t>
            </a:r>
            <a:r>
              <a:rPr lang="zh-CN" altLang="en-US"/>
              <a:t>变换</a:t>
            </a:r>
          </a:p>
        </p:txBody>
      </p:sp>
      <p:sp>
        <p:nvSpPr>
          <p:cNvPr id="4814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1C1C1C"/>
                </a:solidFill>
              </a:rPr>
              <a:t> </a:t>
            </a:r>
            <a:endParaRPr kumimoji="0" lang="en-US" altLang="zh-CN">
              <a:solidFill>
                <a:srgbClr val="1C1C1C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kumimoji="0" lang="en-US" altLang="zh-CN">
              <a:solidFill>
                <a:srgbClr val="1C1C1C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0D425A-48ED-45D3-9AE8-22C95A6F9ECE}" type="slidenum">
              <a:rPr kumimoji="0" lang="en-US" altLang="zh-CN" smtClean="0">
                <a:solidFill>
                  <a:srgbClr val="1C1C1C"/>
                </a:solidFill>
              </a:rPr>
              <a:pPr/>
              <a:t>‹#›</a:t>
            </a:fld>
            <a:endParaRPr kumimoji="0"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3791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799F26-E3E5-4F6F-9872-A21358C3BDF9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327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6CDEC3-01D6-43B5-924F-A5439378DD1A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86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22400" y="1447800"/>
            <a:ext cx="5080000" cy="4648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05600" y="1447800"/>
            <a:ext cx="5080000" cy="4648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DF9A94-B4FE-4245-B835-B5A8845469EB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271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4EB713-BF65-4991-9402-E7C225BA0FD4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838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183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055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4862E7-97C5-4033-9E8B-39B4E96AAAFB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8717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F4CB8B-EACA-4FCC-A826-277379CAD8FE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1251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13CC36-E690-4505-9461-93C12D4DE0D6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3841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15970" y="457200"/>
            <a:ext cx="2597151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22403" y="457200"/>
            <a:ext cx="7590367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F22E1E-D7C8-4D0F-AC56-51C07BD824F8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8446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422400" y="457200"/>
            <a:ext cx="10390717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29DED6-B8C8-4242-AC6F-7408EEB1EE75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5074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2400" y="457200"/>
            <a:ext cx="10390717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422400" y="1447800"/>
            <a:ext cx="508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05600" y="1447800"/>
            <a:ext cx="508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F88537-C7F8-4E81-BA8B-198248C63DB5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206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" y="228605"/>
            <a:ext cx="12012084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81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219200" y="609600"/>
            <a:ext cx="103632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北京大学博士学位论文－</a:t>
            </a:r>
            <a:r>
              <a:rPr lang="en-US" altLang="zh-CN"/>
              <a:t>Weyl</a:t>
            </a:r>
            <a:r>
              <a:rPr lang="zh-CN" altLang="en-US"/>
              <a:t>变换</a:t>
            </a:r>
          </a:p>
        </p:txBody>
      </p:sp>
      <p:sp>
        <p:nvSpPr>
          <p:cNvPr id="4814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9E0D425A-48ED-45D3-9AE8-22C95A6F9ECE}" type="slidenum">
              <a:rPr lang="en-US" altLang="zh-CN" smtClean="0">
                <a:solidFill>
                  <a:srgbClr val="1C1C1C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8634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89799F26-E3E5-4F6F-9872-A21358C3BDF9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14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CB6CDEC3-01D6-43B5-924F-A5439378DD1A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2482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22400" y="1447800"/>
            <a:ext cx="5080000" cy="4648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05600" y="1447800"/>
            <a:ext cx="5080000" cy="4648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4DF9A94-B4FE-4245-B835-B5A8845469EB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984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E4EB713-BF65-4991-9402-E7C225BA0FD4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2688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281FBE21-B40B-4B64-ABBE-395E3EC7A610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4817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9EFF0944-2518-4343-8163-3F075A3F9F1C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0697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984862E7-97C5-4033-9E8B-39B4E96AAAFB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7017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B5F4CB8B-EACA-4FCC-A826-277379CAD8FE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2946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CF13CC36-E690-4505-9461-93C12D4DE0D6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7177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15970" y="457200"/>
            <a:ext cx="2597151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22403" y="457200"/>
            <a:ext cx="7590367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26F22E1E-D7C8-4D0F-AC56-51C07BD824F8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9726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422400" y="457200"/>
            <a:ext cx="10390717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1029DED6-B8C8-4242-AC6F-7408EEB1EE75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68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2400" y="457200"/>
            <a:ext cx="10390717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422400" y="1447800"/>
            <a:ext cx="508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05600" y="1447800"/>
            <a:ext cx="508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F1F88537-C7F8-4E81-BA8B-198248C63DB5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68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755898-8FD4-4964-B4BC-AA646DD2E2DA}" type="slidenum">
              <a:rPr lang="en-US" altLang="zh-CN" smtClean="0">
                <a:solidFill>
                  <a:srgbClr val="1C1C1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7480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B680AF-C5C1-499C-8332-B6623D96608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514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34C5F8-D23A-4C9B-89C4-004DA083814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2838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5C62C5-D8BD-45D3-8DFE-AF86FD4E640A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143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465D5D-4317-43F7-96E2-545B31FADE6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659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6155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40454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D20362-9C4A-447B-BF66-33DDC3C33AA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6306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02A06D-A098-4C3D-976F-6656EA86D46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8126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95733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3700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43813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57338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3426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7204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91C385-4FD6-40D0-9EF7-B11DD1F280A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0683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5084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2755898-8FD4-4964-B4BC-AA646DD2E2DA}" type="slidenum">
              <a:rPr lang="en-US" altLang="zh-CN" smtClean="0">
                <a:solidFill>
                  <a:srgbClr val="1C1C1C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0319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7B680AF-C5C1-499C-8332-B6623D96608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6685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D34C5F8-D23A-4C9B-89C4-004DA083814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0437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05C62C5-D8BD-45D3-8DFE-AF86FD4E640A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509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1465D5D-4317-43F7-96E2-545B31FADE66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625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6371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92375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0D20362-9C4A-447B-BF66-33DDC3C33AA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238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02A06D-A098-4C3D-976F-6656EA86D46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896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6182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19862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39380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98618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12107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0843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291C385-4FD6-40D0-9EF7-B11DD1F280AD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9834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73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74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9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latin typeface="Arial Black" panose="020B0A040201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739858-C449-4755-96E1-1C35A74F5DB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276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76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387351" y="412755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97470" y="412755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52454" y="835030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45633" y="835030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0" y="762004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46668" y="304805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21221" y="10953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457200"/>
            <a:ext cx="1039071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北京大学博士学位论文</a:t>
            </a:r>
            <a:r>
              <a:rPr lang="en-US" altLang="zh-CN"/>
              <a:t>Weyl</a:t>
            </a:r>
            <a:r>
              <a:rPr lang="zh-CN" altLang="en-US"/>
              <a:t>变换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447800"/>
            <a:ext cx="10363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71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553200"/>
            <a:ext cx="2540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50">
                <a:latin typeface="+mn-lt"/>
              </a:defRPr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71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+mn-lt"/>
              </a:defRPr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71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Tahoma" panose="020B0604030504040204" pitchFamily="34" charset="0"/>
              </a:defRPr>
            </a:lvl1pPr>
          </a:lstStyle>
          <a:p>
            <a:fld id="{4ACCFE73-393E-4D60-9ACE-866BED77E233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38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387351" y="412755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97470" y="412755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52454" y="835030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45633" y="835030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0" y="762004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46668" y="304805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21221" y="10953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457200"/>
            <a:ext cx="1039071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北京大学博士学位论文</a:t>
            </a:r>
            <a:r>
              <a:rPr lang="en-US" altLang="zh-CN"/>
              <a:t>Weyl</a:t>
            </a:r>
            <a:r>
              <a:rPr lang="zh-CN" altLang="en-US"/>
              <a:t>变换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447800"/>
            <a:ext cx="10363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71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553200"/>
            <a:ext cx="2540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50">
                <a:latin typeface="+mn-lt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71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+mn-lt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71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Tahoma" panose="020B0604030504040204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4ACCFE73-393E-4D60-9ACE-866BED77E233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26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86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79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  <p:sldLayoutId id="2147483941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11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9.wmf"/><Relationship Id="rId4" Type="http://schemas.openxmlformats.org/officeDocument/2006/relationships/image" Target="../media/image12.png"/><Relationship Id="rId9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60C9B2C-8AC9-46E5-B25B-538A702AF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32" y="1988840"/>
            <a:ext cx="6876256" cy="165735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5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40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第四章  矩阵分解</a:t>
            </a:r>
            <a:endParaRPr lang="zh-CN" altLang="en-US" sz="4000" kern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87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AB9529-2F7C-4540-B691-FC00D519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z="110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altLang="zh-CN" sz="1100">
              <a:solidFill>
                <a:srgbClr val="000000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88F9C6-A9CA-4DE4-ACC6-7B731208B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1479433"/>
            <a:ext cx="7933107" cy="58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矩阵的满秩分解</a:t>
            </a:r>
            <a:endParaRPr lang="en-US" altLang="zh-CN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361DEE-A3F4-FB23-86F5-741879AF9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2183802"/>
            <a:ext cx="7933107" cy="58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矩阵的正交三角分解</a:t>
            </a:r>
            <a:endParaRPr lang="en-US" altLang="zh-CN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3F5CED-5AB7-DBCB-C498-4638ABDA8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2857470"/>
            <a:ext cx="7933107" cy="58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矩阵的奇异值分解</a:t>
            </a:r>
            <a:endParaRPr lang="en-US" altLang="zh-CN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6B442B-F501-F3DD-1AFC-D8773C388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435" y="3581133"/>
            <a:ext cx="7933107" cy="1120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矩阵的极分解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矩阵的谱分解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88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4.1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矩阵的满秩分解</a:t>
            </a:r>
          </a:p>
        </p:txBody>
      </p:sp>
    </p:spTree>
    <p:extLst>
      <p:ext uri="{BB962C8B-B14F-4D97-AF65-F5344CB8AC3E}">
        <p14:creationId xmlns:p14="http://schemas.microsoft.com/office/powerpoint/2010/main" val="279538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A52DEC-502C-4350-AD82-0E19BFD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/>
              <p:nvPr/>
            </p:nvSpPr>
            <p:spPr>
              <a:xfrm>
                <a:off x="1271464" y="1464879"/>
                <a:ext cx="97930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1.1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，满足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𝐵𝐶</m:t>
                      </m:r>
                    </m:oMath>
                  </m:oMathPara>
                </a14:m>
                <a:endParaRPr lang="zh-CN" altLang="en-US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1464879"/>
                <a:ext cx="9793088" cy="1200329"/>
              </a:xfrm>
              <a:prstGeom prst="rect">
                <a:avLst/>
              </a:prstGeom>
              <a:blipFill>
                <a:blip r:embed="rId3"/>
                <a:stretch>
                  <a:fillRect l="-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E1CEF94-46ED-4CB0-8589-CB77611FF31A}"/>
                  </a:ext>
                </a:extLst>
              </p:cNvPr>
              <p:cNvSpPr txBox="1"/>
              <p:nvPr/>
            </p:nvSpPr>
            <p:spPr>
              <a:xfrm>
                <a:off x="1271464" y="2724490"/>
                <a:ext cx="9289032" cy="3522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证明：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首先设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的前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𝑟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个列向量是线性无关的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只做初等行变换可把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变为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𝐷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，即存在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满足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𝑃𝐴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𝐷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,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或者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𝐷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=</a:t>
                </a:r>
                <a:r>
                  <a:rPr lang="en-US" altLang="zh-CN" sz="2400" dirty="0"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𝐷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𝐵𝐶</m:t>
                    </m:r>
                  </m:oMath>
                </a14:m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2400" b="0" dirty="0"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𝐶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𝐷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zh-CN" altLang="en-US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E1CEF94-46ED-4CB0-8589-CB77611FF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2724490"/>
                <a:ext cx="9289032" cy="3522118"/>
              </a:xfrm>
              <a:prstGeom prst="rect">
                <a:avLst/>
              </a:prstGeom>
              <a:blipFill>
                <a:blip r:embed="rId4"/>
                <a:stretch>
                  <a:fillRect l="-1051" r="-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5C229B5F-5675-F72B-3478-624ED9A5F286}"/>
              </a:ext>
            </a:extLst>
          </p:cNvPr>
          <p:cNvSpPr txBox="1"/>
          <p:nvPr/>
        </p:nvSpPr>
        <p:spPr>
          <a:xfrm>
            <a:off x="1703512" y="537759"/>
            <a:ext cx="29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矩阵的满秩分解</a:t>
            </a:r>
          </a:p>
        </p:txBody>
      </p:sp>
    </p:spTree>
    <p:extLst>
      <p:ext uri="{BB962C8B-B14F-4D97-AF65-F5344CB8AC3E}">
        <p14:creationId xmlns:p14="http://schemas.microsoft.com/office/powerpoint/2010/main" val="75878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1B6CC64-F069-4987-B120-FCE7455C78FD}"/>
                  </a:ext>
                </a:extLst>
              </p:cNvPr>
              <p:cNvSpPr txBox="1"/>
              <p:nvPr/>
            </p:nvSpPr>
            <p:spPr>
              <a:xfrm>
                <a:off x="1067533" y="1556792"/>
                <a:ext cx="10056934" cy="113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现在设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的前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𝑟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个列向量线性相关的情况。这只需要把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先做列变换，使得前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𝑟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个列向量线性无关，然后用刚才证明的方法即可。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1B6CC64-F069-4987-B120-FCE7455C7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533" y="1556792"/>
                <a:ext cx="10056934" cy="1134926"/>
              </a:xfrm>
              <a:prstGeom prst="rect">
                <a:avLst/>
              </a:prstGeom>
              <a:blipFill>
                <a:blip r:embed="rId2"/>
                <a:stretch>
                  <a:fillRect l="-909" b="-1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9D999-5A94-4A01-960D-7630EFA0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1F9E81E-1962-F5E2-084F-184046453021}"/>
                  </a:ext>
                </a:extLst>
              </p:cNvPr>
              <p:cNvSpPr txBox="1"/>
              <p:nvPr/>
            </p:nvSpPr>
            <p:spPr>
              <a:xfrm>
                <a:off x="1037324" y="2814412"/>
                <a:ext cx="10056934" cy="2536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此即存在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𝑄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满足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𝑃𝐴𝑄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𝐷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𝐷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𝑄</m:t>
                        </m:r>
                      </m:e>
                      <m:sup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𝐷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𝑄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𝐷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𝑄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1F9E81E-1962-F5E2-084F-184046453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24" y="2814412"/>
                <a:ext cx="10056934" cy="2536144"/>
              </a:xfrm>
              <a:prstGeom prst="rect">
                <a:avLst/>
              </a:prstGeom>
              <a:blipFill>
                <a:blip r:embed="rId3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88D9F007-E303-E25B-1B1C-3BF9BBB840B0}"/>
              </a:ext>
            </a:extLst>
          </p:cNvPr>
          <p:cNvSpPr txBox="1"/>
          <p:nvPr/>
        </p:nvSpPr>
        <p:spPr>
          <a:xfrm>
            <a:off x="1703512" y="537759"/>
            <a:ext cx="29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矩阵的满秩分解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0FFF06-21E7-422F-A511-495B159D7B73}"/>
                  </a:ext>
                </a:extLst>
              </p:cNvPr>
              <p:cNvSpPr txBox="1"/>
              <p:nvPr/>
            </p:nvSpPr>
            <p:spPr>
              <a:xfrm>
                <a:off x="1009551" y="1169438"/>
                <a:ext cx="9029000" cy="1331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求矩阵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7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−3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的满秩分解。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0FFF06-21E7-422F-A511-495B159D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51" y="1169438"/>
                <a:ext cx="9029000" cy="1331518"/>
              </a:xfrm>
              <a:prstGeom prst="rect">
                <a:avLst/>
              </a:prstGeom>
              <a:blipFill>
                <a:blip r:embed="rId3"/>
                <a:stretch>
                  <a:fillRect l="-10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074E42F-3509-437D-AC39-DD80C8FA8F4E}"/>
                  </a:ext>
                </a:extLst>
              </p:cNvPr>
              <p:cNvSpPr txBox="1"/>
              <p:nvPr/>
            </p:nvSpPr>
            <p:spPr>
              <a:xfrm>
                <a:off x="1009550" y="2539950"/>
                <a:ext cx="9910985" cy="973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解法一：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在用初等行、列变换化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为标准形式的过程中，求出相应的初等变换矩阵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具体过程如下：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074E42F-3509-437D-AC39-DD80C8FA8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50" y="2539950"/>
                <a:ext cx="9910985" cy="973343"/>
              </a:xfrm>
              <a:prstGeom prst="rect">
                <a:avLst/>
              </a:prstGeom>
              <a:blipFill>
                <a:blip r:embed="rId4"/>
                <a:stretch>
                  <a:fillRect l="-985" r="-123" b="-13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BB9799-6B62-4A54-AFBE-77D1A3D2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199E7E-312A-8CFE-9AB5-3FC3DEA614F2}"/>
              </a:ext>
            </a:extLst>
          </p:cNvPr>
          <p:cNvSpPr txBox="1"/>
          <p:nvPr/>
        </p:nvSpPr>
        <p:spPr>
          <a:xfrm>
            <a:off x="1703512" y="537759"/>
            <a:ext cx="29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矩阵的满秩分解</a:t>
            </a:r>
          </a:p>
        </p:txBody>
      </p:sp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40A8EE80-1836-F268-43E8-0772204559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332915"/>
              </p:ext>
            </p:extLst>
          </p:nvPr>
        </p:nvGraphicFramePr>
        <p:xfrm>
          <a:off x="2659721" y="3552287"/>
          <a:ext cx="3149992" cy="273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5" imgW="1841500" imgH="1600200" progId="Equation.DSMT4">
                  <p:embed/>
                </p:oleObj>
              </mc:Choice>
              <mc:Fallback>
                <p:oleObj name="Equation" r:id="rId5" imgW="1841500" imgH="1600200" progId="Equation.DSMT4">
                  <p:embed/>
                  <p:pic>
                    <p:nvPicPr>
                      <p:cNvPr id="47122" name="Object 18">
                        <a:extLst>
                          <a:ext uri="{FF2B5EF4-FFF2-40B4-BE49-F238E27FC236}">
                            <a16:creationId xmlns:a16="http://schemas.microsoft.com/office/drawing/2014/main" id="{67A08B08-B391-CEFC-2180-16D541FC2A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721" y="3552287"/>
                        <a:ext cx="3149992" cy="273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>
            <a:extLst>
              <a:ext uri="{FF2B5EF4-FFF2-40B4-BE49-F238E27FC236}">
                <a16:creationId xmlns:a16="http://schemas.microsoft.com/office/drawing/2014/main" id="{10E1781D-DB77-E455-150F-FFE7A5A99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3761"/>
              </p:ext>
            </p:extLst>
          </p:nvPr>
        </p:nvGraphicFramePr>
        <p:xfrm>
          <a:off x="1199456" y="4221088"/>
          <a:ext cx="1406637" cy="973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7" imgW="660400" imgH="457200" progId="Equation.DSMT4">
                  <p:embed/>
                </p:oleObj>
              </mc:Choice>
              <mc:Fallback>
                <p:oleObj name="Equation" r:id="rId7" imgW="660400" imgH="457200" progId="Equation.DSMT4">
                  <p:embed/>
                  <p:pic>
                    <p:nvPicPr>
                      <p:cNvPr id="47120" name="Object 16">
                        <a:extLst>
                          <a:ext uri="{FF2B5EF4-FFF2-40B4-BE49-F238E27FC236}">
                            <a16:creationId xmlns:a16="http://schemas.microsoft.com/office/drawing/2014/main" id="{9EE7F1FD-C0A1-CD4A-6887-F62B9AF2C0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456" y="4221088"/>
                        <a:ext cx="1406637" cy="973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>
            <a:extLst>
              <a:ext uri="{FF2B5EF4-FFF2-40B4-BE49-F238E27FC236}">
                <a16:creationId xmlns:a16="http://schemas.microsoft.com/office/drawing/2014/main" id="{AF1107F1-1E5C-7376-8045-BDF5506D1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5696465"/>
              </p:ext>
            </p:extLst>
          </p:nvPr>
        </p:nvGraphicFramePr>
        <p:xfrm>
          <a:off x="5863341" y="3556160"/>
          <a:ext cx="4356068" cy="275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9" imgW="2527300" imgH="1600200" progId="Equation.DSMT4">
                  <p:embed/>
                </p:oleObj>
              </mc:Choice>
              <mc:Fallback>
                <p:oleObj name="Equation" r:id="rId9" imgW="2527300" imgH="1600200" progId="Equation.DSMT4">
                  <p:embed/>
                  <p:pic>
                    <p:nvPicPr>
                      <p:cNvPr id="47124" name="Object 20">
                        <a:extLst>
                          <a:ext uri="{FF2B5EF4-FFF2-40B4-BE49-F238E27FC236}">
                            <a16:creationId xmlns:a16="http://schemas.microsoft.com/office/drawing/2014/main" id="{832A37C5-5096-0272-39E0-4A72A83B98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3341" y="3556160"/>
                        <a:ext cx="4356068" cy="2755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677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C60DE2-98FF-4E96-9565-B32AE2B8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66C5C5-8205-98A9-41C9-0F362067A08E}"/>
              </a:ext>
            </a:extLst>
          </p:cNvPr>
          <p:cNvSpPr txBox="1"/>
          <p:nvPr/>
        </p:nvSpPr>
        <p:spPr>
          <a:xfrm>
            <a:off x="1703512" y="537759"/>
            <a:ext cx="29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矩阵的满秩分解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C885AAB5-FECE-2C93-28F0-6D6C4900A5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275923"/>
              </p:ext>
            </p:extLst>
          </p:nvPr>
        </p:nvGraphicFramePr>
        <p:xfrm>
          <a:off x="1194009" y="1268760"/>
          <a:ext cx="4192588" cy="261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公式" r:id="rId3" imgW="2565400" imgH="1600200" progId="Equation.3">
                  <p:embed/>
                </p:oleObj>
              </mc:Choice>
              <mc:Fallback>
                <p:oleObj name="公式" r:id="rId3" imgW="2565400" imgH="1600200" progId="Equation.3">
                  <p:embed/>
                  <p:pic>
                    <p:nvPicPr>
                      <p:cNvPr id="9221" name="Object 5">
                        <a:extLst>
                          <a:ext uri="{FF2B5EF4-FFF2-40B4-BE49-F238E27FC236}">
                            <a16:creationId xmlns:a16="http://schemas.microsoft.com/office/drawing/2014/main" id="{E0ACA81F-8321-D8DF-C2A8-C2FFE19217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009" y="1268760"/>
                        <a:ext cx="4192588" cy="261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73B49EDE-A1C6-2DA3-CD48-3A99FE4BF3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208616"/>
              </p:ext>
            </p:extLst>
          </p:nvPr>
        </p:nvGraphicFramePr>
        <p:xfrm>
          <a:off x="5619750" y="1268760"/>
          <a:ext cx="4108450" cy="261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公式" r:id="rId5" imgW="2514600" imgH="1600200" progId="Equation.3">
                  <p:embed/>
                </p:oleObj>
              </mc:Choice>
              <mc:Fallback>
                <p:oleObj name="公式" r:id="rId5" imgW="2514600" imgH="1600200" progId="Equation.3">
                  <p:embed/>
                  <p:pic>
                    <p:nvPicPr>
                      <p:cNvPr id="9223" name="Object 7">
                        <a:extLst>
                          <a:ext uri="{FF2B5EF4-FFF2-40B4-BE49-F238E27FC236}">
                            <a16:creationId xmlns:a16="http://schemas.microsoft.com/office/drawing/2014/main" id="{D23F06D6-90F2-B779-45A8-23ABF30D6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0" y="1268760"/>
                        <a:ext cx="4108450" cy="261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10651A17-AFF2-DC03-896E-45D9FB7763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009248"/>
              </p:ext>
            </p:extLst>
          </p:nvPr>
        </p:nvGraphicFramePr>
        <p:xfrm>
          <a:off x="1101996" y="4026118"/>
          <a:ext cx="4176713" cy="266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7" imgW="2501900" imgH="1600200" progId="Equation.DSMT4">
                  <p:embed/>
                </p:oleObj>
              </mc:Choice>
              <mc:Fallback>
                <p:oleObj name="Equation" r:id="rId7" imgW="2501900" imgH="1600200" progId="Equation.DSMT4">
                  <p:embed/>
                  <p:pic>
                    <p:nvPicPr>
                      <p:cNvPr id="9225" name="Object 9">
                        <a:extLst>
                          <a:ext uri="{FF2B5EF4-FFF2-40B4-BE49-F238E27FC236}">
                            <a16:creationId xmlns:a16="http://schemas.microsoft.com/office/drawing/2014/main" id="{740F2043-8897-7322-5296-5F065676FA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996" y="4026118"/>
                        <a:ext cx="4176713" cy="266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478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0FFF06-21E7-422F-A511-495B159D7B73}"/>
                  </a:ext>
                </a:extLst>
              </p:cNvPr>
              <p:cNvSpPr txBox="1"/>
              <p:nvPr/>
            </p:nvSpPr>
            <p:spPr>
              <a:xfrm>
                <a:off x="978415" y="1196752"/>
                <a:ext cx="10991302" cy="4003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由此可知，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的秩为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，行、列变换矩阵分别为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P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，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的逆矩阵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bSup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  <m:sSubSup>
                      <m:sSub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bSup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−3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0FFF06-21E7-422F-A511-495B159D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15" y="1196752"/>
                <a:ext cx="10991302" cy="4003019"/>
              </a:xfrm>
              <a:prstGeom prst="rect">
                <a:avLst/>
              </a:prstGeom>
              <a:blipFill>
                <a:blip r:embed="rId2"/>
                <a:stretch>
                  <a:fillRect l="-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BB9799-6B62-4A54-AFBE-77D1A3D2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87D844-4C50-4BDA-8105-700CA4E70F94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199E7E-312A-8CFE-9AB5-3FC3DEA614F2}"/>
              </a:ext>
            </a:extLst>
          </p:cNvPr>
          <p:cNvSpPr txBox="1"/>
          <p:nvPr/>
        </p:nvSpPr>
        <p:spPr>
          <a:xfrm>
            <a:off x="1703512" y="537759"/>
            <a:ext cx="29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矩阵的满秩分解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421226D-9BAC-FC58-A8DC-35648376704B}"/>
                  </a:ext>
                </a:extLst>
              </p:cNvPr>
              <p:cNvSpPr txBox="1"/>
              <p:nvPr/>
            </p:nvSpPr>
            <p:spPr>
              <a:xfrm>
                <a:off x="1055440" y="5085184"/>
                <a:ext cx="10343033" cy="1844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取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的前两列为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的前两行为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𝐶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的一种满秩分解为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𝐵𝐶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2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−3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.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421226D-9BAC-FC58-A8DC-356483767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40" y="5085184"/>
                <a:ext cx="10343033" cy="1844929"/>
              </a:xfrm>
              <a:prstGeom prst="rect">
                <a:avLst/>
              </a:prstGeom>
              <a:blipFill>
                <a:blip r:embed="rId3"/>
                <a:stretch>
                  <a:fillRect l="-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13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BB9799-6B62-4A54-AFBE-77D1A3D2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87D844-4C50-4BDA-8105-700CA4E70F94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199E7E-312A-8CFE-9AB5-3FC3DEA614F2}"/>
              </a:ext>
            </a:extLst>
          </p:cNvPr>
          <p:cNvSpPr txBox="1"/>
          <p:nvPr/>
        </p:nvSpPr>
        <p:spPr>
          <a:xfrm>
            <a:off x="1703512" y="537759"/>
            <a:ext cx="29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矩阵的满秩分解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9F014EF-90D4-0A9E-E811-26E7EB1DBBE9}"/>
                  </a:ext>
                </a:extLst>
              </p:cNvPr>
              <p:cNvSpPr txBox="1"/>
              <p:nvPr/>
            </p:nvSpPr>
            <p:spPr>
              <a:xfrm>
                <a:off x="924483" y="1323073"/>
                <a:ext cx="10343033" cy="511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解法二：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只作初等行变换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9F014EF-90D4-0A9E-E811-26E7EB1DB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83" y="1323073"/>
                <a:ext cx="10343033" cy="511679"/>
              </a:xfrm>
              <a:prstGeom prst="rect">
                <a:avLst/>
              </a:prstGeom>
              <a:blipFill>
                <a:blip r:embed="rId3"/>
                <a:stretch>
                  <a:fillRect l="-943" b="-26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1">
            <a:extLst>
              <a:ext uri="{FF2B5EF4-FFF2-40B4-BE49-F238E27FC236}">
                <a16:creationId xmlns:a16="http://schemas.microsoft.com/office/drawing/2014/main" id="{A676889F-2B1F-90CC-0909-374883DA4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554040"/>
              </p:ext>
            </p:extLst>
          </p:nvPr>
        </p:nvGraphicFramePr>
        <p:xfrm>
          <a:off x="1055440" y="1988840"/>
          <a:ext cx="8956675" cy="365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4" imgW="5105160" imgH="2082600" progId="Equation.DSMT4">
                  <p:embed/>
                </p:oleObj>
              </mc:Choice>
              <mc:Fallback>
                <p:oleObj name="Equation" r:id="rId4" imgW="5105160" imgH="2082600" progId="Equation.DSMT4">
                  <p:embed/>
                  <p:pic>
                    <p:nvPicPr>
                      <p:cNvPr id="11271" name="对象 1">
                        <a:extLst>
                          <a:ext uri="{FF2B5EF4-FFF2-40B4-BE49-F238E27FC236}">
                            <a16:creationId xmlns:a16="http://schemas.microsoft.com/office/drawing/2014/main" id="{B7AD94C5-EB51-9B3B-AAD5-BA268B9EE3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1988840"/>
                        <a:ext cx="8956675" cy="365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44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BB9799-6B62-4A54-AFBE-77D1A3D2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87D844-4C50-4BDA-8105-700CA4E70F94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199E7E-312A-8CFE-9AB5-3FC3DEA614F2}"/>
              </a:ext>
            </a:extLst>
          </p:cNvPr>
          <p:cNvSpPr txBox="1"/>
          <p:nvPr/>
        </p:nvSpPr>
        <p:spPr>
          <a:xfrm>
            <a:off x="1703512" y="537759"/>
            <a:ext cx="29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矩阵的满秩分解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A85427D-80ED-1D74-D07D-BC2D96BF5026}"/>
                  </a:ext>
                </a:extLst>
              </p:cNvPr>
              <p:cNvSpPr txBox="1"/>
              <p:nvPr/>
            </p:nvSpPr>
            <p:spPr>
              <a:xfrm>
                <a:off x="924483" y="1916832"/>
                <a:ext cx="10343033" cy="2774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的秩为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，且前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个列向量线性无关，故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𝐵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7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       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𝐶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−</m:t>
                                            </m:r>
                                            <m:f>
                                              <m:fPr>
                                                <m:ctrlPr>
                                                  <a:rPr lang="en-US" altLang="zh-CN" sz="24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CN" sz="24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2</m:t>
                                                </m:r>
                                              </m:num>
                                              <m:den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CN" sz="24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3</m:t>
                                                </m:r>
                                              </m:den>
                                            </m:f>
                                          </m:e>
                                        </m:mr>
                                        <m:m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CN" sz="24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CN" sz="24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altLang="zh-CN" sz="24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3</m:t>
                                                </m:r>
                                              </m:den>
                                            </m:f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2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−1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</m:oMath>
                  </m:oMathPara>
                </a14:m>
                <a:endParaRPr lang="en-US" altLang="zh-CN" sz="2400" b="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𝐵𝐶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A85427D-80ED-1D74-D07D-BC2D96BF5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83" y="1916832"/>
                <a:ext cx="10343033" cy="2774221"/>
              </a:xfrm>
              <a:prstGeom prst="rect">
                <a:avLst/>
              </a:prstGeom>
              <a:blipFill>
                <a:blip r:embed="rId2"/>
                <a:stretch>
                  <a:fillRect l="-943"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184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0FFF06-21E7-422F-A511-495B159D7B73}"/>
                  </a:ext>
                </a:extLst>
              </p:cNvPr>
              <p:cNvSpPr txBox="1"/>
              <p:nvPr/>
            </p:nvSpPr>
            <p:spPr>
              <a:xfrm>
                <a:off x="789412" y="901304"/>
                <a:ext cx="9029000" cy="1349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2.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求矩阵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b="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b="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6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b="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b="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的满秩分解。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0FFF06-21E7-422F-A511-495B159D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12" y="901304"/>
                <a:ext cx="9029000" cy="1349985"/>
              </a:xfrm>
              <a:prstGeom prst="rect">
                <a:avLst/>
              </a:prstGeom>
              <a:blipFill>
                <a:blip r:embed="rId2"/>
                <a:stretch>
                  <a:fillRect l="-10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074E42F-3509-437D-AC39-DD80C8FA8F4E}"/>
                  </a:ext>
                </a:extLst>
              </p:cNvPr>
              <p:cNvSpPr txBox="1"/>
              <p:nvPr/>
            </p:nvSpPr>
            <p:spPr>
              <a:xfrm>
                <a:off x="789412" y="2282683"/>
                <a:ext cx="9339036" cy="4499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解：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只作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初等行变换</a:t>
                </a:r>
                <a:endParaRPr lang="en-US" altLang="zh-CN" sz="240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2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6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9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2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7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1/3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2/3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0/3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1/3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的秩为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，且第一、第三列向量线性无关，故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𝐵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    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−</m:t>
                                            </m:r>
                                            <m:f>
                                              <m:fPr>
                                                <m:ctrlP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3</m:t>
                                                </m:r>
                                              </m:den>
                                            </m:f>
                                          </m:e>
                                        </m:mr>
                                        <m:m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2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3</m:t>
                                                </m:r>
                                              </m:den>
                                            </m:f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0</m:t>
                                                </m:r>
                                              </m:num>
                                              <m:den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3</m:t>
                                                </m:r>
                                              </m:den>
                                            </m:f>
                                          </m:e>
                                        </m:mr>
                                        <m:m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altLang="zh-CN" sz="2400" b="0" i="1" smtClean="0">
                                                    <a:latin typeface="Cambria Math" panose="02040503050406030204" pitchFamily="18" charset="0"/>
                                                    <a:ea typeface="华文中宋" panose="02010600040101010101" pitchFamily="2" charset="-122"/>
                                                  </a:rPr>
                                                  <m:t>3</m:t>
                                                </m:r>
                                              </m:den>
                                            </m:f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容易验证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074E42F-3509-437D-AC39-DD80C8FA8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12" y="2282683"/>
                <a:ext cx="9339036" cy="4499117"/>
              </a:xfrm>
              <a:prstGeom prst="rect">
                <a:avLst/>
              </a:prstGeom>
              <a:blipFill>
                <a:blip r:embed="rId3"/>
                <a:stretch>
                  <a:fillRect l="-979" b="-2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24A3AD-D585-4554-8F79-203EA424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541EDA-8F54-3C07-91EB-6923E4CEB9C9}"/>
              </a:ext>
            </a:extLst>
          </p:cNvPr>
          <p:cNvSpPr txBox="1"/>
          <p:nvPr/>
        </p:nvSpPr>
        <p:spPr>
          <a:xfrm>
            <a:off x="1703512" y="537759"/>
            <a:ext cx="29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矩阵的满秩分解</a:t>
            </a:r>
          </a:p>
        </p:txBody>
      </p:sp>
    </p:spTree>
    <p:extLst>
      <p:ext uri="{BB962C8B-B14F-4D97-AF65-F5344CB8AC3E}">
        <p14:creationId xmlns:p14="http://schemas.microsoft.com/office/powerpoint/2010/main" val="381837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074E42F-3509-437D-AC39-DD80C8FA8F4E}"/>
                  </a:ext>
                </a:extLst>
              </p:cNvPr>
              <p:cNvSpPr txBox="1"/>
              <p:nvPr/>
            </p:nvSpPr>
            <p:spPr>
              <a:xfrm>
                <a:off x="839416" y="1412776"/>
                <a:ext cx="9339036" cy="2599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的第二、第三列向量线性无关，故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𝐵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9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    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/3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1/9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2/3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0/9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1/3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容易验证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074E42F-3509-437D-AC39-DD80C8FA8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1412776"/>
                <a:ext cx="9339036" cy="2599879"/>
              </a:xfrm>
              <a:prstGeom prst="rect">
                <a:avLst/>
              </a:prstGeom>
              <a:blipFill>
                <a:blip r:embed="rId2"/>
                <a:stretch>
                  <a:fillRect l="-1044" b="-4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24A3AD-D585-4554-8F79-203EA424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541EDA-8F54-3C07-91EB-6923E4CEB9C9}"/>
              </a:ext>
            </a:extLst>
          </p:cNvPr>
          <p:cNvSpPr txBox="1"/>
          <p:nvPr/>
        </p:nvSpPr>
        <p:spPr>
          <a:xfrm>
            <a:off x="1703512" y="537759"/>
            <a:ext cx="29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矩阵的满秩分解</a:t>
            </a:r>
          </a:p>
        </p:txBody>
      </p:sp>
    </p:spTree>
    <p:extLst>
      <p:ext uri="{BB962C8B-B14F-4D97-AF65-F5344CB8AC3E}">
        <p14:creationId xmlns:p14="http://schemas.microsoft.com/office/powerpoint/2010/main" val="71675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74E42F-3509-437D-AC39-DD80C8FA8F4E}"/>
              </a:ext>
            </a:extLst>
          </p:cNvPr>
          <p:cNvSpPr txBox="1"/>
          <p:nvPr/>
        </p:nvSpPr>
        <p:spPr>
          <a:xfrm>
            <a:off x="839416" y="1412776"/>
            <a:ext cx="9339036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由上面的例子可以看出矩阵的满秩分解不唯一。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24A3AD-D585-4554-8F79-203EA424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541EDA-8F54-3C07-91EB-6923E4CEB9C9}"/>
              </a:ext>
            </a:extLst>
          </p:cNvPr>
          <p:cNvSpPr txBox="1"/>
          <p:nvPr/>
        </p:nvSpPr>
        <p:spPr>
          <a:xfrm>
            <a:off x="1703512" y="537759"/>
            <a:ext cx="29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矩阵的满秩分解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B1E74F5-D724-2C8D-79EB-884A289B3B73}"/>
                  </a:ext>
                </a:extLst>
              </p:cNvPr>
              <p:cNvSpPr txBox="1"/>
              <p:nvPr/>
            </p:nvSpPr>
            <p:spPr>
              <a:xfrm>
                <a:off x="839416" y="2204864"/>
                <a:ext cx="9339036" cy="1688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1.2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都是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的满秩分解，则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）存在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，满足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Θ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;</m:t>
                    </m:r>
                  </m:oMath>
                </a14:m>
                <a:endParaRPr lang="en-US" altLang="zh-CN" sz="2400" b="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𝐶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𝐶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𝐻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b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𝐻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B1E74F5-D724-2C8D-79EB-884A289B3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2204864"/>
                <a:ext cx="9339036" cy="1688924"/>
              </a:xfrm>
              <a:prstGeom prst="rect">
                <a:avLst/>
              </a:prstGeom>
              <a:blipFill>
                <a:blip r:embed="rId2"/>
                <a:stretch>
                  <a:fillRect l="-1044" b="-7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679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9656" y="1844824"/>
            <a:ext cx="5962434" cy="151553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4.2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矩阵的正交三角分解</a:t>
            </a:r>
          </a:p>
        </p:txBody>
      </p:sp>
    </p:spTree>
    <p:extLst>
      <p:ext uri="{BB962C8B-B14F-4D97-AF65-F5344CB8AC3E}">
        <p14:creationId xmlns:p14="http://schemas.microsoft.com/office/powerpoint/2010/main" val="3149504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E9D95E8-65F7-4EBC-A32B-46733FC53D48}" type="slidenum">
              <a:rPr lang="en-US" altLang="zh-CN" sz="675">
                <a:solidFill>
                  <a:srgbClr val="000000"/>
                </a:solidFill>
                <a:latin typeface="Arial Black" panose="020B0A04020102020204" pitchFamily="34" charset="0"/>
                <a:ea typeface="宋体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altLang="zh-CN" sz="675">
              <a:solidFill>
                <a:srgbClr val="000000"/>
              </a:solidFill>
              <a:latin typeface="Arial Black" panose="020B0A04020102020204" pitchFamily="34" charset="0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/>
              <p:nvPr/>
            </p:nvSpPr>
            <p:spPr>
              <a:xfrm flipH="1">
                <a:off x="551383" y="1200978"/>
                <a:ext cx="10873208" cy="2242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2.1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可以唯一分解为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ctr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𝑈𝑅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或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（酉矩阵），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𝑅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是正线上三角矩阵，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是正线下三角矩阵（即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𝑅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主对角线上元素均为正）。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1383" y="1200978"/>
                <a:ext cx="10873208" cy="2242922"/>
              </a:xfrm>
              <a:prstGeom prst="rect">
                <a:avLst/>
              </a:prstGeom>
              <a:blipFill>
                <a:blip r:embed="rId2"/>
                <a:stretch>
                  <a:fillRect l="-841" b="-5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/>
              <p:nvPr/>
            </p:nvSpPr>
            <p:spPr>
              <a:xfrm flipH="1">
                <a:off x="550259" y="3429000"/>
                <a:ext cx="10868317" cy="324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证明：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按列向量分块，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线性无关，将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正交化得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，再单位化得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，并有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Cambria Math" panose="02040503050406030204" pitchFamily="18" charset="0"/>
                </a:endParaRP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𝑖𝑖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&gt;0.</m:t>
                    </m:r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0259" y="3429000"/>
                <a:ext cx="10868317" cy="3244606"/>
              </a:xfrm>
              <a:prstGeom prst="rect">
                <a:avLst/>
              </a:prstGeom>
              <a:blipFill>
                <a:blip r:embed="rId3"/>
                <a:stretch>
                  <a:fillRect l="-841" b="-2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A240CCC-A2A7-9110-A10C-6D9B7A69101C}"/>
              </a:ext>
            </a:extLst>
          </p:cNvPr>
          <p:cNvSpPr txBox="1"/>
          <p:nvPr/>
        </p:nvSpPr>
        <p:spPr>
          <a:xfrm>
            <a:off x="1631504" y="60738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矩阵的正交三角分解</a:t>
            </a:r>
          </a:p>
        </p:txBody>
      </p:sp>
    </p:spTree>
    <p:extLst>
      <p:ext uri="{BB962C8B-B14F-4D97-AF65-F5344CB8AC3E}">
        <p14:creationId xmlns:p14="http://schemas.microsoft.com/office/powerpoint/2010/main" val="329598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E9D95E8-65F7-4EBC-A32B-46733FC53D48}" type="slidenum">
              <a:rPr lang="en-US" altLang="zh-CN" sz="675">
                <a:solidFill>
                  <a:srgbClr val="000000"/>
                </a:solidFill>
                <a:latin typeface="Arial Black" panose="020B0A04020102020204" pitchFamily="34" charset="0"/>
                <a:ea typeface="宋体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altLang="zh-CN" sz="675">
              <a:solidFill>
                <a:srgbClr val="000000"/>
              </a:solidFill>
              <a:latin typeface="Arial Black" panose="020B0A04020102020204" pitchFamily="34" charset="0"/>
              <a:ea typeface="宋体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240CCC-A2A7-9110-A10C-6D9B7A69101C}"/>
              </a:ext>
            </a:extLst>
          </p:cNvPr>
          <p:cNvSpPr txBox="1"/>
          <p:nvPr/>
        </p:nvSpPr>
        <p:spPr>
          <a:xfrm>
            <a:off x="1631504" y="60738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矩阵的正交三角分解</a:t>
            </a: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B34FEE82-184A-2AB7-F5FE-464E2DE5B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586037"/>
              </p:ext>
            </p:extLst>
          </p:nvPr>
        </p:nvGraphicFramePr>
        <p:xfrm>
          <a:off x="911424" y="1700808"/>
          <a:ext cx="8856984" cy="370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4" imgW="3771720" imgH="1676160" progId="Equation.DSMT4">
                  <p:embed/>
                </p:oleObj>
              </mc:Choice>
              <mc:Fallback>
                <p:oleObj name="Equation" r:id="rId4" imgW="3771720" imgH="1676160" progId="Equation.DSMT4">
                  <p:embed/>
                  <p:pic>
                    <p:nvPicPr>
                      <p:cNvPr id="16395" name="Object 9">
                        <a:extLst>
                          <a:ext uri="{FF2B5EF4-FFF2-40B4-BE49-F238E27FC236}">
                            <a16:creationId xmlns:a16="http://schemas.microsoft.com/office/drawing/2014/main" id="{62A0159D-FDDD-2BCF-75CF-3A894806A2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1700808"/>
                        <a:ext cx="8856984" cy="3704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9975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E9D95E8-65F7-4EBC-A32B-46733FC53D48}" type="slidenum">
              <a:rPr lang="en-US" altLang="zh-CN" sz="675">
                <a:solidFill>
                  <a:srgbClr val="000000"/>
                </a:solidFill>
                <a:latin typeface="Arial Black" panose="020B0A04020102020204" pitchFamily="34" charset="0"/>
                <a:ea typeface="宋体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altLang="zh-CN" sz="675">
              <a:solidFill>
                <a:srgbClr val="000000"/>
              </a:solidFill>
              <a:latin typeface="Arial Black" panose="020B0A04020102020204" pitchFamily="34" charset="0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/>
              <p:nvPr/>
            </p:nvSpPr>
            <p:spPr>
              <a:xfrm flipH="1">
                <a:off x="661841" y="1484784"/>
                <a:ext cx="10868317" cy="1760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下证唯一性。设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有两个分解式为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𝑈𝑅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</m:acc>
                    <m:acc>
                      <m:accPr>
                        <m:chr m:val="̃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,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𝑈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𝑅</m:t>
                            </m:r>
                          </m:e>
                        </m:acc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𝑈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是酉矩阵，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𝑅</m:t>
                            </m:r>
                          </m:e>
                        </m:acc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是正线上三角矩阵，由引理（若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是正线上三角阵，且是酉矩阵，则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是单位阵）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⟹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𝑈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𝑅</m:t>
                            </m:r>
                          </m:e>
                        </m:acc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𝐸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从而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</m:acc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 </m:t>
                    </m:r>
                    <m:acc>
                      <m:accPr>
                        <m:chr m:val="̃"/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</m:acc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𝑅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1841" y="1484784"/>
                <a:ext cx="10868317" cy="1760738"/>
              </a:xfrm>
              <a:prstGeom prst="rect">
                <a:avLst/>
              </a:prstGeom>
              <a:blipFill>
                <a:blip r:embed="rId3"/>
                <a:stretch>
                  <a:fillRect l="-898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A240CCC-A2A7-9110-A10C-6D9B7A69101C}"/>
              </a:ext>
            </a:extLst>
          </p:cNvPr>
          <p:cNvSpPr txBox="1"/>
          <p:nvPr/>
        </p:nvSpPr>
        <p:spPr>
          <a:xfrm>
            <a:off x="1631504" y="60738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矩阵的正交三角分解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14319CF-6914-94CC-3229-A013B40FA952}"/>
                  </a:ext>
                </a:extLst>
              </p:cNvPr>
              <p:cNvSpPr txBox="1"/>
              <p:nvPr/>
            </p:nvSpPr>
            <p:spPr>
              <a:xfrm flipH="1">
                <a:off x="839416" y="3501008"/>
                <a:ext cx="10868317" cy="1196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又因为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故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从而有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</m:acc>
                    <m:acc>
                      <m:accPr>
                        <m:chr m:val="̃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</m:acc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是正线上三角阵。于是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𝑈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是正线下三角阵，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是酉矩阵。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14319CF-6914-94CC-3229-A013B40FA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9416" y="3501008"/>
                <a:ext cx="10868317" cy="1196802"/>
              </a:xfrm>
              <a:prstGeom prst="rect">
                <a:avLst/>
              </a:prstGeom>
              <a:blipFill>
                <a:blip r:embed="rId4"/>
                <a:stretch>
                  <a:fillRect l="-897" r="-337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33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9D95E8-65F7-4EBC-A32B-46733FC53D48}" type="slidenum"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/>
                <a:cs typeface="+mn-cs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/>
              <p:nvPr/>
            </p:nvSpPr>
            <p:spPr>
              <a:xfrm flipH="1">
                <a:off x="771903" y="1350422"/>
                <a:ext cx="10873208" cy="1688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2.2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bSup>
                      <m:sSub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𝑟</m:t>
                        </m:r>
                      </m:sub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𝑚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𝑟</m:t>
                        </m:r>
                      </m:sup>
                    </m:sSub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（列满秩），则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可以唯一分解为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ctr" defTabSz="4572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𝑈𝑅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4572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bSup>
                      <m:sSub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𝑟</m:t>
                        </m:r>
                      </m:sub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𝑚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𝑟</m:t>
                        </m:r>
                      </m:sup>
                    </m:sSub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𝑅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𝑟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阶正线上三角矩阵。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1903" y="1350422"/>
                <a:ext cx="10873208" cy="1688924"/>
              </a:xfrm>
              <a:prstGeom prst="rect">
                <a:avLst/>
              </a:prstGeom>
              <a:blipFill>
                <a:blip r:embed="rId2"/>
                <a:stretch>
                  <a:fillRect l="-897" b="-7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/>
              <p:nvPr/>
            </p:nvSpPr>
            <p:spPr>
              <a:xfrm flipH="1">
                <a:off x="771903" y="3429000"/>
                <a:ext cx="11090358" cy="2242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推论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2.1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（行满秩），则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可以唯一分解为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algn="ctr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𝐿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𝑈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𝐿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𝑟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阶正线下三角矩阵。</a:t>
                </a:r>
              </a:p>
              <a:p>
                <a:pPr marL="0" marR="0" lvl="0" indent="0" algn="l" defTabSz="4572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1903" y="3429000"/>
                <a:ext cx="11090358" cy="2242922"/>
              </a:xfrm>
              <a:prstGeom prst="rect">
                <a:avLst/>
              </a:prstGeom>
              <a:blipFill>
                <a:blip r:embed="rId3"/>
                <a:stretch>
                  <a:fillRect l="-8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A240CCC-A2A7-9110-A10C-6D9B7A69101C}"/>
              </a:ext>
            </a:extLst>
          </p:cNvPr>
          <p:cNvSpPr txBox="1"/>
          <p:nvPr/>
        </p:nvSpPr>
        <p:spPr>
          <a:xfrm>
            <a:off x="1631504" y="60738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矩阵的正交三角分解</a:t>
            </a:r>
          </a:p>
        </p:txBody>
      </p:sp>
    </p:spTree>
    <p:extLst>
      <p:ext uri="{BB962C8B-B14F-4D97-AF65-F5344CB8AC3E}">
        <p14:creationId xmlns:p14="http://schemas.microsoft.com/office/powerpoint/2010/main" val="12013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9D95E8-65F7-4EBC-A32B-46733FC53D48}" type="slidenum"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/>
                <a:cs typeface="+mn-cs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/>
              <p:nvPr/>
            </p:nvSpPr>
            <p:spPr>
              <a:xfrm flipH="1">
                <a:off x="771903" y="1235148"/>
                <a:ext cx="10873208" cy="2242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2.3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bSup>
                      <m:sSub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𝑟</m:t>
                        </m:r>
                      </m:sub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𝑚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，则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可以分解为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ctr" defTabSz="4572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𝑈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𝑈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4572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bSup>
                      <m:sSub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𝑟</m:t>
                        </m:r>
                      </m:sub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𝑚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𝑟</m:t>
                        </m:r>
                      </m:sup>
                    </m:sSub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bSup>
                      <m:sSubSup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𝑟</m:t>
                        </m:r>
                      </m:sub>
                      <m:sup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𝑟</m:t>
                        </m:r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𝑟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阶正线上三角矩阵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𝑟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阶正线下三角矩阵。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1903" y="1235148"/>
                <a:ext cx="10873208" cy="2242922"/>
              </a:xfrm>
              <a:prstGeom prst="rect">
                <a:avLst/>
              </a:prstGeom>
              <a:blipFill>
                <a:blip r:embed="rId2"/>
                <a:stretch>
                  <a:fillRect l="-897" b="-5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/>
              <p:nvPr/>
            </p:nvSpPr>
            <p:spPr>
              <a:xfrm flipH="1">
                <a:off x="771903" y="3593344"/>
                <a:ext cx="10810497" cy="2242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证明：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根据满秩分解定理，有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𝐵𝐶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，对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B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、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C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分别用定理定理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2.2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和推论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2.1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有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𝑟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阶正线上三角矩阵，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𝐿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𝑟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阶正线下三角矩阵。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1903" y="3593344"/>
                <a:ext cx="10810497" cy="2242922"/>
              </a:xfrm>
              <a:prstGeom prst="rect">
                <a:avLst/>
              </a:prstGeom>
              <a:blipFill>
                <a:blip r:embed="rId3"/>
                <a:stretch>
                  <a:fillRect l="-902" r="-790" b="-5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A240CCC-A2A7-9110-A10C-6D9B7A69101C}"/>
              </a:ext>
            </a:extLst>
          </p:cNvPr>
          <p:cNvSpPr txBox="1"/>
          <p:nvPr/>
        </p:nvSpPr>
        <p:spPr>
          <a:xfrm>
            <a:off x="1631504" y="60738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矩阵的正交三角分解</a:t>
            </a:r>
          </a:p>
        </p:txBody>
      </p:sp>
    </p:spTree>
    <p:extLst>
      <p:ext uri="{BB962C8B-B14F-4D97-AF65-F5344CB8AC3E}">
        <p14:creationId xmlns:p14="http://schemas.microsoft.com/office/powerpoint/2010/main" val="123390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9D95E8-65F7-4EBC-A32B-46733FC53D48}" type="slidenum"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/>
                <a:cs typeface="+mn-cs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/>
              <p:nvPr/>
            </p:nvSpPr>
            <p:spPr>
              <a:xfrm flipH="1">
                <a:off x="775032" y="1069054"/>
                <a:ext cx="10873208" cy="1601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求矩阵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𝑈𝑅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分解。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5032" y="1069054"/>
                <a:ext cx="10873208" cy="1601529"/>
              </a:xfrm>
              <a:prstGeom prst="rect">
                <a:avLst/>
              </a:prstGeom>
              <a:blipFill>
                <a:blip r:embed="rId2"/>
                <a:stretch>
                  <a:fillRect l="-8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/>
              <p:nvPr/>
            </p:nvSpPr>
            <p:spPr>
              <a:xfrm flipH="1">
                <a:off x="775032" y="2670583"/>
                <a:ext cx="11156745" cy="3909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解：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的三个列向量依次为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，经验证线性无关，用施密特正交化方法得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1,1,0</m:t>
                              </m:r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;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=−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=−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,−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,1</m:t>
                              </m:r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;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=−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,−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,−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5032" y="2670583"/>
                <a:ext cx="11156745" cy="3909404"/>
              </a:xfrm>
              <a:prstGeom prst="rect">
                <a:avLst/>
              </a:prstGeom>
              <a:blipFill>
                <a:blip r:embed="rId3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A240CCC-A2A7-9110-A10C-6D9B7A69101C}"/>
              </a:ext>
            </a:extLst>
          </p:cNvPr>
          <p:cNvSpPr txBox="1"/>
          <p:nvPr/>
        </p:nvSpPr>
        <p:spPr>
          <a:xfrm>
            <a:off x="1631504" y="60738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矩阵的正交三角分解</a:t>
            </a:r>
          </a:p>
        </p:txBody>
      </p:sp>
    </p:spTree>
    <p:extLst>
      <p:ext uri="{BB962C8B-B14F-4D97-AF65-F5344CB8AC3E}">
        <p14:creationId xmlns:p14="http://schemas.microsoft.com/office/powerpoint/2010/main" val="190796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9D95E8-65F7-4EBC-A32B-46733FC53D48}" type="slidenum"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/>
                <a:cs typeface="+mn-cs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/>
              <p:nvPr/>
            </p:nvSpPr>
            <p:spPr>
              <a:xfrm flipH="1">
                <a:off x="551384" y="1412776"/>
                <a:ext cx="10810497" cy="4709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单位化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𝜀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,0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;</m:t>
                      </m:r>
                    </m:oMath>
                  </m:oMathPara>
                </a14:m>
                <a:endParaRPr lang="en-US" altLang="zh-CN" sz="2400" b="0" i="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𝜀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=−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,−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;</m:t>
                      </m:r>
                    </m:oMath>
                  </m:oMathPara>
                </a14:m>
                <a:endParaRPr lang="en-US" altLang="zh-CN" sz="2400" b="0" i="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𝜀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,−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,−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.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1384" y="1412776"/>
                <a:ext cx="10810497" cy="4709944"/>
              </a:xfrm>
              <a:prstGeom prst="rect">
                <a:avLst/>
              </a:prstGeom>
              <a:blipFill>
                <a:blip r:embed="rId2"/>
                <a:stretch>
                  <a:fillRect l="-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A240CCC-A2A7-9110-A10C-6D9B7A69101C}"/>
              </a:ext>
            </a:extLst>
          </p:cNvPr>
          <p:cNvSpPr txBox="1"/>
          <p:nvPr/>
        </p:nvSpPr>
        <p:spPr>
          <a:xfrm>
            <a:off x="1631504" y="60738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矩阵的正交三角分解</a:t>
            </a:r>
          </a:p>
        </p:txBody>
      </p:sp>
    </p:spTree>
    <p:extLst>
      <p:ext uri="{BB962C8B-B14F-4D97-AF65-F5344CB8AC3E}">
        <p14:creationId xmlns:p14="http://schemas.microsoft.com/office/powerpoint/2010/main" val="346213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9D95E8-65F7-4EBC-A32B-46733FC53D48}" type="slidenum"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/>
                <a:cs typeface="+mn-cs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/>
              <p:nvPr/>
            </p:nvSpPr>
            <p:spPr>
              <a:xfrm flipH="1">
                <a:off x="906775" y="838221"/>
                <a:ext cx="10810497" cy="2438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命  </a:t>
                </a:r>
                <a14:m>
                  <m:oMath xmlns:m="http://schemas.openxmlformats.org/officeDocument/2006/math">
                    <m:r>
                      <a:rPr lang="en-US" altLang="zh-CN" sz="2400" b="0" i="1" noProof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  <m:r>
                      <a:rPr lang="en-US" altLang="zh-CN" sz="2400" b="0" i="1" noProof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noProof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noProof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noProof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2400" b="0" i="1" noProof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noProof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6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400" b="0" i="1" noProof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6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400" b="0" i="1" noProof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2400" b="0" i="1" noProof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400" b="0" i="1" noProof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noProof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b="0" i="1" noProof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，则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06775" y="838221"/>
                <a:ext cx="10810497" cy="24386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A240CCC-A2A7-9110-A10C-6D9B7A69101C}"/>
              </a:ext>
            </a:extLst>
          </p:cNvPr>
          <p:cNvSpPr txBox="1"/>
          <p:nvPr/>
        </p:nvSpPr>
        <p:spPr>
          <a:xfrm>
            <a:off x="1631504" y="60738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矩阵的正交三角分解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99532F8-F3C1-4518-B217-727FF0975EAD}"/>
                  </a:ext>
                </a:extLst>
              </p:cNvPr>
              <p:cNvSpPr txBox="1"/>
              <p:nvPr/>
            </p:nvSpPr>
            <p:spPr>
              <a:xfrm flipH="1">
                <a:off x="1055440" y="3242374"/>
                <a:ext cx="10810497" cy="2922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𝑅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−1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𝑇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,      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即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𝑈𝑅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.</m:t>
                    </m:r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99532F8-F3C1-4518-B217-727FF0975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55440" y="3242374"/>
                <a:ext cx="10810497" cy="2922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94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9D95E8-65F7-4EBC-A32B-46733FC53D48}" type="slidenum"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/>
                <a:cs typeface="+mn-cs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/>
              <p:nvPr/>
            </p:nvSpPr>
            <p:spPr>
              <a:xfrm flipH="1">
                <a:off x="623392" y="1267254"/>
                <a:ext cx="10810497" cy="1471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2.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用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𝑈𝑅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分解方法解方程组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𝑏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US" altLang="zh-CN" sz="24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US" altLang="zh-CN" sz="24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US" altLang="zh-CN" sz="24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US" altLang="zh-CN" sz="24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US" altLang="zh-CN" sz="24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US" altLang="zh-CN" sz="24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dirty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𝑏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.</m:t>
                    </m:r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392" y="1267254"/>
                <a:ext cx="10810497" cy="1471941"/>
              </a:xfrm>
              <a:prstGeom prst="rect">
                <a:avLst/>
              </a:prstGeom>
              <a:blipFill>
                <a:blip r:embed="rId2"/>
                <a:stretch>
                  <a:fillRect l="-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A240CCC-A2A7-9110-A10C-6D9B7A69101C}"/>
              </a:ext>
            </a:extLst>
          </p:cNvPr>
          <p:cNvSpPr txBox="1"/>
          <p:nvPr/>
        </p:nvSpPr>
        <p:spPr>
          <a:xfrm>
            <a:off x="1631504" y="60738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矩阵的正交三角分解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264A648-3BF8-ADC9-E8A9-4790ADC5913C}"/>
                  </a:ext>
                </a:extLst>
              </p:cNvPr>
              <p:cNvSpPr txBox="1"/>
              <p:nvPr/>
            </p:nvSpPr>
            <p:spPr>
              <a:xfrm flipH="1">
                <a:off x="623392" y="2699757"/>
                <a:ext cx="10810497" cy="4032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解：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zh-CN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（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3</m:t>
                        </m:r>
                      </m:sub>
                    </m:sSub>
                    <m:r>
                      <a:rPr lang="zh-CN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的列向量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用施密特正交化方法得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12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12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12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0,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,−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,−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0,0,−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,−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264A648-3BF8-ADC9-E8A9-4790ADC59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392" y="2699757"/>
                <a:ext cx="10810497" cy="4032642"/>
              </a:xfrm>
              <a:prstGeom prst="rect">
                <a:avLst/>
              </a:prstGeom>
              <a:blipFill>
                <a:blip r:embed="rId3"/>
                <a:stretch>
                  <a:fillRect l="-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17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9D95E8-65F7-4EBC-A32B-46733FC53D48}" type="slidenum"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/>
                <a:cs typeface="+mn-cs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240CCC-A2A7-9110-A10C-6D9B7A69101C}"/>
              </a:ext>
            </a:extLst>
          </p:cNvPr>
          <p:cNvSpPr txBox="1"/>
          <p:nvPr/>
        </p:nvSpPr>
        <p:spPr>
          <a:xfrm>
            <a:off x="1631504" y="60738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矩阵的正交三角分解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264A648-3BF8-ADC9-E8A9-4790ADC5913C}"/>
                  </a:ext>
                </a:extLst>
              </p:cNvPr>
              <p:cNvSpPr txBox="1"/>
              <p:nvPr/>
            </p:nvSpPr>
            <p:spPr>
              <a:xfrm flipH="1">
                <a:off x="623392" y="1340768"/>
                <a:ext cx="10810497" cy="1845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命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𝑅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zh-CN" sz="2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4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4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     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𝑏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264A648-3BF8-ADC9-E8A9-4790ADC59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3392" y="1340768"/>
                <a:ext cx="10810497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5649289-4985-ACE7-F3F1-9671BBA8DDFE}"/>
                  </a:ext>
                </a:extLst>
              </p:cNvPr>
              <p:cNvSpPr txBox="1"/>
              <p:nvPr/>
            </p:nvSpPr>
            <p:spPr>
              <a:xfrm flipH="1">
                <a:off x="757823" y="3429000"/>
                <a:ext cx="10810497" cy="2745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noProof="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由</a:t>
                </a:r>
                <a14:m>
                  <m:oMath xmlns:m="http://schemas.openxmlformats.org/officeDocument/2006/math">
                    <m:r>
                      <a:rPr lang="en-US" altLang="zh-CN" sz="2400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𝐴𝑥</m:t>
                    </m:r>
                    <m:r>
                      <a:rPr lang="en-US" altLang="zh-CN" sz="2400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𝑏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，得到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𝑈𝑅𝑥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𝑏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，即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𝑅𝑥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𝐻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𝑏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400" dirty="0">
                    <a:solidFill>
                      <a:srgbClr val="000000"/>
                    </a:solidFill>
                    <a:ea typeface="华文中宋" panose="02010600040101010101" pitchFamily="2" charset="-122"/>
                  </a:rPr>
                  <a:t>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4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4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zh-CN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解得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,</m:t>
                            </m:r>
                          </m:e>
                          <m:e>
                            <m:sSub>
                              <m:sSubPr>
                                <m:ctrl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,</m:t>
                            </m:r>
                          </m:e>
                          <m:e>
                            <m:sSub>
                              <m:sSubPr>
                                <m:ctrl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=3.</m:t>
                            </m:r>
                          </m:e>
                        </m:eqArr>
                      </m:e>
                    </m:d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5649289-4985-ACE7-F3F1-9671BBA8D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7823" y="3429000"/>
                <a:ext cx="10810497" cy="2745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584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4.3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矩阵的奇异值分解</a:t>
            </a:r>
          </a:p>
        </p:txBody>
      </p:sp>
    </p:spTree>
    <p:extLst>
      <p:ext uri="{BB962C8B-B14F-4D97-AF65-F5344CB8AC3E}">
        <p14:creationId xmlns:p14="http://schemas.microsoft.com/office/powerpoint/2010/main" val="625425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Rectangle 5">
                <a:extLst>
                  <a:ext uri="{FF2B5EF4-FFF2-40B4-BE49-F238E27FC236}">
                    <a16:creationId xmlns:a16="http://schemas.microsoft.com/office/drawing/2014/main" id="{BB5CF571-D80E-406F-B0E0-77C4E7386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376" y="1268760"/>
                <a:ext cx="11001216" cy="11341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2222F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引理</a:t>
                </a:r>
                <a:r>
                  <a:rPr lang="en-US" altLang="zh-CN" sz="2400" dirty="0">
                    <a:solidFill>
                      <a:srgbClr val="2222F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3.1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对于任何一个矩阵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都有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秩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𝐻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秩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𝐻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秩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052" name="Rectangle 5">
                <a:extLst>
                  <a:ext uri="{FF2B5EF4-FFF2-40B4-BE49-F238E27FC236}">
                    <a16:creationId xmlns:a16="http://schemas.microsoft.com/office/drawing/2014/main" id="{BB5CF571-D80E-406F-B0E0-77C4E7386F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376" y="1268760"/>
                <a:ext cx="11001216" cy="1134157"/>
              </a:xfrm>
              <a:prstGeom prst="rect">
                <a:avLst/>
              </a:prstGeom>
              <a:blipFill>
                <a:blip r:embed="rId2"/>
                <a:stretch>
                  <a:fillRect l="-887" b="-1182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26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C228B861-5514-3AE6-9360-653EB6703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376" y="2492896"/>
                <a:ext cx="11001216" cy="29857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2222F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证明：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只证秩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𝐻</m:t>
                            </m:r>
                          </m:sup>
                        </m:s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秩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为此考虑两个线性方程组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𝐴𝑥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=0                        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𝐻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𝐴𝑥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=0                  (2)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首先，（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）的解必然是（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）的解。反之，设（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）的任一解为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𝐴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bSup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，于是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，从而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也是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）的解。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C228B861-5514-3AE6-9360-653EB6703B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376" y="2492896"/>
                <a:ext cx="11001216" cy="2985754"/>
              </a:xfrm>
              <a:prstGeom prst="rect">
                <a:avLst/>
              </a:prstGeom>
              <a:blipFill>
                <a:blip r:embed="rId3"/>
                <a:stretch>
                  <a:fillRect l="-887" b="-20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5">
            <a:extLst>
              <a:ext uri="{FF2B5EF4-FFF2-40B4-BE49-F238E27FC236}">
                <a16:creationId xmlns:a16="http://schemas.microsoft.com/office/drawing/2014/main" id="{E4CBEB3C-FB19-913F-96E3-87A5DA128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5568629"/>
            <a:ext cx="11001216" cy="580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同解的其次线性方程组的系数矩阵必有相同的秩。</a:t>
            </a:r>
            <a:endParaRPr lang="en-US" altLang="zh-CN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Rectangle 5">
                <a:extLst>
                  <a:ext uri="{FF2B5EF4-FFF2-40B4-BE49-F238E27FC236}">
                    <a16:creationId xmlns:a16="http://schemas.microsoft.com/office/drawing/2014/main" id="{BB5CF571-D80E-406F-B0E0-77C4E7386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36" y="2132856"/>
                <a:ext cx="11001216" cy="1754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 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的特征值，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的特征值，它们都是实数。且设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≥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≥⋯≥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𝑟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&gt;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𝑟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𝑟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=⋯=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=0;</m:t>
                      </m:r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≥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≥⋯≥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𝑟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&gt;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𝑟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𝑟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=⋯=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=0.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52" name="Rectangle 5">
                <a:extLst>
                  <a:ext uri="{FF2B5EF4-FFF2-40B4-BE49-F238E27FC236}">
                    <a16:creationId xmlns:a16="http://schemas.microsoft.com/office/drawing/2014/main" id="{BB5CF571-D80E-406F-B0E0-77C4E7386F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336" y="2132856"/>
                <a:ext cx="11001216" cy="1754326"/>
              </a:xfrm>
              <a:prstGeom prst="rect">
                <a:avLst/>
              </a:prstGeom>
              <a:blipFill>
                <a:blip r:embed="rId2"/>
                <a:stretch>
                  <a:fillRect r="-4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27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E4CBEB3C-FB19-913F-96E3-87A5DA128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321" y="4065214"/>
                <a:ext cx="11001216" cy="1754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特征值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之间有下面的定理：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3.1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&gt;0       (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𝑖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=1,2,⋯,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𝑟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E4CBEB3C-FB19-913F-96E3-87A5DA128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321" y="4065214"/>
                <a:ext cx="11001216" cy="1754326"/>
              </a:xfrm>
              <a:prstGeom prst="rect">
                <a:avLst/>
              </a:prstGeom>
              <a:blipFill>
                <a:blip r:embed="rId3"/>
                <a:stretch>
                  <a:fillRect l="-8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4CBEB3C-FB19-913F-96E3-87A5DA128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321" y="1373896"/>
                <a:ext cx="11001216" cy="646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引理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3.2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对于任何一个矩阵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都有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是半正定</a:t>
                </a:r>
                <a:r>
                  <a:rPr lang="en-US" altLang="zh-CN" sz="2400" dirty="0" err="1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Hermite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矩阵。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4CBEB3C-FB19-913F-96E3-87A5DA128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321" y="1373896"/>
                <a:ext cx="11001216" cy="646331"/>
              </a:xfrm>
              <a:prstGeom prst="rect">
                <a:avLst/>
              </a:prstGeom>
              <a:blipFill>
                <a:blip r:embed="rId4"/>
                <a:stretch>
                  <a:fillRect l="-887" b="-113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40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  <p:bldP spid="4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Rectangle 5">
                <a:extLst>
                  <a:ext uri="{FF2B5EF4-FFF2-40B4-BE49-F238E27FC236}">
                    <a16:creationId xmlns:a16="http://schemas.microsoft.com/office/drawing/2014/main" id="{BB5CF571-D80E-406F-B0E0-77C4E7386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392" y="1257366"/>
                <a:ext cx="11001216" cy="18058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3.1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的正特征值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的正特征值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，称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sub>
                          </m:sSub>
                        </m:e>
                      </m:ra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sub>
                          </m:sSub>
                        </m:e>
                      </m:ra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  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=1,2,⋯,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的正奇异值，简称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奇异值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52" name="Rectangle 5">
                <a:extLst>
                  <a:ext uri="{FF2B5EF4-FFF2-40B4-BE49-F238E27FC236}">
                    <a16:creationId xmlns:a16="http://schemas.microsoft.com/office/drawing/2014/main" id="{BB5CF571-D80E-406F-B0E0-77C4E7386F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392" y="1257366"/>
                <a:ext cx="11001216" cy="1805815"/>
              </a:xfrm>
              <a:prstGeom prst="rect">
                <a:avLst/>
              </a:prstGeom>
              <a:blipFill>
                <a:blip r:embed="rId2"/>
                <a:stretch>
                  <a:fillRect l="-887" b="-67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28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E4CBEB3C-FB19-913F-96E3-87A5DA128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2972783"/>
                <a:ext cx="11001216" cy="34957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若记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的全部非零奇异值，则称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𝑚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×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的矩阵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𝑆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Λ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/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/>
                              <m:e/>
                            </m:mr>
                            <m:mr>
                              <m:e/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⋱</m:t>
                                      </m:r>
                                    </m:e>
                                    <m:e/>
                                  </m:mr>
                                  <m:mr>
                                    <m:e/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/>
                                  </m:mr>
                                  <m:mr>
                                    <m:e/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⋱</m:t>
                                            </m:r>
                                          </m:e>
                                          <m:e/>
                                        </m:mr>
                                        <m:mr>
                                          <m:e/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奇异值矩阵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E4CBEB3C-FB19-913F-96E3-87A5DA128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2972783"/>
                <a:ext cx="11001216" cy="3495701"/>
              </a:xfrm>
              <a:prstGeom prst="rect">
                <a:avLst/>
              </a:prstGeom>
              <a:blipFill>
                <a:blip r:embed="rId3"/>
                <a:stretch>
                  <a:fillRect l="-831" b="-31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74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Rectangle 5">
                <a:extLst>
                  <a:ext uri="{FF2B5EF4-FFF2-40B4-BE49-F238E27FC236}">
                    <a16:creationId xmlns:a16="http://schemas.microsoft.com/office/drawing/2014/main" id="{BB5CF571-D80E-406F-B0E0-77C4E7386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400" y="1628800"/>
                <a:ext cx="11001216" cy="27969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3.1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对于矩阵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必有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𝑚</m:t>
                    </m:r>
                  </m:oMath>
                </a14:m>
                <a:r>
                  <a:rPr lang="zh-CN" altLang="en-US" sz="24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华文中宋" panose="02010600040101010101" pitchFamily="2" charset="-122"/>
                  </a:rPr>
                  <a:t>阶酉矩阵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</m:oMath>
                </a14:m>
                <a:r>
                  <a:rPr lang="zh-CN" altLang="en-US" sz="24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华文中宋" panose="02010600040101010101" pitchFamily="2" charset="-122"/>
                  </a:rPr>
                  <a:t>以及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华文中宋" panose="02010600040101010101" pitchFamily="2" charset="-122"/>
                  </a:rPr>
                  <a:t>阶酉矩阵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华文中宋" panose="02010600040101010101" pitchFamily="2" charset="-122"/>
                  </a:rPr>
                  <a:t>使得</a:t>
                </a:r>
                <a:endParaRPr lang="en-US" altLang="zh-CN" sz="2400" b="0" dirty="0">
                  <a:solidFill>
                    <a:schemeClr val="tx1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𝑈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𝐻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𝐴𝑉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𝑆</m:t>
                      </m:r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的奇异值矩阵，且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𝑈𝑆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𝑉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的奇异值分解。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52" name="Rectangle 5">
                <a:extLst>
                  <a:ext uri="{FF2B5EF4-FFF2-40B4-BE49-F238E27FC236}">
                    <a16:creationId xmlns:a16="http://schemas.microsoft.com/office/drawing/2014/main" id="{BB5CF571-D80E-406F-B0E0-77C4E7386F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400" y="1628800"/>
                <a:ext cx="11001216" cy="2796920"/>
              </a:xfrm>
              <a:prstGeom prst="rect">
                <a:avLst/>
              </a:prstGeom>
              <a:blipFill>
                <a:blip r:embed="rId2"/>
                <a:stretch>
                  <a:fillRect l="-831" b="-41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29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06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Rectangle 5">
                <a:extLst>
                  <a:ext uri="{FF2B5EF4-FFF2-40B4-BE49-F238E27FC236}">
                    <a16:creationId xmlns:a16="http://schemas.microsoft.com/office/drawing/2014/main" id="{BB5CF571-D80E-406F-B0E0-77C4E7386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1424" y="1345532"/>
                <a:ext cx="11001216" cy="5809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求矩阵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的奇异值分解，可按下述步骤进行：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52" name="Rectangle 5">
                <a:extLst>
                  <a:ext uri="{FF2B5EF4-FFF2-40B4-BE49-F238E27FC236}">
                    <a16:creationId xmlns:a16="http://schemas.microsoft.com/office/drawing/2014/main" id="{BB5CF571-D80E-406F-B0E0-77C4E7386F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1424" y="1345532"/>
                <a:ext cx="11001216" cy="580928"/>
              </a:xfrm>
              <a:prstGeom prst="rect">
                <a:avLst/>
              </a:prstGeom>
              <a:blipFill>
                <a:blip r:embed="rId2"/>
                <a:stretch>
                  <a:fillRect l="-887" b="-242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30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BDFDBDCF-8F55-658A-B481-CA32B8E76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707" y="2131272"/>
                <a:ext cx="11719293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、求出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的全部特征值及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的奇异值，由所有非零奇异值（包括重复的）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得到正线对角阵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Λ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，进而得到奇异值矩阵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𝑆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;</a:t>
                </a:r>
              </a:p>
            </p:txBody>
          </p:sp>
        </mc:Choice>
        <mc:Fallback xmlns="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BDFDBDCF-8F55-658A-B481-CA32B8E76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707" y="2131272"/>
                <a:ext cx="11719293" cy="1200329"/>
              </a:xfrm>
              <a:prstGeom prst="rect">
                <a:avLst/>
              </a:prstGeom>
              <a:blipFill>
                <a:blip r:embed="rId3"/>
                <a:stretch>
                  <a:fillRect l="-832" b="-55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7962444F-9515-3E0D-2D6A-1245DDE68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707" y="3471010"/>
                <a:ext cx="11719293" cy="27969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、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的每一个不同的特征根，求出与之相对应的特征向量的最大无关组，经正交化、单位化得到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相较于该特征根的标准正交特征向量组。将其中与非零特征根相应的那些小组（作为一些列向量）顺序排成矩阵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，其次序应与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Λ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中相关奇异值在对角线上的排列顺序相一致。再以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相应于零特征根的标准正交特征向量（最大无关）组排成矩阵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，于是可得酉矩阵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;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7962444F-9515-3E0D-2D6A-1245DDE68D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707" y="3471010"/>
                <a:ext cx="11719293" cy="2796920"/>
              </a:xfrm>
              <a:prstGeom prst="rect">
                <a:avLst/>
              </a:prstGeom>
              <a:blipFill>
                <a:blip r:embed="rId4"/>
                <a:stretch>
                  <a:fillRect l="-832" b="-41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33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31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BDFDBDCF-8F55-658A-B481-CA32B8E76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707" y="1484784"/>
                <a:ext cx="11719293" cy="5809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、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Λ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;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BDFDBDCF-8F55-658A-B481-CA32B8E76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707" y="1484784"/>
                <a:ext cx="11719293" cy="580928"/>
              </a:xfrm>
              <a:prstGeom prst="rect">
                <a:avLst/>
              </a:prstGeom>
              <a:blipFill>
                <a:blip r:embed="rId2"/>
                <a:stretch>
                  <a:fillRect l="-832" b="-242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7962444F-9515-3E0D-2D6A-1245DDE68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706" y="2348880"/>
                <a:ext cx="11719293" cy="11349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4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、求出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相应于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零特征根的一个标准正交特征向量（最大无关）组，由它们排成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𝑚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×(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𝑚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𝑟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的部分酉矩阵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，可得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综上，便得到奇异值分解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𝑈𝑆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7962444F-9515-3E0D-2D6A-1245DDE68D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706" y="2348880"/>
                <a:ext cx="11719293" cy="1134926"/>
              </a:xfrm>
              <a:prstGeom prst="rect">
                <a:avLst/>
              </a:prstGeom>
              <a:blipFill>
                <a:blip r:embed="rId3"/>
                <a:stretch>
                  <a:fillRect l="-832" b="-1182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650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32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BDFDBDCF-8F55-658A-B481-CA32B8E76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153" y="1132210"/>
                <a:ext cx="11719293" cy="935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求矩阵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的奇异值分解。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BDFDBDCF-8F55-658A-B481-CA32B8E76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153" y="1132210"/>
                <a:ext cx="11719293" cy="935834"/>
              </a:xfrm>
              <a:prstGeom prst="rect">
                <a:avLst/>
              </a:prstGeom>
              <a:blipFill>
                <a:blip r:embed="rId2"/>
                <a:stretch>
                  <a:fillRect l="-832" b="-13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153" y="2078494"/>
                <a:ext cx="11719293" cy="1557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证明：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的特征根为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=1, 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=3,  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=0.</m:t>
                    </m:r>
                  </m:oMath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153" y="2078494"/>
                <a:ext cx="11719293" cy="1557286"/>
              </a:xfrm>
              <a:prstGeom prst="rect">
                <a:avLst/>
              </a:prstGeom>
              <a:blipFill>
                <a:blip r:embed="rId3"/>
                <a:stretch>
                  <a:fillRect l="-8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FCA3C28-DA59-795E-B691-06A58CE45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473" y="3624410"/>
                <a:ext cx="5328592" cy="6193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于是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的奇异值为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=1,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3</m:t>
                        </m:r>
                      </m:e>
                    </m:ra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FCA3C28-DA59-795E-B691-06A58CE454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3473" y="3624410"/>
                <a:ext cx="5328592" cy="619337"/>
              </a:xfrm>
              <a:prstGeom prst="rect">
                <a:avLst/>
              </a:prstGeom>
              <a:blipFill>
                <a:blip r:embed="rId4"/>
                <a:stretch>
                  <a:fillRect l="-1716" b="-2277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DA94F622-A497-4765-84A2-5D1520E6C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2246" y="4360852"/>
                <a:ext cx="8766202" cy="10293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Λ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, A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的奇异值矩阵为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𝑆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e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DA94F622-A497-4765-84A2-5D1520E6CE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2246" y="4360852"/>
                <a:ext cx="8766202" cy="1029321"/>
              </a:xfrm>
              <a:prstGeom prst="rect">
                <a:avLst/>
              </a:prstGeom>
              <a:blipFill>
                <a:blip r:embed="rId5"/>
                <a:stretch>
                  <a:fillRect l="-10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45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33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392" y="1245693"/>
                <a:ext cx="11719293" cy="3041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求出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分别相应于特征根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=1, 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=3, 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的标准正交特征向量为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        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6 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6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6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           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3 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3 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392" y="1245693"/>
                <a:ext cx="11719293" cy="30412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DA94F622-A497-4765-84A2-5D1520E6C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9613" y="4175076"/>
                <a:ext cx="8766202" cy="5809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  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DA94F622-A497-4765-84A2-5D1520E6CE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9613" y="4175076"/>
                <a:ext cx="8766202" cy="580928"/>
              </a:xfrm>
              <a:prstGeom prst="rect">
                <a:avLst/>
              </a:prstGeom>
              <a:blipFill>
                <a:blip r:embed="rId3"/>
                <a:stretch>
                  <a:fillRect b="-242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FA05C896-BC08-59D6-926C-C3E22E342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8584" y="4348123"/>
                <a:ext cx="8766202" cy="18758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再计算出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Λ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FA05C896-BC08-59D6-926C-C3E22E3427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8584" y="4348123"/>
                <a:ext cx="8766202" cy="1875898"/>
              </a:xfrm>
              <a:prstGeom prst="rect">
                <a:avLst/>
              </a:prstGeom>
              <a:blipFill>
                <a:blip r:embed="rId4"/>
                <a:stretch>
                  <a:fillRect l="-11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01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34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353" y="1628800"/>
                <a:ext cx="11719293" cy="3041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已是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阶矩阵，故知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，最后得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的奇异值分解为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𝑈𝑆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𝑉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𝐻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3</m:t>
                                          </m:r>
                                        </m:e>
                                      </m:rad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6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6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6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353" y="1628800"/>
                <a:ext cx="11719293" cy="30412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93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4.3.1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BDFDBDCF-8F55-658A-B481-CA32B8E76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153" y="1132210"/>
                <a:ext cx="6916991" cy="1098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例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2.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求矩阵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的奇异值分解。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BDFDBDCF-8F55-658A-B481-CA32B8E76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153" y="1132210"/>
                <a:ext cx="6916991" cy="1098442"/>
              </a:xfrm>
              <a:prstGeom prst="rect">
                <a:avLst/>
              </a:prstGeom>
              <a:blipFill>
                <a:blip r:embed="rId2"/>
                <a:stretch>
                  <a:fillRect l="-14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707" y="2166797"/>
                <a:ext cx="11719293" cy="1601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解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𝐻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−21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−21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21</m:t>
                              </m:r>
                            </m:e>
                          </m:mr>
                        </m:m>
                      </m:e>
                    </m:d>
                    <m:r>
                      <a:rPr kumimoji="0" lang="zh-CN" alt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，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𝐻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8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16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8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16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32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707" y="2166797"/>
                <a:ext cx="11719293" cy="1601529"/>
              </a:xfrm>
              <a:prstGeom prst="rect">
                <a:avLst/>
              </a:prstGeom>
              <a:blipFill>
                <a:blip r:embed="rId3"/>
                <a:stretch>
                  <a:fillRect l="-8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FCA3C28-DA59-795E-B691-06A58CE45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6427" y="3933056"/>
                <a:ext cx="5328592" cy="5801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=42,   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=0.</m:t>
                    </m:r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FCA3C28-DA59-795E-B691-06A58CE454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6427" y="3933056"/>
                <a:ext cx="5328592" cy="580159"/>
              </a:xfrm>
              <a:prstGeom prst="rect">
                <a:avLst/>
              </a:prstGeom>
              <a:blipFill>
                <a:blip r:embed="rId4"/>
                <a:stretch>
                  <a:fillRect l="-1831" b="-242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DA94F622-A497-4765-84A2-5D1520E6C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448" y="4284762"/>
                <a:ext cx="8766202" cy="18758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A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的奇异值矩阵为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𝑆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42</m:t>
                                        </m:r>
                                      </m:e>
                                    </m:rad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 </m:t>
                        </m:r>
                      </m:e>
                    </m:d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DA94F622-A497-4765-84A2-5D1520E6CE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7448" y="4284762"/>
                <a:ext cx="8766202" cy="1875898"/>
              </a:xfrm>
              <a:prstGeom prst="rect">
                <a:avLst/>
              </a:prstGeom>
              <a:blipFill>
                <a:blip r:embed="rId5"/>
                <a:stretch>
                  <a:fillRect l="-11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82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4.3.1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392" y="1245693"/>
                <a:ext cx="11719293" cy="23997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求出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𝐻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分别相应于特征根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=42, 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=0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的标准正交特征向量为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0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𝛾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,        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𝛾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392" y="1245693"/>
                <a:ext cx="11719293" cy="23997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DA94F622-A497-4765-84A2-5D1520E6C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9416" y="3109128"/>
                <a:ext cx="8766202" cy="18758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于是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    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 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，可得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𝑉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DA94F622-A497-4765-84A2-5D1520E6CE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9416" y="3109128"/>
                <a:ext cx="8766202" cy="1875898"/>
              </a:xfrm>
              <a:prstGeom prst="rect">
                <a:avLst/>
              </a:prstGeom>
              <a:blipFill>
                <a:blip r:embed="rId3"/>
                <a:stretch>
                  <a:fillRect l="-11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FA05C896-BC08-59D6-926C-C3E22E342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9613" y="4869160"/>
                <a:ext cx="8766202" cy="18457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lvl="0">
                  <a:lnSpc>
                    <a:spcPct val="100000"/>
                  </a:lnSpc>
                  <a:spcBef>
                    <a:spcPct val="0"/>
                  </a:spcBef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再计算出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𝑉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Λ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−1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21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4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FA05C896-BC08-59D6-926C-C3E22E3427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9613" y="4869160"/>
                <a:ext cx="8766202" cy="1845762"/>
              </a:xfrm>
              <a:prstGeom prst="rect">
                <a:avLst/>
              </a:prstGeom>
              <a:blipFill>
                <a:blip r:embed="rId4"/>
                <a:stretch>
                  <a:fillRect l="-11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5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4.3.1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353" y="1268760"/>
                <a:ext cx="11719293" cy="33019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 再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相应于零特征根的标准正交特征向量组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0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𝑢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5 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5 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,         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𝑢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4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5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21</m:t>
                                        </m:r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 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8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5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21 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21 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BD72EB5-6EFC-8ECC-A67F-FC5AF2C48D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353" y="1268760"/>
                <a:ext cx="11719293" cy="33019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F3A4FD1B-C105-DD70-CCC3-C198C2D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352" y="4490391"/>
                <a:ext cx="11719293" cy="20628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lvl="0">
                  <a:lnSpc>
                    <a:spcPct val="100000"/>
                  </a:lnSpc>
                  <a:spcBef>
                    <a:spcPct val="0"/>
                  </a:spcBef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4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5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21 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8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5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21 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21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21 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F3A4FD1B-C105-DD70-CCC3-C198C2DDD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352" y="4490391"/>
                <a:ext cx="11719293" cy="20628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882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588298" y="605463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4.3.1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矩阵的奇异值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F3A4FD1B-C105-DD70-CCC3-C198C2D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392" y="1484784"/>
                <a:ext cx="11719293" cy="20360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lvl="0">
                  <a:lnSpc>
                    <a:spcPct val="10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ea typeface="华文中宋" panose="02010600040101010101" pitchFamily="2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ea typeface="华文中宋" panose="02010600040101010101" pitchFamily="2" charset="-122"/>
                  </a:rPr>
                  <a:t>的奇异值分解为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𝑈𝑆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4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5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21 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8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5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21 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21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21 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42</m:t>
                                        </m:r>
                                      </m:e>
                                    </m:rad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dirty="0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F3A4FD1B-C105-DD70-CCC3-C198C2DDD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392" y="1484784"/>
                <a:ext cx="11719293" cy="2036007"/>
              </a:xfrm>
              <a:prstGeom prst="rect">
                <a:avLst/>
              </a:prstGeom>
              <a:blipFill>
                <a:blip r:embed="rId2"/>
                <a:stretch>
                  <a:fillRect l="-7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21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楷体_GB2312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楷体_GB2312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6.xml><?xml version="1.0" encoding="utf-8"?>
<a:theme xmlns:a="http://schemas.openxmlformats.org/drawingml/2006/main" name="1_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5747</TotalTime>
  <Words>2294</Words>
  <Application>Microsoft Office PowerPoint</Application>
  <PresentationFormat>宽屏</PresentationFormat>
  <Paragraphs>208</Paragraphs>
  <Slides>38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9" baseType="lpstr">
      <vt:lpstr>等线</vt:lpstr>
      <vt:lpstr>华文中宋</vt:lpstr>
      <vt:lpstr>楷体_GB2312</vt:lpstr>
      <vt:lpstr>Arial</vt:lpstr>
      <vt:lpstr>Arial Black</vt:lpstr>
      <vt:lpstr>Calibri</vt:lpstr>
      <vt:lpstr>Calibri Light</vt:lpstr>
      <vt:lpstr>Cambria Math</vt:lpstr>
      <vt:lpstr>Garamond</vt:lpstr>
      <vt:lpstr>Tahoma</vt:lpstr>
      <vt:lpstr>Times New Roman</vt:lpstr>
      <vt:lpstr>Wingdings</vt:lpstr>
      <vt:lpstr>Wingdings 2</vt:lpstr>
      <vt:lpstr>HDOfficeLightV0</vt:lpstr>
      <vt:lpstr>Pixel</vt:lpstr>
      <vt:lpstr>Blends</vt:lpstr>
      <vt:lpstr>1_Blends</vt:lpstr>
      <vt:lpstr>环保</vt:lpstr>
      <vt:lpstr>1_环保</vt:lpstr>
      <vt:lpstr>Equation</vt:lpstr>
      <vt:lpstr>公式</vt:lpstr>
      <vt:lpstr>PowerPoint 演示文稿</vt:lpstr>
      <vt:lpstr>PowerPoint 演示文稿</vt:lpstr>
      <vt:lpstr>4.1 矩阵的满秩分解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矩阵的正交三角分解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4.3 矩阵的奇异值分解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第一节  欧氏空间、酉空间</dc:title>
  <dc:creator>lhs</dc:creator>
  <cp:lastModifiedBy>dell</cp:lastModifiedBy>
  <cp:revision>82</cp:revision>
  <cp:lastPrinted>2021-11-09T13:57:52Z</cp:lastPrinted>
  <dcterms:created xsi:type="dcterms:W3CDTF">2003-11-22T21:16:13Z</dcterms:created>
  <dcterms:modified xsi:type="dcterms:W3CDTF">2024-12-13T09:34:14Z</dcterms:modified>
</cp:coreProperties>
</file>