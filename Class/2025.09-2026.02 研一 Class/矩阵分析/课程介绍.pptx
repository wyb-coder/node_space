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368" r:id="rId2"/>
    <p:sldId id="379" r:id="rId3"/>
    <p:sldId id="375" r:id="rId4"/>
    <p:sldId id="377" r:id="rId5"/>
    <p:sldId id="381" r:id="rId6"/>
    <p:sldId id="382" r:id="rId7"/>
    <p:sldId id="383" r:id="rId8"/>
    <p:sldId id="384" r:id="rId9"/>
    <p:sldId id="385" r:id="rId10"/>
  </p:sldIdLst>
  <p:sldSz cx="12192000" cy="6858000"/>
  <p:notesSz cx="9928225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14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i zha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FF"/>
    <a:srgbClr val="FF505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5" autoAdjust="0"/>
    <p:restoredTop sz="81611" autoAdjust="0"/>
  </p:normalViewPr>
  <p:slideViewPr>
    <p:cSldViewPr>
      <p:cViewPr varScale="1">
        <p:scale>
          <a:sx n="71" d="100"/>
          <a:sy n="71" d="100"/>
        </p:scale>
        <p:origin x="854" y="62"/>
      </p:cViewPr>
      <p:guideLst>
        <p:guide orient="horz" pos="3840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  <a:ea typeface="宋体" charset="-122"/>
              </a:defRPr>
            </a:lvl1pPr>
          </a:lstStyle>
          <a:p>
            <a:pPr>
              <a:defRPr/>
            </a:pPr>
            <a:fld id="{CB1A06F2-3912-46EF-AED2-096F12BB0139}" type="datetimeFigureOut">
              <a:rPr lang="zh-CN" altLang="en-US"/>
              <a:pPr>
                <a:defRPr/>
              </a:pPr>
              <a:t>2023/9/14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437055E-86BF-4913-8958-7A2BBFCBE7E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994" y="0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3900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764" y="3228896"/>
            <a:ext cx="7280698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791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994" y="6457791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5919FA2-E142-40BA-B180-03DF7906235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indent="355600" algn="just">
              <a:lnSpc>
                <a:spcPts val="2400"/>
              </a:lnSpc>
            </a:pPr>
            <a:r>
              <a:rPr lang="zh-CN" altLang="zh-CN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作为理工科的研究生来讲，</a:t>
            </a:r>
            <a:r>
              <a:rPr lang="zh-CN" altLang="en-US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这</a:t>
            </a:r>
            <a:r>
              <a:rPr lang="zh-CN" altLang="zh-CN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是一门必要的数学工具，在各种数学及非数学的领域都有着广泛的应用。特别是计算机的普遍使用，矩阵理论已经成为解决数学、自然科学和工程技术中许多问题的不可缺少的有力工具，并广泛应用于《数值分析》，《计算机图形学》《工程力学》等科学和工程技术的各个领域。</a:t>
            </a:r>
          </a:p>
          <a:p>
            <a:pPr indent="355600" algn="just">
              <a:lnSpc>
                <a:spcPts val="2400"/>
              </a:lnSpc>
            </a:pPr>
            <a:r>
              <a:rPr lang="zh-CN" altLang="en-US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希望可以</a:t>
            </a:r>
            <a:r>
              <a:rPr lang="zh-CN" altLang="zh-CN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通过本课程的学习，</a:t>
            </a:r>
            <a:r>
              <a:rPr lang="zh-CN" altLang="en-US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能够</a:t>
            </a:r>
            <a:r>
              <a:rPr lang="zh-CN" altLang="zh-CN" sz="1800">
                <a:solidFill>
                  <a:srgbClr val="000000"/>
                </a:solidFill>
                <a:ea typeface="仿宋_GB2312"/>
                <a:cs typeface="宋体" panose="02010600030101010101" pitchFamily="2" charset="-122"/>
              </a:rPr>
              <a:t>培养和提高研究生的数学素质，对近、现代数学分析方向的核心思想有进一步深入了解。</a:t>
            </a:r>
            <a:endParaRPr lang="zh-CN" altLang="en-US" sz="1800">
              <a:solidFill>
                <a:srgbClr val="000000"/>
              </a:solidFill>
              <a:ea typeface="仿宋_GB2312"/>
              <a:cs typeface="宋体" panose="02010600030101010101" pitchFamily="2" charset="-122"/>
            </a:endParaRPr>
          </a:p>
          <a:p>
            <a:pPr indent="355600"/>
            <a:endParaRPr lang="zh-CN" altLang="en-US">
              <a:ea typeface="仿宋_GB2312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3F6FA2-10AF-4EB0-A606-518178431C4E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F25D78-6EAD-4F81-9388-E711BE118F00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822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2882920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90616700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4853786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90149871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19828652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0795682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343737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40694769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76510642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46711901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609603"/>
            <a:ext cx="27432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3"/>
            <a:ext cx="80264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47607180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09600"/>
            <a:ext cx="10058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8516938" y="6286500"/>
            <a:ext cx="89852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9720263" y="6299200"/>
            <a:ext cx="896937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10939463" y="6299200"/>
            <a:ext cx="896937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>
    <p:wip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haofei2020@ncu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695400" y="114300"/>
            <a:ext cx="11496600" cy="990600"/>
          </a:xfrm>
          <a:prstGeom prst="rect">
            <a:avLst/>
          </a:prstGeom>
          <a:solidFill>
            <a:srgbClr val="9966FF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b="1">
                <a:solidFill>
                  <a:srgbClr val="EC7114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工科研究生基础课程之一</a:t>
            </a:r>
          </a:p>
        </p:txBody>
      </p:sp>
      <p:sp>
        <p:nvSpPr>
          <p:cNvPr id="148491" name="Text Box 11"/>
          <p:cNvSpPr txBox="1">
            <a:spLocks noChangeArrowheads="1"/>
          </p:cNvSpPr>
          <p:nvPr/>
        </p:nvSpPr>
        <p:spPr bwMode="auto">
          <a:xfrm>
            <a:off x="2646748" y="1844824"/>
            <a:ext cx="6705600" cy="13239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8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矩 阵 分 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46748" y="4005064"/>
            <a:ext cx="6768752" cy="1955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理学院数学系  赵菲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邮箱：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hlinkClick r:id="rId3"/>
              </a:rPr>
              <a:t>zhaofei2020@ncut.edu.cn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4B226344-0CC2-4D15-8BF0-980EF10A1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672" y="5445224"/>
            <a:ext cx="9289032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1" tIns="45700" rIns="91401" bIns="45700">
            <a:spAutoFit/>
          </a:bodyPr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kumimoji="0"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答疑</a:t>
            </a:r>
            <a:r>
              <a:rPr kumimoji="0" lang="zh-CN" altLang="en-US" b="1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kumimoji="0"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周五七</a:t>
            </a:r>
            <a:r>
              <a:rPr kumimoji="0"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八节（博远楼</a:t>
            </a:r>
            <a:r>
              <a:rPr kumimoji="0"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809</a:t>
            </a:r>
            <a:r>
              <a:rPr kumimoji="0"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0" lang="en-US" altLang="zh-CN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kumimoji="0" lang="zh-CN" altLang="en-US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企业</a:t>
            </a:r>
            <a:r>
              <a:rPr kumimoji="0"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微信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55440" y="764704"/>
            <a:ext cx="1072919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[1] 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矩阵分析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史荣昌，魏丰著，北京理工大学出版社，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2010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年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DC3A950-71AE-499F-ABC7-A1A027BBB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743" y="2538856"/>
            <a:ext cx="10729192" cy="3893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参考书：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[2]《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矩阵分析与应用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，张贤达著，清华大学出版社，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2004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年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[3]《Matrix Analysis》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（矩阵分析英文版）卷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Roger A. Horn,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     Charles R. Johnson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著，人民邮电出版社，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2005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年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[4]《</a:t>
            </a:r>
            <a:r>
              <a:rPr kumimoji="0" lang="zh-CN" altLang="en-US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工程数学基础教程</a:t>
            </a:r>
            <a:r>
              <a:rPr kumimoji="0" lang="en-US" altLang="zh-CN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kumimoji="0" lang="zh-CN" altLang="en-US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，天津大学数学系编写组著，天津大学出版社，</a:t>
            </a:r>
            <a:r>
              <a:rPr kumimoji="0" lang="en-US" altLang="zh-CN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2016</a:t>
            </a:r>
            <a:r>
              <a:rPr kumimoji="0" lang="zh-CN" altLang="en-US" b="1" noProof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4701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451484" y="908720"/>
            <a:ext cx="9289032" cy="116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1" tIns="45700" rIns="91401" bIns="45700">
            <a:spAutoFit/>
          </a:bodyPr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考核成绩评定：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包括卷面成绩与平时成绩。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EC63D326-73BE-442B-BF0E-50A70893A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84" y="1661941"/>
            <a:ext cx="9615233" cy="66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1" tIns="45700" rIns="91401" bIns="45700">
            <a:spAutoFit/>
          </a:bodyPr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没有期中考试，卷面成绩只有期末考试，占总成绩</a:t>
            </a:r>
            <a:r>
              <a:rPr kumimoji="0"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70%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00B1057-ED23-4629-AB89-9EFBA0657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85" y="2639744"/>
            <a:ext cx="9289031" cy="130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1" tIns="45700" rIns="91401" bIns="45700">
            <a:spAutoFit/>
          </a:bodyPr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平时成绩：平时的表现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包括出勤率，作业等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，占总成绩的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30%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。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2F2B34DC-8AB1-47E2-A1D2-342AC1EB9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484" y="4595038"/>
            <a:ext cx="9289032" cy="1815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1" tIns="45700" rIns="91401" bIns="45700">
            <a:spAutoFit/>
          </a:bodyPr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作业：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、每个专业找一到两个同学帮忙收发作业；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indent="0">
              <a:spcBef>
                <a:spcPct val="50000"/>
              </a:spcBef>
            </a:pPr>
            <a:r>
              <a:rPr kumimoji="0" lang="en-US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2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、作业</a:t>
            </a:r>
            <a:r>
              <a:rPr kumimoji="0"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交纸</a:t>
            </a:r>
            <a:r>
              <a:rPr kumimoji="0"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，不要交作业本。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97344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58752" y="548680"/>
            <a:ext cx="1058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矩阵分析</a:t>
            </a:r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课程介绍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36304" y="1191582"/>
            <a:ext cx="9937104" cy="1955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《矩阵分析》课程是</a:t>
            </a: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工科硕士研究生</a:t>
            </a:r>
            <a:r>
              <a:rPr lang="zh-CN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的一门重要的</a:t>
            </a: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数学基础课程</a:t>
            </a:r>
            <a:r>
              <a:rPr lang="zh-CN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。也是高等学校</a:t>
            </a: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机械学专业研究生</a:t>
            </a:r>
            <a:r>
              <a:rPr lang="zh-CN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的一门</a:t>
            </a: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必修的应用数学基础课程</a:t>
            </a:r>
            <a:r>
              <a:rPr lang="zh-CN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，该课程也是其它理工科专业研究生的选修。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0A8B65-7811-485B-9F18-E557706158A2}"/>
              </a:ext>
            </a:extLst>
          </p:cNvPr>
          <p:cNvSpPr txBox="1"/>
          <p:nvPr/>
        </p:nvSpPr>
        <p:spPr>
          <a:xfrm>
            <a:off x="1336304" y="3266286"/>
            <a:ext cx="9937104" cy="66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为应用基础课程，是线代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和高数</a:t>
            </a:r>
            <a:r>
              <a:rPr lang="zh-CN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课程的后继课程。</a:t>
            </a:r>
            <a:endParaRPr lang="en-US" altLang="zh-CN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8DC94F-3318-4DBC-86C4-6347951C2921}"/>
              </a:ext>
            </a:extLst>
          </p:cNvPr>
          <p:cNvSpPr txBox="1"/>
          <p:nvPr/>
        </p:nvSpPr>
        <p:spPr>
          <a:xfrm>
            <a:off x="1336304" y="4056232"/>
            <a:ext cx="9937104" cy="66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与数值分析课程具有很大的相关性。</a:t>
            </a:r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43581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15480" y="499766"/>
            <a:ext cx="1058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为什么要学习</a:t>
            </a:r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矩阵分析</a:t>
            </a:r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12573" y="1138419"/>
            <a:ext cx="9937104" cy="22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矩阵理论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在各种数学及非数学的领域都有着广泛的应用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特别是计算机的普遍使用，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使得它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已经成为解决</a:t>
            </a:r>
            <a:r>
              <a:rPr lang="zh-CN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数学、自然科学和工程技术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中许多问题的不可缺少的有力</a:t>
            </a:r>
            <a:r>
              <a:rPr lang="zh-CN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工具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，并广泛应用于《数值分析》，《计算机图形学》《工程力学》等科学和工程技术的各个领域。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F3967-8E2A-412B-A6D5-406DC213A4AC}"/>
              </a:ext>
            </a:extLst>
          </p:cNvPr>
          <p:cNvSpPr txBox="1"/>
          <p:nvPr/>
        </p:nvSpPr>
        <p:spPr>
          <a:xfrm>
            <a:off x="912573" y="3499234"/>
            <a:ext cx="9937104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培养和提高研究生的</a:t>
            </a:r>
            <a:r>
              <a:rPr lang="zh-CN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数学素质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，使学生对近、现代数学分析方向的核心思想有进一步深入了解。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5D6EDF-750D-4384-B52E-106838299869}"/>
              </a:ext>
            </a:extLst>
          </p:cNvPr>
          <p:cNvSpPr txBox="1"/>
          <p:nvPr/>
        </p:nvSpPr>
        <p:spPr>
          <a:xfrm>
            <a:off x="912573" y="4752053"/>
            <a:ext cx="9937104" cy="1134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通过学习本课程，工科硕士研究生应能正确</a:t>
            </a:r>
            <a:r>
              <a:rPr lang="zh-CN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理解它的基本概念和理论，掌握基本方法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。本课程将为后续课程的学习打下良好的基础。</a:t>
            </a:r>
          </a:p>
        </p:txBody>
      </p:sp>
    </p:spTree>
    <p:extLst>
      <p:ext uri="{BB962C8B-B14F-4D97-AF65-F5344CB8AC3E}">
        <p14:creationId xmlns:p14="http://schemas.microsoft.com/office/powerpoint/2010/main" val="41161862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15480" y="499766"/>
            <a:ext cx="1058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矩阵分析</a:t>
            </a:r>
            <a:r>
              <a:rPr lang="en-US" altLang="zh-CN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课程学习主要内容：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40795C-EFAC-4FB8-90E4-2E7AAAA8DC8F}"/>
              </a:ext>
            </a:extLst>
          </p:cNvPr>
          <p:cNvSpPr txBox="1"/>
          <p:nvPr/>
        </p:nvSpPr>
        <p:spPr>
          <a:xfrm>
            <a:off x="1415480" y="1340768"/>
            <a:ext cx="1000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 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线性空间与线性变换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BEDD25-B6BD-45C6-A972-EA7583A66424}"/>
              </a:ext>
            </a:extLst>
          </p:cNvPr>
          <p:cNvSpPr txBox="1"/>
          <p:nvPr/>
        </p:nvSpPr>
        <p:spPr>
          <a:xfrm>
            <a:off x="1485284" y="4901823"/>
            <a:ext cx="1000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6.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7D14B1-1A15-4616-874F-7A0F7FB22B63}"/>
              </a:ext>
            </a:extLst>
          </p:cNvPr>
          <p:cNvSpPr txBox="1"/>
          <p:nvPr/>
        </p:nvSpPr>
        <p:spPr>
          <a:xfrm>
            <a:off x="1461657" y="2776818"/>
            <a:ext cx="1000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 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内积空间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43523F-A188-4EC3-9D13-EE285B3ED755}"/>
              </a:ext>
            </a:extLst>
          </p:cNvPr>
          <p:cNvSpPr txBox="1"/>
          <p:nvPr/>
        </p:nvSpPr>
        <p:spPr>
          <a:xfrm>
            <a:off x="1461657" y="3515110"/>
            <a:ext cx="1000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 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矩阵分解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506566-B729-4C83-991C-D555701794A4}"/>
              </a:ext>
            </a:extLst>
          </p:cNvPr>
          <p:cNvSpPr txBox="1"/>
          <p:nvPr/>
        </p:nvSpPr>
        <p:spPr>
          <a:xfrm>
            <a:off x="1441667" y="4226897"/>
            <a:ext cx="1000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5.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范数、序列、级数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87521A-5258-40BF-B382-57E5E3139567}"/>
                  </a:ext>
                </a:extLst>
              </p:cNvPr>
              <p:cNvSpPr txBox="1"/>
              <p:nvPr/>
            </p:nvSpPr>
            <p:spPr>
              <a:xfrm>
                <a:off x="1437283" y="2038526"/>
                <a:ext cx="100091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D87521A-5258-40BF-B382-57E5E3139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283" y="2038526"/>
                <a:ext cx="10009112" cy="523220"/>
              </a:xfrm>
              <a:prstGeom prst="rect">
                <a:avLst/>
              </a:prstGeom>
              <a:blipFill>
                <a:blip r:embed="rId2"/>
                <a:stretch>
                  <a:fillRect l="-1279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0651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548680"/>
            <a:ext cx="6520398" cy="60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69325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620688"/>
            <a:ext cx="10058400" cy="480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9430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215915"/>
            <a:ext cx="5483054" cy="65973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657" y="676141"/>
            <a:ext cx="5960343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2652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模板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D:\线性代数电子教案\模板.pot</Template>
  <TotalTime>3858</TotalTime>
  <Words>533</Words>
  <Application>Microsoft Office PowerPoint</Application>
  <PresentationFormat>宽屏</PresentationFormat>
  <Paragraphs>36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仿宋_GB2312</vt:lpstr>
      <vt:lpstr>黑体</vt:lpstr>
      <vt:lpstr>华文隶书</vt:lpstr>
      <vt:lpstr>华文中宋</vt:lpstr>
      <vt:lpstr>宋体</vt:lpstr>
      <vt:lpstr>Cambria Math</vt:lpstr>
      <vt:lpstr>Times New Roman</vt:lpstr>
      <vt:lpstr>Wingdings</vt:lpstr>
      <vt:lpstr>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西安通信学院数学教研室</dc:creator>
  <cp:lastModifiedBy>China</cp:lastModifiedBy>
  <cp:revision>187</cp:revision>
  <cp:lastPrinted>2023-09-14T10:14:49Z</cp:lastPrinted>
  <dcterms:created xsi:type="dcterms:W3CDTF">1999-11-15T11:48:20Z</dcterms:created>
  <dcterms:modified xsi:type="dcterms:W3CDTF">2023-09-14T10:40:12Z</dcterms:modified>
</cp:coreProperties>
</file>